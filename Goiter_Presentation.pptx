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3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image" Target="../media/image2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31.png"/><Relationship Id="rId4" Type="http://schemas.openxmlformats.org/officeDocument/2006/relationships/image" Target="../media/image3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Relationship Id="rId4" Type="http://schemas.openxmlformats.org/officeDocument/2006/relationships/image" Target="../media/image40.png"/><Relationship Id="rId5" Type="http://schemas.openxmlformats.org/officeDocument/2006/relationships/image" Target="../media/image41.png"/><Relationship Id="rId6" Type="http://schemas.openxmlformats.org/officeDocument/2006/relationships/image" Target="../media/image42.png"/><Relationship Id="rId7" Type="http://schemas.openxmlformats.org/officeDocument/2006/relationships/image" Target="../media/image43.png"/><Relationship Id="rId8" Type="http://schemas.openxmlformats.org/officeDocument/2006/relationships/image" Target="../media/image4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31.png"/><Relationship Id="rId4" Type="http://schemas.openxmlformats.org/officeDocument/2006/relationships/image" Target="../media/image45.png"/><Relationship Id="rId5" Type="http://schemas.openxmlformats.org/officeDocument/2006/relationships/image" Target="../media/image3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image" Target="../media/image47.png"/><Relationship Id="rId4" Type="http://schemas.openxmlformats.org/officeDocument/2006/relationships/image" Target="../media/image41.png"/><Relationship Id="rId5" Type="http://schemas.openxmlformats.org/officeDocument/2006/relationships/image" Target="../media/image1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image" Target="../media/image49.png"/><Relationship Id="rId4" Type="http://schemas.openxmlformats.org/officeDocument/2006/relationships/image" Target="../media/image50.png"/><Relationship Id="rId5" Type="http://schemas.openxmlformats.org/officeDocument/2006/relationships/image" Target="../media/image51.png"/><Relationship Id="rId6" Type="http://schemas.openxmlformats.org/officeDocument/2006/relationships/image" Target="../media/image5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53.png"/><Relationship Id="rId4" Type="http://schemas.openxmlformats.org/officeDocument/2006/relationships/image" Target="../media/image12.png"/><Relationship Id="rId5" Type="http://schemas.openxmlformats.org/officeDocument/2006/relationships/image" Target="../media/image5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35.png"/><Relationship Id="rId4" Type="http://schemas.openxmlformats.org/officeDocument/2006/relationships/image" Target="../media/image55.png"/><Relationship Id="rId5" Type="http://schemas.openxmlformats.org/officeDocument/2006/relationships/image" Target="../media/image18.png"/><Relationship Id="rId6" Type="http://schemas.openxmlformats.org/officeDocument/2006/relationships/image" Target="../media/image5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Relationship Id="rId3" Type="http://schemas.openxmlformats.org/officeDocument/2006/relationships/image" Target="../media/image57.png"/><Relationship Id="rId4" Type="http://schemas.openxmlformats.org/officeDocument/2006/relationships/image" Target="../media/image58.png"/><Relationship Id="rId5" Type="http://schemas.openxmlformats.org/officeDocument/2006/relationships/image" Target="../media/image41.png"/><Relationship Id="rId6" Type="http://schemas.openxmlformats.org/officeDocument/2006/relationships/image" Target="../media/image5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jpg"/><Relationship Id="rId3" Type="http://schemas.openxmlformats.org/officeDocument/2006/relationships/image" Target="../media/image6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jpg"/><Relationship Id="rId3" Type="http://schemas.openxmlformats.org/officeDocument/2006/relationships/image" Target="../media/image63.png"/><Relationship Id="rId4" Type="http://schemas.openxmlformats.org/officeDocument/2006/relationships/image" Target="../media/image3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Relationship Id="rId3" Type="http://schemas.openxmlformats.org/officeDocument/2006/relationships/image" Target="../media/image65.png"/><Relationship Id="rId4" Type="http://schemas.openxmlformats.org/officeDocument/2006/relationships/image" Target="../media/image6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Relationship Id="rId3" Type="http://schemas.openxmlformats.org/officeDocument/2006/relationships/image" Target="../media/image68.png"/><Relationship Id="rId4" Type="http://schemas.openxmlformats.org/officeDocument/2006/relationships/image" Target="../media/image6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Relationship Id="rId3" Type="http://schemas.openxmlformats.org/officeDocument/2006/relationships/image" Target="../media/image9.png"/><Relationship Id="rId4" Type="http://schemas.openxmlformats.org/officeDocument/2006/relationships/image" Target="../media/image6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7.png"/><Relationship Id="rId4" Type="http://schemas.openxmlformats.org/officeDocument/2006/relationships/image" Target="../media/image41.png"/><Relationship Id="rId5" Type="http://schemas.openxmlformats.org/officeDocument/2006/relationships/image" Target="../media/image31.png"/><Relationship Id="rId6" Type="http://schemas.openxmlformats.org/officeDocument/2006/relationships/image" Target="../media/image71.png"/><Relationship Id="rId7" Type="http://schemas.openxmlformats.org/officeDocument/2006/relationships/image" Target="../media/image7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Relationship Id="rId3" Type="http://schemas.openxmlformats.org/officeDocument/2006/relationships/image" Target="../media/image70.png"/><Relationship Id="rId4" Type="http://schemas.openxmlformats.org/officeDocument/2006/relationships/image" Target="../media/image68.png"/><Relationship Id="rId5" Type="http://schemas.openxmlformats.org/officeDocument/2006/relationships/image" Target="../media/image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Relationship Id="rId3" Type="http://schemas.openxmlformats.org/officeDocument/2006/relationships/image" Target="../media/image74.png"/><Relationship Id="rId4" Type="http://schemas.openxmlformats.org/officeDocument/2006/relationships/image" Target="../media/image41.png"/><Relationship Id="rId5" Type="http://schemas.openxmlformats.org/officeDocument/2006/relationships/image" Target="../media/image75.png"/><Relationship Id="rId6" Type="http://schemas.openxmlformats.org/officeDocument/2006/relationships/image" Target="../media/image11.png"/><Relationship Id="rId7" Type="http://schemas.openxmlformats.org/officeDocument/2006/relationships/image" Target="../media/image7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77.png"/><Relationship Id="rId4" Type="http://schemas.openxmlformats.org/officeDocument/2006/relationships/image" Target="../media/image45.png"/><Relationship Id="rId5" Type="http://schemas.openxmlformats.org/officeDocument/2006/relationships/image" Target="../media/image78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4.png"/><Relationship Id="rId4" Type="http://schemas.openxmlformats.org/officeDocument/2006/relationships/image" Target="../media/image5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png"/><Relationship Id="rId3" Type="http://schemas.openxmlformats.org/officeDocument/2006/relationships/image" Target="../media/image80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81.png"/><Relationship Id="rId4" Type="http://schemas.openxmlformats.org/officeDocument/2006/relationships/image" Target="../media/image82.png"/><Relationship Id="rId5" Type="http://schemas.openxmlformats.org/officeDocument/2006/relationships/image" Target="../media/image24.png"/><Relationship Id="rId6" Type="http://schemas.openxmlformats.org/officeDocument/2006/relationships/image" Target="../media/image83.png"/><Relationship Id="rId7" Type="http://schemas.openxmlformats.org/officeDocument/2006/relationships/image" Target="../media/image4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603834" y="0"/>
            <a:ext cx="5587860" cy="6857828"/>
          </a:xfrm>
          <a:prstGeom prst="rect">
            <a:avLst/>
          </a:prstGeom>
          <a:solidFill>
            <a:srgbClr val="F4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048323" y="952476"/>
            <a:ext cx="4698882" cy="469888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857828" y="761980"/>
            <a:ext cx="5067173" cy="5067173"/>
          </a:xfrm>
          <a:prstGeom prst="ellipse">
            <a:avLst/>
          </a:prstGeom>
          <a:noFill/>
          <a:ln w="12700">
            <a:solidFill>
              <a:srgbClr val="B89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hyroid-gl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09" y="1587460"/>
            <a:ext cx="3555911" cy="335906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53993" y="253993"/>
            <a:ext cx="11683707" cy="6349841"/>
          </a:xfrm>
          <a:prstGeom prst="rect">
            <a:avLst/>
          </a:prstGeom>
          <a:noFill/>
          <a:ln w="9525">
            <a:solidFill>
              <a:srgbClr val="B89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2476" y="1523961"/>
            <a:ext cx="5460863" cy="27304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 spc="400">
                <a:solidFill>
                  <a:srgbClr val="0F8B8D"/>
                </a:solidFill>
                <a:latin typeface="Source Sans 3"/>
              </a:rPr>
              <a:t>MEDICAL PRESENTATION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1677" y="1841453"/>
            <a:ext cx="5587860" cy="17271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0" b="1" i="0">
                <a:solidFill>
                  <a:srgbClr val="13254D"/>
                </a:solidFill>
                <a:latin typeface="Playfair Display"/>
              </a:rPr>
              <a:t>Goiter</a:t>
            </a:r>
          </a:p>
        </p:txBody>
      </p:sp>
      <p:sp>
        <p:nvSpPr>
          <p:cNvPr id="9" name="Rectangle 8"/>
          <p:cNvSpPr/>
          <p:nvPr/>
        </p:nvSpPr>
        <p:spPr>
          <a:xfrm>
            <a:off x="952476" y="3682907"/>
            <a:ext cx="1269968" cy="2539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2476" y="3911502"/>
            <a:ext cx="5460863" cy="4159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F4FA8"/>
                </a:solidFill>
                <a:latin typeface="Source Sans 3"/>
              </a:rPr>
              <a:t>Enlargement of the Thyroid Gland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2476" y="4444888"/>
            <a:ext cx="1122651" cy="3174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2476" y="4470288"/>
            <a:ext cx="1122651" cy="26669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3254D"/>
                </a:solidFill>
                <a:latin typeface="Source Sans 3"/>
              </a:rPr>
              <a:t>Definition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51326" y="4444888"/>
            <a:ext cx="805667" cy="3174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51326" y="4470288"/>
            <a:ext cx="805667" cy="26669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3254D"/>
                </a:solidFill>
                <a:latin typeface="Source Sans 3"/>
              </a:rPr>
              <a:t>Causes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033192" y="4444888"/>
            <a:ext cx="1439636" cy="3174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33192" y="4470288"/>
            <a:ext cx="1439636" cy="26669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3254D"/>
                </a:solidFill>
                <a:latin typeface="Source Sans 3"/>
              </a:rPr>
              <a:t>Classification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2476" y="4838579"/>
            <a:ext cx="2152850" cy="3174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2476" y="4863978"/>
            <a:ext cx="2152850" cy="26669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3254D"/>
                </a:solidFill>
                <a:latin typeface="Source Sans 3"/>
              </a:rPr>
              <a:t>Clinical Manifestations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181524" y="4838579"/>
            <a:ext cx="1043405" cy="3174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181524" y="4863978"/>
            <a:ext cx="1043405" cy="26669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3254D"/>
                </a:solidFill>
                <a:latin typeface="Source Sans 3"/>
              </a:rPr>
              <a:t>Diagnosis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01128" y="4838579"/>
            <a:ext cx="1122651" cy="3174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01128" y="4863978"/>
            <a:ext cx="1122651" cy="26669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3254D"/>
                </a:solidFill>
                <a:latin typeface="Source Sans 3"/>
              </a:rPr>
              <a:t>Management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52476" y="5232269"/>
            <a:ext cx="1122651" cy="3174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2476" y="5257668"/>
            <a:ext cx="1122651" cy="26669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3254D"/>
                </a:solidFill>
                <a:latin typeface="Source Sans 3"/>
              </a:rPr>
              <a:t>Prevention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2476" y="5714857"/>
            <a:ext cx="5460863" cy="28891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 spc="50">
                <a:solidFill>
                  <a:srgbClr val="13254D"/>
                </a:solidFill>
                <a:latin typeface="Source Sans 3"/>
              </a:rPr>
              <a:t>Prepared for Nursing &amp; Medical Students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1200" fill="hold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" dur="12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" dur="12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7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8933989501312336"/>
                                    </p:val>
                                  </p:tav>
                                  <p:tav tm="100000">
                                    <p:val>
                                      <p:fltVal val="0.476376932050160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8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0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1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5508639545056866"/>
                                    </p:val>
                                  </p:tav>
                                  <p:tav tm="100000">
                                    <p:val>
                                      <p:fltVal val="0.242123432487605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2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5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073973461650627"/>
                                    </p:val>
                                  </p:tav>
                                  <p:tav tm="100000">
                                    <p:val>
                                      <p:fltVal val="0.394434383202099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6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8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9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518382181393993"/>
                                    </p:val>
                                  </p:tav>
                                  <p:tav tm="100000">
                                    <p:val>
                                      <p:fltVal val="0.538875255176436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0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2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3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136423155438904"/>
                                    </p:val>
                                  </p:tav>
                                  <p:tav tm="100000">
                                    <p:val>
                                      <p:fltVal val="0.600679352580927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4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3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6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7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842423447069116"/>
                                    </p:val>
                                  </p:tav>
                                  <p:tav tm="100000">
                                    <p:val>
                                      <p:fltVal val="0.671279381743948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8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3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0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1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842424176144648"/>
                                    </p:val>
                                  </p:tav>
                                  <p:tav tm="100000">
                                    <p:val>
                                      <p:fltVal val="0.671279454651501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2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4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4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5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842423447069116"/>
                                    </p:val>
                                  </p:tav>
                                  <p:tav tm="100000">
                                    <p:val>
                                      <p:fltVal val="0.671279381743948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6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4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8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9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842424176144648"/>
                                    </p:val>
                                  </p:tav>
                                  <p:tav tm="100000">
                                    <p:val>
                                      <p:fltVal val="0.671279454651501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0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5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2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3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842423447069116"/>
                                    </p:val>
                                  </p:tav>
                                  <p:tav tm="100000">
                                    <p:val>
                                      <p:fltVal val="0.671279381743948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4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5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6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7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842424176144648"/>
                                    </p:val>
                                  </p:tav>
                                  <p:tav tm="100000">
                                    <p:val>
                                      <p:fltVal val="0.671279454651501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8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5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0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1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1648439778361"/>
                                    </p:val>
                                  </p:tav>
                                  <p:tav tm="100000">
                                    <p:val>
                                      <p:fltVal val="0.728685476815398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2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4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5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16483668708078"/>
                                    </p:val>
                                  </p:tav>
                                  <p:tav tm="100000">
                                    <p:val>
                                      <p:fltVal val="0.728685403907844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6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8" dur="9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9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1648439778361"/>
                                    </p:val>
                                  </p:tav>
                                  <p:tav tm="100000">
                                    <p:val>
                                      <p:fltVal val="0.728685476815398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0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2" dur="90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3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16483668708078"/>
                                    </p:val>
                                  </p:tav>
                                  <p:tav tm="100000">
                                    <p:val>
                                      <p:fltVal val="0.728685403907844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4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6" dur="90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7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1648439778361"/>
                                    </p:val>
                                  </p:tav>
                                  <p:tav tm="100000">
                                    <p:val>
                                      <p:fltVal val="0.728685476815398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8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0" dur="900" fill="hold"/>
                                  <p:tgtEl>
                                    <p:spTgt spid="2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1" dur="900" fill="hold"/>
                                  <p:tgtEl>
                                    <p:spTgt spid="2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16483668708078"/>
                                    </p:val>
                                  </p:tav>
                                  <p:tav tm="100000">
                                    <p:val>
                                      <p:fltVal val="0.728685403907844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2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8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4" dur="900" fill="hold"/>
                                  <p:tgtEl>
                                    <p:spTgt spid="2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5" dur="900" fill="hold"/>
                                  <p:tgtEl>
                                    <p:spTgt spid="2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990543890347039"/>
                                    </p:val>
                                  </p:tav>
                                  <p:tav tm="100000">
                                    <p:val>
                                      <p:fltVal val="0.78609142607174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6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8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8" dur="900" fill="hold"/>
                                  <p:tgtEl>
                                    <p:spTgt spid="2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9" dur="900" fill="hold"/>
                                  <p:tgtEl>
                                    <p:spTgt spid="2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990543161271507"/>
                                    </p:val>
                                  </p:tav>
                                  <p:tav tm="100000">
                                    <p:val>
                                      <p:fltVal val="0.786091353164187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0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9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2" dur="900" fill="hold"/>
                                  <p:tgtEl>
                                    <p:spTgt spid="2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3" dur="900" fill="hold"/>
                                  <p:tgtEl>
                                    <p:spTgt spid="2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673396762904637"/>
                                    </p:val>
                                  </p:tav>
                                  <p:tav tm="100000">
                                    <p:val>
                                      <p:fltVal val="0.854376713327500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3333666" cy="952476"/>
          </a:xfrm>
          <a:prstGeom prst="roundRect">
            <a:avLst>
              <a:gd name="adj" fmla="val 14666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2476" y="1854153"/>
            <a:ext cx="634984" cy="5791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B8923E"/>
                </a:solidFill>
                <a:latin typeface="Playfair Display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958" y="1790655"/>
            <a:ext cx="2317692" cy="6984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Introduction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1980" y="2793930"/>
            <a:ext cx="3333666" cy="952476"/>
          </a:xfrm>
          <a:prstGeom prst="roundRect">
            <a:avLst>
              <a:gd name="adj" fmla="val 14666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2476" y="2984425"/>
            <a:ext cx="634984" cy="5791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B8923E"/>
                </a:solidFill>
                <a:latin typeface="Playfair Display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50958" y="2920926"/>
            <a:ext cx="2317692" cy="6984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Definition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1980" y="3924201"/>
            <a:ext cx="3333666" cy="952476"/>
          </a:xfrm>
          <a:prstGeom prst="roundRect">
            <a:avLst>
              <a:gd name="adj" fmla="val 14666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2476" y="4114697"/>
            <a:ext cx="634984" cy="5791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B8923E"/>
                </a:solidFill>
                <a:latin typeface="Playfair Display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50958" y="4051198"/>
            <a:ext cx="2317692" cy="6984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Risk Factors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1980" y="5054473"/>
            <a:ext cx="3333666" cy="952476"/>
          </a:xfrm>
          <a:prstGeom prst="roundRect">
            <a:avLst>
              <a:gd name="adj" fmla="val 14666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2476" y="5244968"/>
            <a:ext cx="634984" cy="5791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B8923E"/>
                </a:solidFill>
                <a:latin typeface="Playfair Display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50958" y="5181470"/>
            <a:ext cx="2317692" cy="6984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Causes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5839" y="1663658"/>
            <a:ext cx="3333666" cy="952476"/>
          </a:xfrm>
          <a:prstGeom prst="roundRect">
            <a:avLst>
              <a:gd name="adj" fmla="val 14666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16334" y="1854153"/>
            <a:ext cx="634984" cy="5791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B8923E"/>
                </a:solidFill>
                <a:latin typeface="Playfair Display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14817" y="1790655"/>
            <a:ext cx="2317692" cy="6984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Classification / Stages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25839" y="2793930"/>
            <a:ext cx="3333666" cy="952476"/>
          </a:xfrm>
          <a:prstGeom prst="roundRect">
            <a:avLst>
              <a:gd name="adj" fmla="val 14666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16334" y="2984425"/>
            <a:ext cx="634984" cy="5791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B8923E"/>
                </a:solidFill>
                <a:latin typeface="Playfair Display"/>
              </a:rPr>
              <a:t>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14817" y="2920926"/>
            <a:ext cx="2317692" cy="6984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Signs and Symptoms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25839" y="3924201"/>
            <a:ext cx="3333666" cy="952476"/>
          </a:xfrm>
          <a:prstGeom prst="roundRect">
            <a:avLst>
              <a:gd name="adj" fmla="val 14666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16334" y="4114697"/>
            <a:ext cx="634984" cy="5791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B8923E"/>
                </a:solidFill>
                <a:latin typeface="Playfair Display"/>
              </a:rPr>
              <a:t>07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14817" y="4051198"/>
            <a:ext cx="2317692" cy="6984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Complications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25839" y="5054473"/>
            <a:ext cx="3333666" cy="952476"/>
          </a:xfrm>
          <a:prstGeom prst="roundRect">
            <a:avLst>
              <a:gd name="adj" fmla="val 14666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16334" y="5244968"/>
            <a:ext cx="634984" cy="5791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B8923E"/>
                </a:solidFill>
                <a:latin typeface="Playfair Display"/>
              </a:rPr>
              <a:t>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14817" y="5181470"/>
            <a:ext cx="2317692" cy="6984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Diagnosis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89697" y="1663658"/>
            <a:ext cx="3333666" cy="952476"/>
          </a:xfrm>
          <a:prstGeom prst="roundRect">
            <a:avLst>
              <a:gd name="adj" fmla="val 14666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80192" y="1854153"/>
            <a:ext cx="634984" cy="5791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B8923E"/>
                </a:solidFill>
                <a:latin typeface="Playfair Display"/>
              </a:rPr>
              <a:t>09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78675" y="1790655"/>
            <a:ext cx="2317692" cy="6984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Medical Management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89697" y="2793930"/>
            <a:ext cx="3333666" cy="952476"/>
          </a:xfrm>
          <a:prstGeom prst="roundRect">
            <a:avLst>
              <a:gd name="adj" fmla="val 14666"/>
            </a:avLst>
          </a:prstGeom>
          <a:solidFill>
            <a:srgbClr val="1325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80192" y="2984425"/>
            <a:ext cx="634984" cy="5791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E7CF96"/>
                </a:solidFill>
                <a:latin typeface="Playfair Display"/>
              </a:rPr>
              <a:t>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78675" y="2920926"/>
            <a:ext cx="2317692" cy="6984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Source Sans 3"/>
              </a:rPr>
              <a:t>Nursing Management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89697" y="3924201"/>
            <a:ext cx="3333666" cy="952476"/>
          </a:xfrm>
          <a:prstGeom prst="roundRect">
            <a:avLst>
              <a:gd name="adj" fmla="val 14666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80192" y="4114697"/>
            <a:ext cx="634984" cy="5791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B8923E"/>
                </a:solidFill>
                <a:latin typeface="Playfair Display"/>
              </a:rPr>
              <a:t>11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78675" y="4051198"/>
            <a:ext cx="2317692" cy="6984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Prevention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089697" y="5054473"/>
            <a:ext cx="3333666" cy="952476"/>
          </a:xfrm>
          <a:prstGeom prst="roundRect">
            <a:avLst>
              <a:gd name="adj" fmla="val 14666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80192" y="5244968"/>
            <a:ext cx="634984" cy="5791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B8923E"/>
                </a:solidFill>
                <a:latin typeface="Playfair Display"/>
              </a:rPr>
              <a:t>12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78675" y="5181470"/>
            <a:ext cx="2317692" cy="6984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References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02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9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24992125984252"/>
                                    </p:val>
                                  </p:tav>
                                  <p:tav tm="100000">
                                    <p:val>
                                      <p:fltVal val="0.3120291630212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255476086322543"/>
                                    </p:val>
                                  </p:tav>
                                  <p:tav tm="100000">
                                    <p:val>
                                      <p:fltVal val="0.3125846456692913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8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24992125984252"/>
                                    </p:val>
                                  </p:tav>
                                  <p:tav tm="100000">
                                    <p:val>
                                      <p:fltVal val="0.3120291630212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2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898028579760863"/>
                                    </p:val>
                                  </p:tav>
                                  <p:tav tm="100000">
                                    <p:val>
                                      <p:fltVal val="0.4768398950131233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5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6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903583406240887"/>
                                    </p:val>
                                  </p:tav>
                                  <p:tav tm="100000">
                                    <p:val>
                                      <p:fltVal val="0.477395377661125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0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8980271216097987"/>
                                    </p:val>
                                  </p:tav>
                                  <p:tav tm="100000">
                                    <p:val>
                                      <p:fltVal val="0.476839749198016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3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4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546134441528142"/>
                                    </p:val>
                                  </p:tav>
                                  <p:tav tm="100000">
                                    <p:val>
                                      <p:fltVal val="0.641650481189851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7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8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55169072615923"/>
                                    </p:val>
                                  </p:tav>
                                  <p:tav tm="100000">
                                    <p:val>
                                      <p:fltVal val="0.642206109652960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2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546134441528142"/>
                                    </p:val>
                                  </p:tav>
                                  <p:tav tm="100000">
                                    <p:val>
                                      <p:fltVal val="0.641650481189851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5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6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194241761446486"/>
                                    </p:val>
                                  </p:tav>
                                  <p:tav tm="100000">
                                    <p:val>
                                      <p:fltVal val="0.806461213181685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9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0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199796587926509"/>
                                    </p:val>
                                  </p:tav>
                                  <p:tav tm="100000">
                                    <p:val>
                                      <p:fltVal val="0.807016695829687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3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4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194241761446486"/>
                                    </p:val>
                                  </p:tav>
                                  <p:tav tm="100000">
                                    <p:val>
                                      <p:fltVal val="0.806461213181685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5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7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8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24992125984252"/>
                                    </p:val>
                                  </p:tav>
                                  <p:tav tm="100000">
                                    <p:val>
                                      <p:fltVal val="0.3120291630212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7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9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2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255476086322543"/>
                                    </p:val>
                                  </p:tav>
                                  <p:tav tm="100000">
                                    <p:val>
                                      <p:fltVal val="0.3125846456692913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5" dur="90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6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24992125984252"/>
                                    </p:val>
                                  </p:tav>
                                  <p:tav tm="100000">
                                    <p:val>
                                      <p:fltVal val="0.3120291630212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7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9" dur="90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0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898028579760863"/>
                                    </p:val>
                                  </p:tav>
                                  <p:tav tm="100000">
                                    <p:val>
                                      <p:fltVal val="0.4768398950131233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8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3" dur="900" fill="hold"/>
                                  <p:tgtEl>
                                    <p:spTgt spid="2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4" dur="900" fill="hold"/>
                                  <p:tgtEl>
                                    <p:spTgt spid="2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903583406240887"/>
                                    </p:val>
                                  </p:tav>
                                  <p:tav tm="100000">
                                    <p:val>
                                      <p:fltVal val="0.477395377661125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5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8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7" dur="900" fill="hold"/>
                                  <p:tgtEl>
                                    <p:spTgt spid="2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8" dur="900" fill="hold"/>
                                  <p:tgtEl>
                                    <p:spTgt spid="2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8980271216097987"/>
                                    </p:val>
                                  </p:tav>
                                  <p:tav tm="100000">
                                    <p:val>
                                      <p:fltVal val="0.476839749198016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9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900" fill="hold"/>
                                  <p:tgtEl>
                                    <p:spTgt spid="2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2" dur="900" fill="hold"/>
                                  <p:tgtEl>
                                    <p:spTgt spid="2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546134441528142"/>
                                    </p:val>
                                  </p:tav>
                                  <p:tav tm="100000">
                                    <p:val>
                                      <p:fltVal val="0.641650481189851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9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5" dur="900" fill="hold"/>
                                  <p:tgtEl>
                                    <p:spTgt spid="2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6" dur="900" fill="hold"/>
                                  <p:tgtEl>
                                    <p:spTgt spid="2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55169072615923"/>
                                    </p:val>
                                  </p:tav>
                                  <p:tav tm="100000">
                                    <p:val>
                                      <p:fltVal val="0.642206109652960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9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9" dur="900" fill="hold"/>
                                  <p:tgtEl>
                                    <p:spTgt spid="2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00" dur="900" fill="hold"/>
                                  <p:tgtEl>
                                    <p:spTgt spid="2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546134441528142"/>
                                    </p:val>
                                  </p:tav>
                                  <p:tav tm="100000">
                                    <p:val>
                                      <p:fltVal val="0.641650481189851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1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0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3" dur="900" fill="hold"/>
                                  <p:tgtEl>
                                    <p:spTgt spid="2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04" dur="900" fill="hold"/>
                                  <p:tgtEl>
                                    <p:spTgt spid="2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194241761446486"/>
                                    </p:val>
                                  </p:tav>
                                  <p:tav tm="100000">
                                    <p:val>
                                      <p:fltVal val="0.806461213181685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0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7" dur="900" fill="hold"/>
                                  <p:tgtEl>
                                    <p:spTgt spid="2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08" dur="900" fill="hold"/>
                                  <p:tgtEl>
                                    <p:spTgt spid="2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199796587926509"/>
                                    </p:val>
                                  </p:tav>
                                  <p:tav tm="100000">
                                    <p:val>
                                      <p:fltVal val="0.807016695829687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900" fill="hold"/>
                                  <p:tgtEl>
                                    <p:spTgt spid="2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12" dur="900" fill="hold"/>
                                  <p:tgtEl>
                                    <p:spTgt spid="2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194241761446486"/>
                                    </p:val>
                                  </p:tav>
                                  <p:tav tm="100000">
                                    <p:val>
                                      <p:fltVal val="0.806461213181685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13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1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5" dur="900" fill="hold"/>
                                  <p:tgtEl>
                                    <p:spTgt spid="3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16" dur="900" fill="hold"/>
                                  <p:tgtEl>
                                    <p:spTgt spid="3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24992125984252"/>
                                    </p:val>
                                  </p:tav>
                                  <p:tav tm="100000">
                                    <p:val>
                                      <p:fltVal val="0.3120291630212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17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1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9" dur="900" fill="hold"/>
                                  <p:tgtEl>
                                    <p:spTgt spid="3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0" dur="900" fill="hold"/>
                                  <p:tgtEl>
                                    <p:spTgt spid="3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255476086322543"/>
                                    </p:val>
                                  </p:tav>
                                  <p:tav tm="100000">
                                    <p:val>
                                      <p:fltVal val="0.3125846456692913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21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1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3" dur="900" fill="hold"/>
                                  <p:tgtEl>
                                    <p:spTgt spid="3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4" dur="900" fill="hold"/>
                                  <p:tgtEl>
                                    <p:spTgt spid="3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24992125984252"/>
                                    </p:val>
                                  </p:tav>
                                  <p:tav tm="100000">
                                    <p:val>
                                      <p:fltVal val="0.3120291630212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25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1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7" dur="900" fill="hold"/>
                                  <p:tgtEl>
                                    <p:spTgt spid="3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8" dur="900" fill="hold"/>
                                  <p:tgtEl>
                                    <p:spTgt spid="3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898028579760863"/>
                                    </p:val>
                                  </p:tav>
                                  <p:tav tm="100000">
                                    <p:val>
                                      <p:fltVal val="0.4768398950131233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29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1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900" fill="hold"/>
                                  <p:tgtEl>
                                    <p:spTgt spid="3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32" dur="900" fill="hold"/>
                                  <p:tgtEl>
                                    <p:spTgt spid="3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903583406240887"/>
                                    </p:val>
                                  </p:tav>
                                  <p:tav tm="100000">
                                    <p:val>
                                      <p:fltVal val="0.477395377661125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3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1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5" dur="900" fill="hold"/>
                                  <p:tgtEl>
                                    <p:spTgt spid="3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36" dur="900" fill="hold"/>
                                  <p:tgtEl>
                                    <p:spTgt spid="3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8980271216097987"/>
                                    </p:val>
                                  </p:tav>
                                  <p:tav tm="100000">
                                    <p:val>
                                      <p:fltVal val="0.476839749198016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7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1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9" dur="900" fill="hold"/>
                                  <p:tgtEl>
                                    <p:spTgt spid="3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40" dur="900" fill="hold"/>
                                  <p:tgtEl>
                                    <p:spTgt spid="3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546134441528142"/>
                                    </p:val>
                                  </p:tav>
                                  <p:tav tm="100000">
                                    <p:val>
                                      <p:fltVal val="0.641650481189851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41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1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3" dur="900" fill="hold"/>
                                  <p:tgtEl>
                                    <p:spTgt spid="3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44" dur="900" fill="hold"/>
                                  <p:tgtEl>
                                    <p:spTgt spid="3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55169072615923"/>
                                    </p:val>
                                  </p:tav>
                                  <p:tav tm="100000">
                                    <p:val>
                                      <p:fltVal val="0.642206109652960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45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1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7" dur="900" fill="hold"/>
                                  <p:tgtEl>
                                    <p:spTgt spid="3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48" dur="900" fill="hold"/>
                                  <p:tgtEl>
                                    <p:spTgt spid="3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546134441528142"/>
                                    </p:val>
                                  </p:tav>
                                  <p:tav tm="100000">
                                    <p:val>
                                      <p:fltVal val="0.641650481189851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49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1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900" fill="hold"/>
                                  <p:tgtEl>
                                    <p:spTgt spid="3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52" dur="900" fill="hold"/>
                                  <p:tgtEl>
                                    <p:spTgt spid="3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194241761446486"/>
                                    </p:val>
                                  </p:tav>
                                  <p:tav tm="100000">
                                    <p:val>
                                      <p:fltVal val="0.806461213181685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53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1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5" dur="900" fill="hold"/>
                                  <p:tgtEl>
                                    <p:spTgt spid="4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56" dur="900" fill="hold"/>
                                  <p:tgtEl>
                                    <p:spTgt spid="4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199796587926509"/>
                                    </p:val>
                                  </p:tav>
                                  <p:tav tm="100000">
                                    <p:val>
                                      <p:fltVal val="0.807016695829687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57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1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9" dur="900" fill="hold"/>
                                  <p:tgtEl>
                                    <p:spTgt spid="4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0" dur="900" fill="hold"/>
                                  <p:tgtEl>
                                    <p:spTgt spid="4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194241761446486"/>
                                    </p:val>
                                  </p:tav>
                                  <p:tav tm="100000">
                                    <p:val>
                                      <p:fltVal val="0.806461213181685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01  ·  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The Thyroid Gland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4444888" cy="4444888"/>
          </a:xfrm>
          <a:prstGeom prst="roundRect">
            <a:avLst>
              <a:gd name="adj" fmla="val 4000"/>
            </a:avLst>
          </a:prstGeom>
          <a:solidFill>
            <a:srgbClr val="F5F8FD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hyroid-gl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476" y="1854153"/>
            <a:ext cx="4063898" cy="361940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88977" y="5549761"/>
            <a:ext cx="4190895" cy="257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4FA8"/>
                </a:solidFill>
                <a:latin typeface="Source Sans 3"/>
              </a:rPr>
              <a:t>Butterfly-shaped thyroid gland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24361" y="1663658"/>
            <a:ext cx="5905352" cy="1352516"/>
          </a:xfrm>
          <a:prstGeom prst="roundRect">
            <a:avLst>
              <a:gd name="adj" fmla="val 10328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727556" y="2031949"/>
            <a:ext cx="609584" cy="609584"/>
          </a:xfrm>
          <a:prstGeom prst="ellipse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4713" y="2169105"/>
            <a:ext cx="335271" cy="33527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14937" y="1752556"/>
            <a:ext cx="4724281" cy="1174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00">
                <a:solidFill>
                  <a:srgbClr val="0B6E70"/>
                </a:solidFill>
                <a:latin typeface="Source Sans 3"/>
              </a:rPr>
              <a:t>LOCATION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3254D"/>
                </a:solidFill>
                <a:latin typeface="Source Sans 3"/>
              </a:rPr>
              <a:t>Anterior neck — just below the larynx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0B6E70"/>
                </a:solidFill>
                <a:latin typeface="Source Sans 3"/>
              </a:rPr>
              <a:t>Wraps around the trachea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24361" y="3206669"/>
            <a:ext cx="5905352" cy="1352516"/>
          </a:xfrm>
          <a:prstGeom prst="roundRect">
            <a:avLst>
              <a:gd name="adj" fmla="val 10328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727556" y="3574960"/>
            <a:ext cx="609584" cy="609584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4713" y="3712117"/>
            <a:ext cx="335271" cy="33527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14937" y="3295567"/>
            <a:ext cx="4724281" cy="1174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00">
                <a:solidFill>
                  <a:srgbClr val="1F4FA8"/>
                </a:solidFill>
                <a:latin typeface="Source Sans 3"/>
              </a:rPr>
              <a:t>HORMONES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3254D"/>
                </a:solidFill>
                <a:latin typeface="Source Sans 3"/>
              </a:rPr>
              <a:t>T4 (thyroxine) &amp; T3 (triiodothyronine)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1F4FA8"/>
                </a:solidFill>
                <a:latin typeface="Source Sans 3"/>
              </a:rPr>
              <a:t>Regulate metabolism, growth &amp; development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524361" y="4749681"/>
            <a:ext cx="5905352" cy="1352516"/>
          </a:xfrm>
          <a:prstGeom prst="roundRect">
            <a:avLst>
              <a:gd name="adj" fmla="val 10328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727556" y="5117972"/>
            <a:ext cx="609584" cy="609584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64713" y="5255128"/>
            <a:ext cx="335271" cy="335271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514937" y="4838579"/>
            <a:ext cx="4724281" cy="1174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00">
                <a:solidFill>
                  <a:srgbClr val="8A6A24"/>
                </a:solidFill>
                <a:latin typeface="Source Sans 3"/>
              </a:rPr>
              <a:t>ALSO SECRETES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3254D"/>
                </a:solidFill>
                <a:latin typeface="Source Sans 3"/>
              </a:rPr>
              <a:t>Calcitonin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8A6A24"/>
                </a:solidFill>
                <a:latin typeface="Source Sans 3"/>
              </a:rPr>
              <a:t>Contributes to calcium homeostasis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03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12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" dur="12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6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409514435695538"/>
                                    </p:val>
                                  </p:tav>
                                  <p:tav tm="100000">
                                    <p:val>
                                      <p:fltVal val="0.827988480606590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0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5415806357538643"/>
                                    </p:val>
                                  </p:tav>
                                  <p:tav tm="100000">
                                    <p:val>
                                      <p:fltVal val="0.341195100612423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3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4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5369510061242343"/>
                                    </p:val>
                                  </p:tav>
                                  <p:tav tm="100000">
                                    <p:val>
                                      <p:fltVal val="0.34073213764946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7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8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536950277048702"/>
                                    </p:val>
                                  </p:tav>
                                  <p:tav tm="100000">
                                    <p:val>
                                      <p:fltVal val="0.3407320647419072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4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2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5415806357538643"/>
                                    </p:val>
                                  </p:tav>
                                  <p:tav tm="100000">
                                    <p:val>
                                      <p:fltVal val="0.341195100612423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5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6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9152376786235"/>
                                    </p:val>
                                  </p:tav>
                                  <p:tav tm="100000">
                                    <p:val>
                                      <p:fltVal val="0.56618941382327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9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0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86894138232721"/>
                                    </p:val>
                                  </p:tav>
                                  <p:tav tm="100000">
                                    <p:val>
                                      <p:fltVal val="0.565726450860309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5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3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4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86894867308253"/>
                                    </p:val>
                                  </p:tav>
                                  <p:tav tm="100000">
                                    <p:val>
                                      <p:fltVal val="0.565726523767862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7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8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9152376786235"/>
                                    </p:val>
                                  </p:tav>
                                  <p:tav tm="100000">
                                    <p:val>
                                      <p:fltVal val="0.56618941382327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2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041468358121902"/>
                                    </p:val>
                                  </p:tav>
                                  <p:tav tm="100000">
                                    <p:val>
                                      <p:fltVal val="0.791183872849227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5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6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036838728492272"/>
                                    </p:val>
                                  </p:tav>
                                  <p:tav tm="100000">
                                    <p:val>
                                      <p:fltVal val="0.790720909886264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9" dur="9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0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036837999416739"/>
                                    </p:val>
                                  </p:tav>
                                  <p:tav tm="100000">
                                    <p:val>
                                      <p:fltVal val="0.79072083697871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7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3" dur="90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4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041468358121902"/>
                                    </p:val>
                                  </p:tav>
                                  <p:tav tm="100000">
                                    <p:val>
                                      <p:fltVal val="0.791183872849227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01  ·  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A Global Health Problem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10667733" cy="952476"/>
          </a:xfrm>
          <a:prstGeom prst="roundRect">
            <a:avLst>
              <a:gd name="adj" fmla="val 14666"/>
            </a:avLst>
          </a:prstGeom>
          <a:solidFill>
            <a:srgbClr val="F5F8FD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15974" y="1841453"/>
            <a:ext cx="596885" cy="596885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0273" y="1975753"/>
            <a:ext cx="328286" cy="32828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841453" y="1790655"/>
            <a:ext cx="9397765" cy="6984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3254D"/>
                </a:solidFill>
                <a:latin typeface="Playfair Display"/>
              </a:rPr>
              <a:t>One of the oldest documented human diseases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500" b="0" i="0">
                <a:solidFill>
                  <a:srgbClr val="1F4FA8"/>
                </a:solidFill>
                <a:latin typeface="Source Sans 3"/>
              </a:rPr>
              <a:t>Still a major global health problem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1980" y="2806629"/>
            <a:ext cx="2571685" cy="3301917"/>
          </a:xfrm>
          <a:prstGeom prst="roundRect">
            <a:avLst>
              <a:gd name="adj" fmla="val 5925"/>
            </a:avLst>
          </a:prstGeom>
          <a:solidFill>
            <a:srgbClr val="1325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7875" y="3124121"/>
            <a:ext cx="2139896" cy="156333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FFFFFF"/>
                </a:solidFill>
                <a:latin typeface="Playfair Display"/>
              </a:rPr>
              <a:t>1.5–2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E7CF96"/>
                </a:solidFill>
                <a:latin typeface="Source Sans 3"/>
              </a:rPr>
              <a:t>BILLION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ource Sans 3"/>
              </a:rPr>
              <a:t>People at risk of iodine deficiency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60663" y="2806629"/>
            <a:ext cx="2571685" cy="3301917"/>
          </a:xfrm>
          <a:prstGeom prst="roundRect">
            <a:avLst>
              <a:gd name="adj" fmla="val 5925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76558" y="3124121"/>
            <a:ext cx="2139896" cy="156333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13254D"/>
                </a:solidFill>
                <a:latin typeface="Playfair Display"/>
              </a:rPr>
              <a:t>~200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B8923E"/>
                </a:solidFill>
                <a:latin typeface="Source Sans 3"/>
              </a:rPr>
              <a:t>MILLION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3254D"/>
                </a:solidFill>
                <a:latin typeface="Source Sans 3"/>
              </a:rPr>
              <a:t>People living with a goiter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59346" y="2806629"/>
            <a:ext cx="2571685" cy="3301917"/>
          </a:xfrm>
          <a:prstGeom prst="roundRect">
            <a:avLst>
              <a:gd name="adj" fmla="val 5925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5240" y="3124121"/>
            <a:ext cx="2139896" cy="130324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13254D"/>
                </a:solidFill>
                <a:latin typeface="Playfair Display"/>
              </a:rPr>
              <a:t>4–10×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B8923E"/>
                </a:solidFill>
                <a:latin typeface="Source Sans 3"/>
              </a:rPr>
              <a:t>MORE COMMON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3254D"/>
                </a:solidFill>
                <a:latin typeface="Source Sans 3"/>
              </a:rPr>
              <a:t>In women than in men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58028" y="2806629"/>
            <a:ext cx="2571685" cy="3301917"/>
          </a:xfrm>
          <a:prstGeom prst="roundRect">
            <a:avLst>
              <a:gd name="adj" fmla="val 5925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3923" y="3124121"/>
            <a:ext cx="2139896" cy="156333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13254D"/>
                </a:solidFill>
                <a:latin typeface="Playfair Display"/>
              </a:rPr>
              <a:t>↑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B8923E"/>
                </a:solidFill>
                <a:latin typeface="Source Sans 3"/>
              </a:rPr>
              <a:t>WITH AGE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3254D"/>
                </a:solidFill>
                <a:latin typeface="Source Sans 3"/>
              </a:rPr>
              <a:t>Prevalence rises as age increases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04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9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24992125984252"/>
                                    </p:val>
                                  </p:tav>
                                  <p:tav tm="100000">
                                    <p:val>
                                      <p:fltVal val="0.3120291630212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2499205307669876"/>
                                    </p:val>
                                  </p:tav>
                                  <p:tav tm="100000">
                                    <p:val>
                                      <p:fltVal val="0.312029090113735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8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24992125984252"/>
                                    </p:val>
                                  </p:tav>
                                  <p:tav tm="100000">
                                    <p:val>
                                      <p:fltVal val="0.3120291630212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2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24992125984252"/>
                                    </p:val>
                                  </p:tav>
                                  <p:tav tm="100000">
                                    <p:val>
                                      <p:fltVal val="0.3120291630212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5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6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629465587634878"/>
                                    </p:val>
                                  </p:tav>
                                  <p:tav tm="100000">
                                    <p:val>
                                      <p:fltVal val="0.649983595800524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0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82485564304462"/>
                                    </p:val>
                                  </p:tav>
                                  <p:tav tm="100000">
                                    <p:val>
                                      <p:fltVal val="0.56952260134149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3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4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629465587634878"/>
                                    </p:val>
                                  </p:tav>
                                  <p:tav tm="100000">
                                    <p:val>
                                      <p:fltVal val="0.649983595800524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5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7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8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82485564304462"/>
                                    </p:val>
                                  </p:tav>
                                  <p:tav tm="100000">
                                    <p:val>
                                      <p:fltVal val="0.56952260134149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2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629465587634878"/>
                                    </p:val>
                                  </p:tav>
                                  <p:tav tm="100000">
                                    <p:val>
                                      <p:fltVal val="0.649983595800524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5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6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635231116943715"/>
                                    </p:val>
                                  </p:tav>
                                  <p:tav tm="100000">
                                    <p:val>
                                      <p:fltVal val="0.550560148731408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9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0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629465587634878"/>
                                    </p:val>
                                  </p:tav>
                                  <p:tav tm="100000">
                                    <p:val>
                                      <p:fltVal val="0.649983595800524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3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4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82485564304462"/>
                                    </p:val>
                                  </p:tav>
                                  <p:tav tm="100000">
                                    <p:val>
                                      <p:fltVal val="0.56952260134149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01  ·  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Why It Matters Clinically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10667733" cy="1079473"/>
          </a:xfrm>
          <a:prstGeom prst="roundRect">
            <a:avLst>
              <a:gd name="adj" fmla="val 14117"/>
            </a:avLst>
          </a:prstGeom>
          <a:solidFill>
            <a:srgbClr val="1325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15974" y="1904952"/>
            <a:ext cx="609584" cy="60958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3131" y="2042108"/>
            <a:ext cx="335271" cy="33527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841453" y="1790655"/>
            <a:ext cx="9397765" cy="8254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E7CF96"/>
                </a:solidFill>
                <a:latin typeface="Source Sans 3"/>
              </a:rPr>
              <a:t>KEY POINT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Playfair Display"/>
              </a:rPr>
              <a:t>Most goiters are benign &amp; asymptomatic — but not all are harmless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1980" y="2933626"/>
            <a:ext cx="2520886" cy="3174920"/>
          </a:xfrm>
          <a:prstGeom prst="roundRect">
            <a:avLst>
              <a:gd name="adj" fmla="val 554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0575" y="3251118"/>
            <a:ext cx="698482" cy="698482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733" y="3408277"/>
            <a:ext cx="384165" cy="38416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90575" y="4140096"/>
            <a:ext cx="2063698" cy="89913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3254D"/>
                </a:solidFill>
                <a:latin typeface="Playfair Display"/>
              </a:rPr>
              <a:t>Compression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B23A48"/>
                </a:solidFill>
                <a:latin typeface="Source Sans 3"/>
              </a:rPr>
              <a:t>Can press on the airway &amp; esophagus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73363" y="2933626"/>
            <a:ext cx="2520886" cy="3174920"/>
          </a:xfrm>
          <a:prstGeom prst="roundRect">
            <a:avLst>
              <a:gd name="adj" fmla="val 554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701957" y="3251118"/>
            <a:ext cx="698482" cy="698482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59116" y="3408277"/>
            <a:ext cx="384165" cy="38416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701957" y="4140096"/>
            <a:ext cx="2063698" cy="89913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3254D"/>
                </a:solidFill>
                <a:latin typeface="Playfair Display"/>
              </a:rPr>
              <a:t>Dysfunction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1F4FA8"/>
                </a:solidFill>
                <a:latin typeface="Source Sans 3"/>
              </a:rPr>
              <a:t>May reflect hypo- or hyperthyroidism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84745" y="2933626"/>
            <a:ext cx="2520886" cy="3174920"/>
          </a:xfrm>
          <a:prstGeom prst="roundRect">
            <a:avLst>
              <a:gd name="adj" fmla="val 554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13339" y="3251118"/>
            <a:ext cx="698482" cy="698482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0498" y="3408277"/>
            <a:ext cx="384165" cy="384165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413339" y="4140096"/>
            <a:ext cx="2063698" cy="122882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3254D"/>
                </a:solidFill>
                <a:latin typeface="Playfair Display"/>
              </a:rPr>
              <a:t>Hidden malignancy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8A6A24"/>
                </a:solidFill>
                <a:latin typeface="Source Sans 3"/>
              </a:rPr>
              <a:t>In a small % of nodular goiters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896127" y="2933626"/>
            <a:ext cx="2520886" cy="3174920"/>
          </a:xfrm>
          <a:prstGeom prst="roundRect">
            <a:avLst>
              <a:gd name="adj" fmla="val 5541"/>
            </a:avLst>
          </a:prstGeom>
          <a:solidFill>
            <a:srgbClr val="F4FAFA"/>
          </a:solidFill>
          <a:ln w="6350">
            <a:solidFill>
              <a:srgbClr val="D4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24721" y="3251118"/>
            <a:ext cx="698482" cy="698482"/>
          </a:xfrm>
          <a:prstGeom prst="ellipse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81880" y="3408277"/>
            <a:ext cx="384165" cy="384165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124721" y="4140096"/>
            <a:ext cx="2063698" cy="14563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3254D"/>
                </a:solidFill>
                <a:latin typeface="Playfair Display"/>
              </a:rPr>
              <a:t>The nurse’s role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0B6E70"/>
                </a:solidFill>
                <a:latin typeface="Source Sans 3"/>
              </a:rPr>
              <a:t>Early detection · perioperative care · patient education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05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9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342511665208516"/>
                                    </p:val>
                                  </p:tav>
                                  <p:tav tm="100000">
                                    <p:val>
                                      <p:fltVal val="0.321288203557888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3517701953922424"/>
                                    </p:val>
                                  </p:tav>
                                  <p:tav tm="100000">
                                    <p:val>
                                      <p:fltVal val="0.322214056576261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8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35176946631671"/>
                                    </p:val>
                                  </p:tav>
                                  <p:tav tm="100000">
                                    <p:val>
                                      <p:fltVal val="0.3222139836687080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2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342511665208516"/>
                                    </p:val>
                                  </p:tav>
                                  <p:tav tm="100000">
                                    <p:val>
                                      <p:fltVal val="0.321288203557888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5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6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722055993000875"/>
                                    </p:val>
                                  </p:tav>
                                  <p:tav tm="100000">
                                    <p:val>
                                      <p:fltVal val="0.659242636337124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0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379496937882765"/>
                                    </p:val>
                                  </p:tav>
                                  <p:tav tm="100000">
                                    <p:val>
                                      <p:fltVal val="0.524986730825313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3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4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379497666958297"/>
                                    </p:val>
                                  </p:tav>
                                  <p:tav tm="100000">
                                    <p:val>
                                      <p:fltVal val="0.524986803732866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7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8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822053805774279"/>
                                    </p:val>
                                  </p:tav>
                                  <p:tav tm="100000">
                                    <p:val>
                                      <p:fltVal val="0.669242417614464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2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722055993000875"/>
                                    </p:val>
                                  </p:tav>
                                  <p:tav tm="100000">
                                    <p:val>
                                      <p:fltVal val="0.659242636337124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5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6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379496937882765"/>
                                    </p:val>
                                  </p:tav>
                                  <p:tav tm="100000">
                                    <p:val>
                                      <p:fltVal val="0.524986730825313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9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0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379497666958297"/>
                                    </p:val>
                                  </p:tav>
                                  <p:tav tm="100000">
                                    <p:val>
                                      <p:fltVal val="0.524986803732866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3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4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822053805774279"/>
                                    </p:val>
                                  </p:tav>
                                  <p:tav tm="100000">
                                    <p:val>
                                      <p:fltVal val="0.669242417614464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7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8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722055993000875"/>
                                    </p:val>
                                  </p:tav>
                                  <p:tav tm="100000">
                                    <p:val>
                                      <p:fltVal val="0.659242636337124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9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2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379496937882765"/>
                                    </p:val>
                                  </p:tav>
                                  <p:tav tm="100000">
                                    <p:val>
                                      <p:fltVal val="0.524986730825313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5" dur="90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6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379497666958297"/>
                                    </p:val>
                                  </p:tav>
                                  <p:tav tm="100000">
                                    <p:val>
                                      <p:fltVal val="0.524986803732866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9" dur="90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0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062418343540391"/>
                                    </p:val>
                                  </p:tav>
                                  <p:tav tm="100000">
                                    <p:val>
                                      <p:fltVal val="0.693278871391076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1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8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3" dur="900" fill="hold"/>
                                  <p:tgtEl>
                                    <p:spTgt spid="2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4" dur="900" fill="hold"/>
                                  <p:tgtEl>
                                    <p:spTgt spid="2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722055993000875"/>
                                    </p:val>
                                  </p:tav>
                                  <p:tav tm="100000">
                                    <p:val>
                                      <p:fltVal val="0.659242636337124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5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8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7" dur="900" fill="hold"/>
                                  <p:tgtEl>
                                    <p:spTgt spid="2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8" dur="900" fill="hold"/>
                                  <p:tgtEl>
                                    <p:spTgt spid="2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379496937882765"/>
                                    </p:val>
                                  </p:tav>
                                  <p:tav tm="100000">
                                    <p:val>
                                      <p:fltVal val="0.524986730825313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9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9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900" fill="hold"/>
                                  <p:tgtEl>
                                    <p:spTgt spid="2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2" dur="900" fill="hold"/>
                                  <p:tgtEl>
                                    <p:spTgt spid="2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379497666958297"/>
                                    </p:val>
                                  </p:tav>
                                  <p:tav tm="100000">
                                    <p:val>
                                      <p:fltVal val="0.524986803732866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3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9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5" dur="900" fill="hold"/>
                                  <p:tgtEl>
                                    <p:spTgt spid="2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6" dur="900" fill="hold"/>
                                  <p:tgtEl>
                                    <p:spTgt spid="2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228339895013123"/>
                                    </p:val>
                                  </p:tav>
                                  <p:tav tm="100000">
                                    <p:val>
                                      <p:fltVal val="0.709871026538349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02  ·  DEFINITION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What Is a Goiter?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3936901" cy="4444888"/>
          </a:xfrm>
          <a:prstGeom prst="roundRect">
            <a:avLst>
              <a:gd name="adj" fmla="val 4516"/>
            </a:avLst>
          </a:prstGeom>
          <a:solidFill>
            <a:srgbClr val="F5F8FD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neck-goi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476" y="1854153"/>
            <a:ext cx="3555911" cy="361940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88977" y="5549761"/>
            <a:ext cx="3682907" cy="257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4FA8"/>
                </a:solidFill>
                <a:latin typeface="Source Sans 3"/>
              </a:rPr>
              <a:t>Enlarged thyroid in the neck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16374" y="1663658"/>
            <a:ext cx="6413339" cy="1460463"/>
          </a:xfrm>
          <a:prstGeom prst="roundRect">
            <a:avLst>
              <a:gd name="adj" fmla="val 10434"/>
            </a:avLst>
          </a:prstGeom>
          <a:solidFill>
            <a:srgbClr val="1325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70368" y="1816054"/>
            <a:ext cx="5905352" cy="98320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E7CF96"/>
                </a:solidFill>
                <a:latin typeface="Source Sans 3"/>
              </a:rPr>
              <a:t>LATIN · </a:t>
            </a:r>
            <a:r>
              <a:rPr sz="1200" b="1" i="0" spc="200">
                <a:solidFill>
                  <a:srgbClr val="E7CF96"/>
                </a:solidFill>
                <a:latin typeface="Source Sans 3"/>
              </a:rPr>
              <a:t>GUTTUR</a:t>
            </a:r>
            <a:r>
              <a:rPr sz="1200" b="1" i="0" spc="200">
                <a:solidFill>
                  <a:srgbClr val="E7CF96"/>
                </a:solidFill>
                <a:latin typeface="Source Sans 3"/>
              </a:rPr>
              <a:t> = “THROAT”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Playfair Display"/>
              </a:rPr>
              <a:t>Enlargement of the thyroid gland — regardless of cause or function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16374" y="3314617"/>
            <a:ext cx="6413339" cy="32384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B8923E"/>
                </a:solidFill>
                <a:latin typeface="Source Sans 3"/>
              </a:rPr>
              <a:t>WHEN IS THE THYROID ENLARGED?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16374" y="3632109"/>
            <a:ext cx="6413339" cy="1162020"/>
          </a:xfrm>
          <a:prstGeom prst="roundRect">
            <a:avLst>
              <a:gd name="adj" fmla="val 1202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219569" y="3905152"/>
            <a:ext cx="609584" cy="609584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6726" y="4042308"/>
            <a:ext cx="335271" cy="33527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06949" y="3721006"/>
            <a:ext cx="5232269" cy="9842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00">
                <a:solidFill>
                  <a:srgbClr val="8A6A24"/>
                </a:solidFill>
                <a:latin typeface="Source Sans 3"/>
              </a:rPr>
              <a:t>ON EXAMINATION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3254D"/>
                </a:solidFill>
                <a:latin typeface="Source Sans 3"/>
              </a:rPr>
              <a:t>Each lobe &gt; terminal phalanx of the patient’s thumb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16374" y="4946526"/>
            <a:ext cx="6413339" cy="1162020"/>
          </a:xfrm>
          <a:prstGeom prst="roundRect">
            <a:avLst>
              <a:gd name="adj" fmla="val 1202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219569" y="5219569"/>
            <a:ext cx="609584" cy="609584"/>
          </a:xfrm>
          <a:prstGeom prst="ellipse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56726" y="5356726"/>
            <a:ext cx="335271" cy="33527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006949" y="5035424"/>
            <a:ext cx="5232269" cy="9842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00">
                <a:solidFill>
                  <a:srgbClr val="0B6E70"/>
                </a:solidFill>
                <a:latin typeface="Source Sans 3"/>
              </a:rPr>
              <a:t>ON ULTRASOUND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3254D"/>
                </a:solidFill>
                <a:latin typeface="Source Sans 3"/>
              </a:rPr>
              <a:t>Total volume &gt; ~18 mL (women) · &gt; 25 mL (men)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06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12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" dur="12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6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409514435695538"/>
                                    </p:val>
                                  </p:tav>
                                  <p:tav tm="100000">
                                    <p:val>
                                      <p:fltVal val="0.827988480606590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0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620282152230971"/>
                                    </p:val>
                                  </p:tav>
                                  <p:tav tm="100000">
                                    <p:val>
                                      <p:fltVal val="0.3490652522601341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3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4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4945443277923594"/>
                                    </p:val>
                                  </p:tav>
                                  <p:tav tm="100000">
                                    <p:val>
                                      <p:fltVal val="0.33649146981627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7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8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198946485855934"/>
                                    </p:val>
                                  </p:tav>
                                  <p:tav tm="100000">
                                    <p:val>
                                      <p:fltVal val="0.50693168562263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4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2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272993584135317"/>
                                    </p:val>
                                  </p:tav>
                                  <p:tav tm="100000">
                                    <p:val>
                                      <p:fltVal val="0.614336395450568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5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6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268363954505687"/>
                                    </p:val>
                                  </p:tav>
                                  <p:tav tm="100000">
                                    <p:val>
                                      <p:fltVal val="0.613873432487605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4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9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0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268363225430155"/>
                                    </p:val>
                                  </p:tav>
                                  <p:tav tm="100000">
                                    <p:val>
                                      <p:fltVal val="0.613873359580052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3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4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272992855059785"/>
                                    </p:val>
                                  </p:tav>
                                  <p:tav tm="100000">
                                    <p:val>
                                      <p:fltVal val="0.614336322543015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7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8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189612131816856"/>
                                    </p:val>
                                  </p:tav>
                                  <p:tav tm="100000">
                                    <p:val>
                                      <p:fltVal val="0.805998250218722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2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184982502187227"/>
                                    </p:val>
                                  </p:tav>
                                  <p:tav tm="100000">
                                    <p:val>
                                      <p:fltVal val="0.805535287255759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5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6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184983231262759"/>
                                    </p:val>
                                  </p:tav>
                                  <p:tav tm="100000">
                                    <p:val>
                                      <p:fltVal val="0.80553536016331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9" dur="9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0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189612860892388"/>
                                    </p:val>
                                  </p:tav>
                                  <p:tav tm="100000">
                                    <p:val>
                                      <p:fltVal val="0.805998323126275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02  ·  DEFINITION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Descriptive Terms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5238619" cy="2127196"/>
          </a:xfrm>
          <a:prstGeom prst="roundRect">
            <a:avLst>
              <a:gd name="adj" fmla="val 6567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hyroid-gl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377" y="1765255"/>
            <a:ext cx="1460463" cy="192400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527236" y="1752556"/>
            <a:ext cx="3282867" cy="19494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00">
                <a:solidFill>
                  <a:srgbClr val="1F4FA8"/>
                </a:solidFill>
                <a:latin typeface="Source Sans 3"/>
              </a:rPr>
              <a:t>BY SHAPE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3254D"/>
                </a:solidFill>
                <a:latin typeface="Source Sans 3"/>
              </a:rPr>
              <a:t>Diffuse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1F4FA8"/>
                </a:solidFill>
                <a:latin typeface="Source Sans 3"/>
              </a:rPr>
              <a:t>Uniform, symmetrical enlargement of the whole gland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1095" y="1663658"/>
            <a:ext cx="5238619" cy="2127196"/>
          </a:xfrm>
          <a:prstGeom prst="roundRect">
            <a:avLst>
              <a:gd name="adj" fmla="val 6567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ultinodular-goi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3491" y="1765255"/>
            <a:ext cx="1460463" cy="192400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956351" y="1752556"/>
            <a:ext cx="3282867" cy="19494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00">
                <a:solidFill>
                  <a:srgbClr val="1F4FA8"/>
                </a:solidFill>
                <a:latin typeface="Source Sans 3"/>
              </a:rPr>
              <a:t>BY SHAPE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3254D"/>
                </a:solidFill>
                <a:latin typeface="Source Sans 3"/>
              </a:rPr>
              <a:t>Nodular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1F4FA8"/>
                </a:solidFill>
                <a:latin typeface="Source Sans 3"/>
              </a:rPr>
              <a:t>One (uninodular) or multiple (multinodular) palpable nodules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1980" y="3981350"/>
            <a:ext cx="5238619" cy="2127196"/>
          </a:xfrm>
          <a:prstGeom prst="roundRect">
            <a:avLst>
              <a:gd name="adj" fmla="val 6567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65175" y="4736981"/>
            <a:ext cx="609584" cy="609584"/>
          </a:xfrm>
          <a:prstGeom prst="ellipse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1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2332" y="4874138"/>
            <a:ext cx="335271" cy="33527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752556" y="4070248"/>
            <a:ext cx="4057548" cy="19494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00">
                <a:solidFill>
                  <a:srgbClr val="0B6E70"/>
                </a:solidFill>
                <a:latin typeface="Source Sans 3"/>
              </a:rPr>
              <a:t>BY FUNCTION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3254D"/>
                </a:solidFill>
                <a:latin typeface="Source Sans 3"/>
              </a:rPr>
              <a:t>Simple (non-toxic)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0B6E70"/>
                </a:solidFill>
                <a:latin typeface="Source Sans 3"/>
              </a:rPr>
              <a:t>No hyper- or hypothyroidism · no inflammation or neoplasia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1095" y="3981350"/>
            <a:ext cx="5238619" cy="2127196"/>
          </a:xfrm>
          <a:prstGeom prst="roundRect">
            <a:avLst>
              <a:gd name="adj" fmla="val 6567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94290" y="4736981"/>
            <a:ext cx="609584" cy="609584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1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1446" y="4874138"/>
            <a:ext cx="335271" cy="33527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181670" y="4070248"/>
            <a:ext cx="4057548" cy="19494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00">
                <a:solidFill>
                  <a:srgbClr val="B23A48"/>
                </a:solidFill>
                <a:latin typeface="Source Sans 3"/>
              </a:rPr>
              <a:t>BY FUNCTION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3254D"/>
                </a:solidFill>
                <a:latin typeface="Source Sans 3"/>
              </a:rPr>
              <a:t>Toxic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B23A48"/>
                </a:solidFill>
                <a:latin typeface="Source Sans 3"/>
              </a:rPr>
              <a:t>Excess hormone production — e.g., Graves’, toxic MNG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07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9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1063808690580345"/>
                                    </p:val>
                                  </p:tav>
                                  <p:tav tm="100000">
                                    <p:val>
                                      <p:fltVal val="0.39767512394284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12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7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1063815981335666"/>
                                    </p:val>
                                  </p:tav>
                                  <p:tav tm="100000">
                                    <p:val>
                                      <p:fltVal val="0.3976751968503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8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1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1063808690580345"/>
                                    </p:val>
                                  </p:tav>
                                  <p:tav tm="100000">
                                    <p:val>
                                      <p:fltVal val="0.39767512394284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2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4" dur="12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7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8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1063815981335666"/>
                                    </p:val>
                                  </p:tav>
                                  <p:tav tm="100000">
                                    <p:val>
                                      <p:fltVal val="0.3976751968503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4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2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85925925925926"/>
                                    </p:val>
                                  </p:tav>
                                  <p:tav tm="100000">
                                    <p:val>
                                      <p:fltVal val="0.735629629629629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5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6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81296296296296"/>
                                    </p:val>
                                  </p:tav>
                                  <p:tav tm="100000">
                                    <p:val>
                                      <p:fltVal val="0.735166666666666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4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9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0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81297025371828"/>
                                    </p:val>
                                  </p:tav>
                                  <p:tav tm="100000">
                                    <p:val>
                                      <p:fltVal val="0.735166739574219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3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4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85926655001458"/>
                                    </p:val>
                                  </p:tav>
                                  <p:tav tm="100000">
                                    <p:val>
                                      <p:fltVal val="0.735629702537182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7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8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85925925925926"/>
                                    </p:val>
                                  </p:tav>
                                  <p:tav tm="100000">
                                    <p:val>
                                      <p:fltVal val="0.735629629629629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2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81296296296296"/>
                                    </p:val>
                                  </p:tav>
                                  <p:tav tm="100000">
                                    <p:val>
                                      <p:fltVal val="0.735166666666666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5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6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81297025371828"/>
                                    </p:val>
                                  </p:tav>
                                  <p:tav tm="100000">
                                    <p:val>
                                      <p:fltVal val="0.735166739574219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9" dur="9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0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85926655001458"/>
                                    </p:val>
                                  </p:tav>
                                  <p:tav tm="100000">
                                    <p:val>
                                      <p:fltVal val="0.735629702537182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02  ·  DEFINITION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Descriptive Terms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3428914" cy="4444888"/>
          </a:xfrm>
          <a:prstGeom prst="roundRect">
            <a:avLst>
              <a:gd name="adj" fmla="val 4074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90575" y="2616134"/>
            <a:ext cx="698482" cy="698482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733" y="2773293"/>
            <a:ext cx="384165" cy="38416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90575" y="3505112"/>
            <a:ext cx="2971725" cy="959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3254D"/>
                </a:solidFill>
                <a:latin typeface="Playfair Display"/>
              </a:rPr>
              <a:t>Endemic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8A6A24"/>
                </a:solidFill>
                <a:latin typeface="Source Sans 3"/>
              </a:rPr>
              <a:t>Affects &gt; 10% of a population — usually regional iodine deficiency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1390" y="1663658"/>
            <a:ext cx="3428914" cy="4444888"/>
          </a:xfrm>
          <a:prstGeom prst="roundRect">
            <a:avLst>
              <a:gd name="adj" fmla="val 4074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609984" y="2616134"/>
            <a:ext cx="698482" cy="698482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7143" y="2773293"/>
            <a:ext cx="384165" cy="38416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09984" y="3505112"/>
            <a:ext cx="2971725" cy="959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3254D"/>
                </a:solidFill>
                <a:latin typeface="Playfair Display"/>
              </a:rPr>
              <a:t>Sporadic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1F4FA8"/>
                </a:solidFill>
                <a:latin typeface="Source Sans 3"/>
              </a:rPr>
              <a:t>Individual cases — genetic, dietary, drug-related or autoimmune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0799" y="1663658"/>
            <a:ext cx="3428914" cy="4444888"/>
          </a:xfrm>
          <a:prstGeom prst="roundRect">
            <a:avLst>
              <a:gd name="adj" fmla="val 4074"/>
            </a:avLst>
          </a:prstGeom>
          <a:solidFill>
            <a:srgbClr val="FDF6F7"/>
          </a:solidFill>
          <a:ln w="6350">
            <a:solidFill>
              <a:srgbClr val="F0D3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229394" y="2616134"/>
            <a:ext cx="698482" cy="698482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1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6552" y="2773293"/>
            <a:ext cx="384165" cy="38416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29394" y="3505112"/>
            <a:ext cx="2971725" cy="11866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3254D"/>
                </a:solidFill>
                <a:latin typeface="Playfair Display"/>
              </a:rPr>
              <a:t>Retrosternal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B23A48"/>
                </a:solidFill>
                <a:latin typeface="Source Sans 3"/>
              </a:rPr>
              <a:t>(Substernal) — extends below the sternum into the superior mediastinum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08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9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9615339749198"/>
                                    </p:val>
                                  </p:tav>
                                  <p:tav tm="100000">
                                    <p:val>
                                      <p:fltVal val="0.56665237678623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45359434237387"/>
                                    </p:val>
                                  </p:tav>
                                  <p:tav tm="100000">
                                    <p:val>
                                      <p:fltVal val="0.4323964712744240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8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453595071449402"/>
                                    </p:val>
                                  </p:tav>
                                  <p:tav tm="100000">
                                    <p:val>
                                      <p:fltVal val="0.4323965441819772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2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939854184893555"/>
                                    </p:val>
                                  </p:tav>
                                  <p:tav tm="100000">
                                    <p:val>
                                      <p:fltVal val="0.581022455526392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5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6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9615339749198"/>
                                    </p:val>
                                  </p:tav>
                                  <p:tav tm="100000">
                                    <p:val>
                                      <p:fltVal val="0.56665237678623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0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45359434237387"/>
                                    </p:val>
                                  </p:tav>
                                  <p:tav tm="100000">
                                    <p:val>
                                      <p:fltVal val="0.4323964712744240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3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4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453595071449402"/>
                                    </p:val>
                                  </p:tav>
                                  <p:tav tm="100000">
                                    <p:val>
                                      <p:fltVal val="0.4323965441819772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7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8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939854184893555"/>
                                    </p:val>
                                  </p:tav>
                                  <p:tav tm="100000">
                                    <p:val>
                                      <p:fltVal val="0.581022455526392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2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9615339749198"/>
                                    </p:val>
                                  </p:tav>
                                  <p:tav tm="100000">
                                    <p:val>
                                      <p:fltVal val="0.56665237678623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5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6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45359434237387"/>
                                    </p:val>
                                  </p:tav>
                                  <p:tav tm="100000">
                                    <p:val>
                                      <p:fltVal val="0.4323964712744240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9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0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453595071449402"/>
                                    </p:val>
                                  </p:tav>
                                  <p:tav tm="100000">
                                    <p:val>
                                      <p:fltVal val="0.4323965441819772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3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4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105775736366288"/>
                                    </p:val>
                                  </p:tav>
                                  <p:tav tm="100000">
                                    <p:val>
                                      <p:fltVal val="0.597614610673665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03  ·  RISK FACTORS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Who Is at Risk?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5238619" cy="2127196"/>
          </a:xfrm>
          <a:prstGeom prst="roundRect">
            <a:avLst>
              <a:gd name="adj" fmla="val 6567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f-reg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5839" y="1765255"/>
            <a:ext cx="1460463" cy="192400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90575" y="1752556"/>
            <a:ext cx="3613059" cy="19494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00">
                <a:solidFill>
                  <a:srgbClr val="8A6A24"/>
                </a:solidFill>
                <a:latin typeface="Source Sans 3"/>
              </a:rPr>
              <a:t>#1 WORLDWIDE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3254D"/>
                </a:solidFill>
                <a:latin typeface="Source Sans 3"/>
              </a:rPr>
              <a:t>Iodine deficiency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8A6A24"/>
                </a:solidFill>
                <a:latin typeface="Source Sans 3"/>
              </a:rPr>
              <a:t>Leading risk factor worldwide — mountainous &amp; inland regions far from the sea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1095" y="1663658"/>
            <a:ext cx="5238619" cy="2127196"/>
          </a:xfrm>
          <a:prstGeom prst="roundRect">
            <a:avLst>
              <a:gd name="adj" fmla="val 6567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rf-fema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35944" y="1765255"/>
            <a:ext cx="1079473" cy="192400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19689" y="1752556"/>
            <a:ext cx="3994050" cy="19494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3254D"/>
                </a:solidFill>
                <a:latin typeface="Source Sans 3"/>
              </a:rPr>
              <a:t>Female gender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1F4FA8"/>
                </a:solidFill>
                <a:latin typeface="Source Sans 3"/>
              </a:rPr>
              <a:t>Women affected 4–10× more often than men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1980" y="3981350"/>
            <a:ext cx="5238619" cy="2127196"/>
          </a:xfrm>
          <a:prstGeom prst="roundRect">
            <a:avLst>
              <a:gd name="adj" fmla="val 6567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rf-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3826" y="4082947"/>
            <a:ext cx="952476" cy="192400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90575" y="4070248"/>
            <a:ext cx="4121046" cy="19494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3254D"/>
                </a:solidFill>
                <a:latin typeface="Source Sans 3"/>
              </a:rPr>
              <a:t>Age over 40 years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1F4FA8"/>
                </a:solidFill>
                <a:latin typeface="Source Sans 3"/>
              </a:rPr>
              <a:t>Prevalence increases with age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1095" y="3981350"/>
            <a:ext cx="5238619" cy="2127196"/>
          </a:xfrm>
          <a:prstGeom prst="roundRect">
            <a:avLst>
              <a:gd name="adj" fmla="val 6567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rf-famil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45448" y="4082947"/>
            <a:ext cx="1269968" cy="192400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19689" y="4070248"/>
            <a:ext cx="3803554" cy="19494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3254D"/>
                </a:solidFill>
                <a:latin typeface="Source Sans 3"/>
              </a:rPr>
              <a:t>Family history / genetics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0B6E70"/>
                </a:solidFill>
                <a:latin typeface="Source Sans 3"/>
              </a:rPr>
              <a:t>Inherited defects of hormone synthesis (dyshormonogenesis)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09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9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1063808690580345"/>
                                    </p:val>
                                  </p:tav>
                                  <p:tav tm="100000">
                                    <p:val>
                                      <p:fltVal val="0.39767512394284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12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7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1063815981335666"/>
                                    </p:val>
                                  </p:tav>
                                  <p:tav tm="100000">
                                    <p:val>
                                      <p:fltVal val="0.3976751968503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8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1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1063808690580345"/>
                                    </p:val>
                                  </p:tav>
                                  <p:tav tm="100000">
                                    <p:val>
                                      <p:fltVal val="0.39767512394284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2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4" dur="12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7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8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1063815981335666"/>
                                    </p:val>
                                  </p:tav>
                                  <p:tav tm="100000">
                                    <p:val>
                                      <p:fltVal val="0.3976751968503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4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2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85925925925926"/>
                                    </p:val>
                                  </p:tav>
                                  <p:tav tm="100000">
                                    <p:val>
                                      <p:fltVal val="0.735629629629629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5" dur="12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6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4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8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9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85926655001458"/>
                                    </p:val>
                                  </p:tav>
                                  <p:tav tm="100000">
                                    <p:val>
                                      <p:fltVal val="0.735629702537182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0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5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2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3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85925925925926"/>
                                    </p:val>
                                  </p:tav>
                                  <p:tav tm="100000">
                                    <p:val>
                                      <p:fltVal val="0.735629629629629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4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5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6" dur="12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9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0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85926655001458"/>
                                    </p:val>
                                  </p:tav>
                                  <p:tav tm="100000">
                                    <p:val>
                                      <p:fltVal val="0.735629702537182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03  ·  RISK FACTORS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Who Is at Risk?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3428914" cy="2127196"/>
          </a:xfrm>
          <a:prstGeom prst="roundRect">
            <a:avLst>
              <a:gd name="adj" fmla="val 6567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f-pregna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7620" y="1765255"/>
            <a:ext cx="888977" cy="192400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90575" y="1752556"/>
            <a:ext cx="2374840" cy="19494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3254D"/>
                </a:solidFill>
                <a:latin typeface="Source Sans 3"/>
              </a:rPr>
              <a:t>Hormonal changes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0B6E70"/>
                </a:solidFill>
                <a:latin typeface="Source Sans 3"/>
              </a:rPr>
              <a:t>Puberty, pregnancy &amp; menopause ↑ hormone demand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1390" y="1663658"/>
            <a:ext cx="3428914" cy="2127196"/>
          </a:xfrm>
          <a:prstGeom prst="roundRect">
            <a:avLst>
              <a:gd name="adj" fmla="val 6567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rf-radi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3531" y="1765255"/>
            <a:ext cx="952476" cy="192400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609984" y="1752556"/>
            <a:ext cx="2311342" cy="19494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3254D"/>
                </a:solidFill>
                <a:latin typeface="Source Sans 3"/>
              </a:rPr>
              <a:t>Radiation exposure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B23A48"/>
                </a:solidFill>
                <a:latin typeface="Source Sans 3"/>
              </a:rPr>
              <a:t>Prior head/neck irradiation or nuclear fallout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00799" y="1663658"/>
            <a:ext cx="3428914" cy="2127196"/>
          </a:xfrm>
          <a:prstGeom prst="roundRect">
            <a:avLst>
              <a:gd name="adj" fmla="val 6567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rf-drug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35944" y="1765255"/>
            <a:ext cx="1079473" cy="192400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29394" y="1752556"/>
            <a:ext cx="2184345" cy="19494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3254D"/>
                </a:solidFill>
                <a:latin typeface="Source Sans 3"/>
              </a:rPr>
              <a:t>Medications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1F4FA8"/>
                </a:solidFill>
                <a:latin typeface="Source Sans 3"/>
              </a:rPr>
              <a:t>Lithium · amiodarone · immunosuppressants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1980" y="3981350"/>
            <a:ext cx="5238619" cy="2127196"/>
          </a:xfrm>
          <a:prstGeom prst="roundRect">
            <a:avLst>
              <a:gd name="adj" fmla="val 6567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rf-foo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6334" y="4082947"/>
            <a:ext cx="1269968" cy="192400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90575" y="4070248"/>
            <a:ext cx="3803554" cy="19494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3254D"/>
                </a:solidFill>
                <a:latin typeface="Source Sans 3"/>
              </a:rPr>
              <a:t>Dietary goitrogens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8A6A24"/>
                </a:solidFill>
                <a:latin typeface="Source Sans 3"/>
              </a:rPr>
              <a:t>Excess cassava, cabbage, broccoli, soy — worse with iodine deficiency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1095" y="3981350"/>
            <a:ext cx="5238619" cy="2127196"/>
          </a:xfrm>
          <a:prstGeom prst="roundRect">
            <a:avLst>
              <a:gd name="adj" fmla="val 6567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rf-smokin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18452" y="4082947"/>
            <a:ext cx="1396965" cy="1924001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419689" y="4070248"/>
            <a:ext cx="3676558" cy="19494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3254D"/>
                </a:solidFill>
                <a:latin typeface="Source Sans 3"/>
              </a:rPr>
              <a:t>Smoking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B23A48"/>
                </a:solidFill>
                <a:latin typeface="Source Sans 3"/>
              </a:rPr>
              <a:t>Thiocyanate in smoke interferes with iodine uptake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10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9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1063808690580345"/>
                                    </p:val>
                                  </p:tav>
                                  <p:tav tm="100000">
                                    <p:val>
                                      <p:fltVal val="0.39767512394284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12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7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1063815981335666"/>
                                    </p:val>
                                  </p:tav>
                                  <p:tav tm="100000">
                                    <p:val>
                                      <p:fltVal val="0.3976751968503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8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1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1063808690580345"/>
                                    </p:val>
                                  </p:tav>
                                  <p:tav tm="100000">
                                    <p:val>
                                      <p:fltVal val="0.39767512394284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2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4" dur="12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7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8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1063815981335666"/>
                                    </p:val>
                                  </p:tav>
                                  <p:tav tm="100000">
                                    <p:val>
                                      <p:fltVal val="0.3976751968503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4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2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1063808690580345"/>
                                    </p:val>
                                  </p:tav>
                                  <p:tav tm="100000">
                                    <p:val>
                                      <p:fltVal val="0.39767512394284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5" dur="12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6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4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8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9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1063815981335666"/>
                                    </p:val>
                                  </p:tav>
                                  <p:tav tm="100000">
                                    <p:val>
                                      <p:fltVal val="0.3976751968503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0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5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2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3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85925925925926"/>
                                    </p:val>
                                  </p:tav>
                                  <p:tav tm="100000">
                                    <p:val>
                                      <p:fltVal val="0.735629629629629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4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5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6" dur="12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9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0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85926655001458"/>
                                    </p:val>
                                  </p:tav>
                                  <p:tav tm="100000">
                                    <p:val>
                                      <p:fltVal val="0.735629702537182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3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4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85925925925926"/>
                                    </p:val>
                                  </p:tav>
                                  <p:tav tm="100000">
                                    <p:val>
                                      <p:fltVal val="0.735629629629629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5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7" dur="12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8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6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0" dur="90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1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85926655001458"/>
                                    </p:val>
                                  </p:tav>
                                  <p:tav tm="100000">
                                    <p:val>
                                      <p:fltVal val="0.735629702537182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04  ·  CAUSES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How Iodine Deficiency Builds a Goiter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10667733" cy="1079473"/>
          </a:xfrm>
          <a:prstGeom prst="roundRect">
            <a:avLst>
              <a:gd name="adj" fmla="val 14117"/>
            </a:avLst>
          </a:prstGeom>
          <a:solidFill>
            <a:srgbClr val="1325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15974" y="1904952"/>
            <a:ext cx="609584" cy="60958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3131" y="2042108"/>
            <a:ext cx="335271" cy="33527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841453" y="1790655"/>
            <a:ext cx="9397765" cy="8254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E7CF96"/>
                </a:solidFill>
                <a:latin typeface="Source Sans 3"/>
              </a:rPr>
              <a:t>MOST COMMON CAUSE WORLDWIDE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Playfair Display"/>
              </a:rPr>
              <a:t>Iodine deficiency → endemic goiter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50958" y="3809904"/>
            <a:ext cx="8889777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61980" y="3060623"/>
            <a:ext cx="2476438" cy="3047923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19209" y="3301917"/>
            <a:ext cx="761980" cy="761980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0655" y="3473363"/>
            <a:ext cx="419089" cy="41908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52476" y="4317892"/>
            <a:ext cx="2095447" cy="8508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B8923E"/>
                </a:solidFill>
                <a:latin typeface="Playfair Display"/>
              </a:rPr>
              <a:t>01</a:t>
            </a:r>
          </a:p>
          <a:p>
            <a:pPr algn="ctr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900" b="1" i="0">
                <a:solidFill>
                  <a:srgbClr val="13254D"/>
                </a:solidFill>
                <a:latin typeface="Source Sans 3"/>
              </a:rPr>
              <a:t>Iodine deficiency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92412" y="3060623"/>
            <a:ext cx="2476438" cy="3047923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349641" y="3301917"/>
            <a:ext cx="761980" cy="761980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1086" y="3473363"/>
            <a:ext cx="419089" cy="41908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682907" y="4317892"/>
            <a:ext cx="2095447" cy="11597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B8923E"/>
                </a:solidFill>
                <a:latin typeface="Playfair Display"/>
              </a:rPr>
              <a:t>02</a:t>
            </a:r>
          </a:p>
          <a:p>
            <a:pPr algn="ctr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900" b="1" i="0">
                <a:solidFill>
                  <a:srgbClr val="13254D"/>
                </a:solidFill>
                <a:latin typeface="Source Sans 3"/>
              </a:rPr>
              <a:t>↓ Hormone synthesis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22844" y="3060623"/>
            <a:ext cx="2476438" cy="3047923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080072" y="3301917"/>
            <a:ext cx="761980" cy="761980"/>
          </a:xfrm>
          <a:prstGeom prst="ellipse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1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51518" y="3473363"/>
            <a:ext cx="419089" cy="419089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413339" y="4317892"/>
            <a:ext cx="2095447" cy="8508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B8923E"/>
                </a:solidFill>
                <a:latin typeface="Playfair Display"/>
              </a:rPr>
              <a:t>03</a:t>
            </a:r>
          </a:p>
          <a:p>
            <a:pPr algn="ctr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900" b="1" i="0">
                <a:solidFill>
                  <a:srgbClr val="13254D"/>
                </a:solidFill>
                <a:latin typeface="Source Sans 3"/>
              </a:rPr>
              <a:t>↑ TSH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53276" y="3060623"/>
            <a:ext cx="2476438" cy="3047923"/>
          </a:xfrm>
          <a:prstGeom prst="roundRect">
            <a:avLst>
              <a:gd name="adj" fmla="val 6153"/>
            </a:avLst>
          </a:prstGeom>
          <a:solidFill>
            <a:srgbClr val="F5F8FD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810504" y="3301917"/>
            <a:ext cx="761980" cy="761980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2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81950" y="3473363"/>
            <a:ext cx="419089" cy="419089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143771" y="4317892"/>
            <a:ext cx="2095447" cy="11597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B8923E"/>
                </a:solidFill>
                <a:latin typeface="Playfair Display"/>
              </a:rPr>
              <a:t>04</a:t>
            </a:r>
          </a:p>
          <a:p>
            <a:pPr algn="ctr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900" b="1" i="0">
                <a:solidFill>
                  <a:srgbClr val="13254D"/>
                </a:solidFill>
                <a:latin typeface="Source Sans 3"/>
              </a:rPr>
              <a:t>Glandular hyperplasia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11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9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342511665208516"/>
                                    </p:val>
                                  </p:tav>
                                  <p:tav tm="100000">
                                    <p:val>
                                      <p:fltVal val="0.321288203557888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3517701953922424"/>
                                    </p:val>
                                  </p:tav>
                                  <p:tav tm="100000">
                                    <p:val>
                                      <p:fltVal val="0.322214056576261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8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35176946631671"/>
                                    </p:val>
                                  </p:tav>
                                  <p:tav tm="100000">
                                    <p:val>
                                      <p:fltVal val="0.3222139836687080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2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342511665208516"/>
                                    </p:val>
                                  </p:tav>
                                  <p:tav tm="100000">
                                    <p:val>
                                      <p:fltVal val="0.321288203557888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5" dur="12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6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8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9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81464639836687"/>
                                    </p:val>
                                  </p:tav>
                                  <p:tav tm="100000">
                                    <p:val>
                                      <p:fltVal val="0.668501676873724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0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2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3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499864391951006"/>
                                    </p:val>
                                  </p:tav>
                                  <p:tav tm="100000">
                                    <p:val>
                                      <p:fltVal val="0.537023476232137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4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6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7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499865121026538"/>
                                    </p:val>
                                  </p:tav>
                                  <p:tav tm="100000">
                                    <p:val>
                                      <p:fltVal val="0.537023549139690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8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0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1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046122776319627"/>
                                    </p:val>
                                  </p:tav>
                                  <p:tav tm="100000">
                                    <p:val>
                                      <p:fltVal val="0.691649314668999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2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4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5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81464639836687"/>
                                    </p:val>
                                  </p:tav>
                                  <p:tav tm="100000">
                                    <p:val>
                                      <p:fltVal val="0.668501676873724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6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8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9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499864391951006"/>
                                    </p:val>
                                  </p:tav>
                                  <p:tav tm="100000">
                                    <p:val>
                                      <p:fltVal val="0.537023476232137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0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2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3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499865121026538"/>
                                    </p:val>
                                  </p:tav>
                                  <p:tav tm="100000">
                                    <p:val>
                                      <p:fltVal val="0.537023549139690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4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6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7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271302857976086"/>
                                    </p:val>
                                  </p:tav>
                                  <p:tav tm="100000">
                                    <p:val>
                                      <p:fltVal val="0.714167322834645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8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0" dur="9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1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81464639836687"/>
                                    </p:val>
                                  </p:tav>
                                  <p:tav tm="100000">
                                    <p:val>
                                      <p:fltVal val="0.668501676873724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2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4" dur="90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5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499864391951006"/>
                                    </p:val>
                                  </p:tav>
                                  <p:tav tm="100000">
                                    <p:val>
                                      <p:fltVal val="0.537023476232137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6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8" dur="90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9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499865121026538"/>
                                    </p:val>
                                  </p:tav>
                                  <p:tav tm="100000">
                                    <p:val>
                                      <p:fltVal val="0.537023549139690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0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8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2" dur="900" fill="hold"/>
                                  <p:tgtEl>
                                    <p:spTgt spid="2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3" dur="900" fill="hold"/>
                                  <p:tgtEl>
                                    <p:spTgt spid="2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046122776319627"/>
                                    </p:val>
                                  </p:tav>
                                  <p:tav tm="100000">
                                    <p:val>
                                      <p:fltVal val="0.691649314668999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4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8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6" dur="900" fill="hold"/>
                                  <p:tgtEl>
                                    <p:spTgt spid="2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7" dur="900" fill="hold"/>
                                  <p:tgtEl>
                                    <p:spTgt spid="2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81464639836687"/>
                                    </p:val>
                                  </p:tav>
                                  <p:tav tm="100000">
                                    <p:val>
                                      <p:fltVal val="0.668501676873724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8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8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0" dur="900" fill="hold"/>
                                  <p:tgtEl>
                                    <p:spTgt spid="2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1" dur="900" fill="hold"/>
                                  <p:tgtEl>
                                    <p:spTgt spid="2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499864391951006"/>
                                    </p:val>
                                  </p:tav>
                                  <p:tav tm="100000">
                                    <p:val>
                                      <p:fltVal val="0.537023476232137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2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9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4" dur="900" fill="hold"/>
                                  <p:tgtEl>
                                    <p:spTgt spid="2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5" dur="900" fill="hold"/>
                                  <p:tgtEl>
                                    <p:spTgt spid="2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499865121026538"/>
                                    </p:val>
                                  </p:tav>
                                  <p:tav tm="100000">
                                    <p:val>
                                      <p:fltVal val="0.537023549139690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6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9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8" dur="900" fill="hold"/>
                                  <p:tgtEl>
                                    <p:spTgt spid="2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9" dur="900" fill="hold"/>
                                  <p:tgtEl>
                                    <p:spTgt spid="2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271302857976086"/>
                                    </p:val>
                                  </p:tav>
                                  <p:tav tm="100000">
                                    <p:val>
                                      <p:fltVal val="0.714167322834645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04  ·  CAUSES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Other Causes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10667733" cy="4749681"/>
          </a:xfrm>
          <a:prstGeom prst="roundRect">
            <a:avLst>
              <a:gd name="adj" fmla="val 3475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76278" y="1777955"/>
          <a:ext cx="10439138" cy="4521085"/>
        </p:xfrm>
        <a:graphic>
          <a:graphicData uri="http://schemas.openxmlformats.org/drawingml/2006/table">
            <a:tbl>
              <a:tblPr firstRow="0" bandRow="0"/>
              <a:tblGrid>
                <a:gridCol w="2984425"/>
                <a:gridCol w="7454713"/>
              </a:tblGrid>
              <a:tr h="584185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Source Sans 3"/>
                        </a:rPr>
                        <a:t>CAUSE</a:t>
                      </a:r>
                    </a:p>
                  </a:txBody>
                  <a:tcPr marL="45720" marR="45720" anchor="ctr">
                    <a:solidFill>
                      <a:srgbClr val="13254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Source Sans 3"/>
                        </a:rPr>
                        <a:t>MECHANISM / NOTES</a:t>
                      </a:r>
                    </a:p>
                  </a:txBody>
                  <a:tcPr marL="45720" marR="45720" anchor="ctr">
                    <a:solidFill>
                      <a:srgbClr val="13254D"/>
                    </a:solidFill>
                  </a:tcPr>
                </a:tc>
              </a:tr>
              <a:tr h="78738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3254D"/>
                          </a:solidFill>
                          <a:latin typeface="Playfair Display"/>
                        </a:rPr>
                        <a:t>Hashimoto's thyroiditis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C2A44"/>
                          </a:solidFill>
                          <a:latin typeface="Source Sans 3"/>
                        </a:rPr>
                        <a:t>Autoimmune destruction ·</a:t>
                      </a:r>
                      <a:r>
                        <a:rPr sz="1500" b="1">
                          <a:solidFill>
                            <a:srgbClr val="1C2A44"/>
                          </a:solidFill>
                          <a:latin typeface="Source Sans 3"/>
                        </a:rPr>
                        <a:t>most common cause in iodine-sufficient regions</a:t>
                      </a:r>
                      <a:r>
                        <a:rPr sz="1500" b="1">
                          <a:solidFill>
                            <a:srgbClr val="1C2A44"/>
                          </a:solidFill>
                          <a:latin typeface="Source Sans 3"/>
                        </a:rPr>
                        <a:t>· leads to hypothyroidism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</a:tr>
              <a:tr h="78738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3254D"/>
                          </a:solidFill>
                          <a:latin typeface="Playfair Display"/>
                        </a:rPr>
                        <a:t>Graves' disease</a:t>
                      </a:r>
                    </a:p>
                  </a:txBody>
                  <a:tcPr marL="45720" marR="45720" anchor="ctr">
                    <a:solidFill>
                      <a:srgbClr val="F7F9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C2A44"/>
                          </a:solidFill>
                          <a:latin typeface="Source Sans 3"/>
                        </a:rPr>
                        <a:t>TSH-receptor stimulating antibodies → diffuse toxic goiter with hyperthyroidism</a:t>
                      </a:r>
                    </a:p>
                  </a:txBody>
                  <a:tcPr marL="45720" marR="45720" anchor="ctr">
                    <a:solidFill>
                      <a:srgbClr val="F7F9FD"/>
                    </a:solidFill>
                  </a:tcPr>
                </a:tc>
              </a:tr>
              <a:tr h="78738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3254D"/>
                          </a:solidFill>
                          <a:latin typeface="Playfair Display"/>
                        </a:rPr>
                        <a:t>Multinodular goiter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C2A44"/>
                          </a:solidFill>
                          <a:latin typeface="Source Sans 3"/>
                        </a:rPr>
                        <a:t>Multiple adenomatous nodules · may become autonomously functioning (toxic)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</a:tr>
              <a:tr h="78738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3254D"/>
                          </a:solidFill>
                          <a:latin typeface="Playfair Display"/>
                        </a:rPr>
                        <a:t>Solitary thyroid nodule</a:t>
                      </a:r>
                    </a:p>
                  </a:txBody>
                  <a:tcPr marL="45720" marR="45720" anchor="ctr">
                    <a:solidFill>
                      <a:srgbClr val="F7F9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C2A44"/>
                          </a:solidFill>
                          <a:latin typeface="Source Sans 3"/>
                        </a:rPr>
                        <a:t>Adenoma, cyst or carcinoma —</a:t>
                      </a:r>
                      <a:r>
                        <a:rPr sz="1500" b="1">
                          <a:solidFill>
                            <a:srgbClr val="1C2A44"/>
                          </a:solidFill>
                          <a:latin typeface="Source Sans 3"/>
                        </a:rPr>
                        <a:t>≈ 5% of palpable nodules are malignant</a:t>
                      </a:r>
                    </a:p>
                  </a:txBody>
                  <a:tcPr marL="45720" marR="45720" anchor="ctr">
                    <a:solidFill>
                      <a:srgbClr val="F7F9FD"/>
                    </a:solidFill>
                  </a:tcPr>
                </a:tc>
              </a:tr>
              <a:tr h="78738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3254D"/>
                          </a:solidFill>
                          <a:latin typeface="Playfair Display"/>
                        </a:rPr>
                        <a:t>Thyroiditis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C2A44"/>
                          </a:solidFill>
                          <a:latin typeface="Source Sans 3"/>
                        </a:rPr>
                        <a:t>Subacute (De Quervain), postpartum or silent — often painful or transient dysfunction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12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12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3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018369058034412"/>
                                    </p:val>
                                  </p:tav>
                                  <p:tav tm="100000">
                                    <p:val>
                                      <p:fltVal val="0.588873942840478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04  ·  CAUSES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Other Causes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10667733" cy="4622684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76278" y="1777955"/>
          <a:ext cx="10439138" cy="4394089"/>
        </p:xfrm>
        <a:graphic>
          <a:graphicData uri="http://schemas.openxmlformats.org/drawingml/2006/table">
            <a:tbl>
              <a:tblPr firstRow="0" bandRow="0"/>
              <a:tblGrid>
                <a:gridCol w="2984425"/>
                <a:gridCol w="7454713"/>
              </a:tblGrid>
              <a:tr h="584185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Source Sans 3"/>
                        </a:rPr>
                        <a:t>CAUSE</a:t>
                      </a:r>
                    </a:p>
                  </a:txBody>
                  <a:tcPr marL="45720" marR="45720" anchor="ctr">
                    <a:solidFill>
                      <a:srgbClr val="13254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Source Sans 3"/>
                        </a:rPr>
                        <a:t>MECHANISM / NOTES</a:t>
                      </a:r>
                    </a:p>
                  </a:txBody>
                  <a:tcPr marL="45720" marR="45720" anchor="ctr">
                    <a:solidFill>
                      <a:srgbClr val="13254D"/>
                    </a:solidFill>
                  </a:tcPr>
                </a:tc>
              </a:tr>
              <a:tr h="952476">
                <a:tc>
                  <a:txBody>
                    <a:bodyPr wrap="square"/>
                    <a:lstStyle/>
                    <a:p>
                      <a:pPr algn="l"/>
                      <a:r>
                        <a:rPr sz="1700" b="1">
                          <a:solidFill>
                            <a:srgbClr val="13254D"/>
                          </a:solidFill>
                          <a:latin typeface="Playfair Display"/>
                        </a:rPr>
                        <a:t>Thyroid cancer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C2A44"/>
                          </a:solidFill>
                          <a:latin typeface="Source Sans 3"/>
                        </a:rPr>
                        <a:t>Papillary (most common) · follicular · medullary · anaplastic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</a:tr>
              <a:tr h="952476">
                <a:tc>
                  <a:txBody>
                    <a:bodyPr wrap="square"/>
                    <a:lstStyle/>
                    <a:p>
                      <a:pPr algn="l"/>
                      <a:r>
                        <a:rPr sz="1700" b="1">
                          <a:solidFill>
                            <a:srgbClr val="13254D"/>
                          </a:solidFill>
                          <a:latin typeface="Playfair Display"/>
                        </a:rPr>
                        <a:t>Drugs</a:t>
                      </a:r>
                    </a:p>
                  </a:txBody>
                  <a:tcPr marL="45720" marR="45720" anchor="ctr">
                    <a:solidFill>
                      <a:srgbClr val="F7F9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C2A44"/>
                          </a:solidFill>
                          <a:latin typeface="Source Sans 3"/>
                        </a:rPr>
                        <a:t>Lithium · amiodarone (iodine-rich) · interferon-alpha · tyrosine kinase inhibitors</a:t>
                      </a:r>
                    </a:p>
                  </a:txBody>
                  <a:tcPr marL="45720" marR="45720" anchor="ctr">
                    <a:solidFill>
                      <a:srgbClr val="F7F9FD"/>
                    </a:solidFill>
                  </a:tcPr>
                </a:tc>
              </a:tr>
              <a:tr h="952476">
                <a:tc>
                  <a:txBody>
                    <a:bodyPr wrap="square"/>
                    <a:lstStyle/>
                    <a:p>
                      <a:pPr algn="l"/>
                      <a:r>
                        <a:rPr sz="1700" b="1">
                          <a:solidFill>
                            <a:srgbClr val="13254D"/>
                          </a:solidFill>
                          <a:latin typeface="Playfair Display"/>
                        </a:rPr>
                        <a:t>Pregnancy / HCG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C2A44"/>
                          </a:solidFill>
                          <a:latin typeface="Source Sans 3"/>
                        </a:rPr>
                        <a:t>HCG weakly stimulates TSH receptors → mild physiological enlargement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</a:tr>
              <a:tr h="952476">
                <a:tc>
                  <a:txBody>
                    <a:bodyPr wrap="square"/>
                    <a:lstStyle/>
                    <a:p>
                      <a:pPr algn="l"/>
                      <a:r>
                        <a:rPr sz="1700" b="1">
                          <a:solidFill>
                            <a:srgbClr val="13254D"/>
                          </a:solidFill>
                          <a:latin typeface="Playfair Display"/>
                        </a:rPr>
                        <a:t>Iodine excess</a:t>
                      </a:r>
                    </a:p>
                  </a:txBody>
                  <a:tcPr marL="45720" marR="45720" anchor="ctr">
                    <a:solidFill>
                      <a:srgbClr val="F7F9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C2A44"/>
                          </a:solidFill>
                          <a:latin typeface="Source Sans 3"/>
                        </a:rPr>
                        <a:t>Paradoxically</a:t>
                      </a:r>
                      <a:r>
                        <a:rPr sz="1600" b="1">
                          <a:solidFill>
                            <a:srgbClr val="1C2A44"/>
                          </a:solidFill>
                          <a:latin typeface="Source Sans 3"/>
                        </a:rPr>
                        <a:t>, chronic excess iodine can also induce goiter</a:t>
                      </a:r>
                    </a:p>
                  </a:txBody>
                  <a:tcPr marL="45720" marR="45720" anchor="ctr">
                    <a:solidFill>
                      <a:srgbClr val="F7F9FD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13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12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3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925779381743949"/>
                                    </p:val>
                                  </p:tav>
                                  <p:tav tm="100000">
                                    <p:val>
                                      <p:fltVal val="0.579614975211431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05  ·  CLASSIFICATION / STAGES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WHO Clinical Grading of Goiter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10667733" cy="4241693"/>
          </a:xfrm>
          <a:prstGeom prst="roundRect">
            <a:avLst>
              <a:gd name="adj" fmla="val 3892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76278" y="1777955"/>
          <a:ext cx="10439137" cy="4013098"/>
        </p:xfrm>
        <a:graphic>
          <a:graphicData uri="http://schemas.openxmlformats.org/drawingml/2006/table">
            <a:tbl>
              <a:tblPr firstRow="0" bandRow="0"/>
              <a:tblGrid>
                <a:gridCol w="1650958"/>
                <a:gridCol w="1587460"/>
                <a:gridCol w="1587460"/>
                <a:gridCol w="5613259"/>
              </a:tblGrid>
              <a:tr h="584185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Source Sans 3"/>
                        </a:rPr>
                        <a:t>GRADE</a:t>
                      </a:r>
                    </a:p>
                  </a:txBody>
                  <a:tcPr marL="45720" marR="45720" anchor="ctr">
                    <a:solidFill>
                      <a:srgbClr val="13254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Source Sans 3"/>
                        </a:rPr>
                        <a:t>PALPABLE</a:t>
                      </a:r>
                    </a:p>
                  </a:txBody>
                  <a:tcPr marL="45720" marR="45720" anchor="ctr">
                    <a:solidFill>
                      <a:srgbClr val="13254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Source Sans 3"/>
                        </a:rPr>
                        <a:t>VISIBLE</a:t>
                      </a:r>
                    </a:p>
                  </a:txBody>
                  <a:tcPr marL="45720" marR="45720" anchor="ctr">
                    <a:solidFill>
                      <a:srgbClr val="13254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Source Sans 3"/>
                        </a:rPr>
                        <a:t>FINDING</a:t>
                      </a:r>
                    </a:p>
                  </a:txBody>
                  <a:tcPr marL="45720" marR="45720" anchor="ctr">
                    <a:solidFill>
                      <a:srgbClr val="13254D"/>
                    </a:solidFill>
                  </a:tcPr>
                </a:tc>
              </a:tr>
              <a:tr h="1142971">
                <a:tc>
                  <a:txBody>
                    <a:bodyPr wrap="square"/>
                    <a:lstStyle/>
                    <a:p>
                      <a:pPr algn="l"/>
                      <a:r>
                        <a:rPr sz="2900" b="1">
                          <a:solidFill>
                            <a:srgbClr val="0B6E70"/>
                          </a:solidFill>
                          <a:latin typeface="Playfair Display"/>
                        </a:rPr>
                        <a:t>0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2500" b="1">
                          <a:solidFill>
                            <a:srgbClr val="9AA6BA"/>
                          </a:solidFill>
                          <a:latin typeface="Source Sans 3"/>
                        </a:rPr>
                        <a:t>✕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2500" b="1">
                          <a:solidFill>
                            <a:srgbClr val="9AA6BA"/>
                          </a:solidFill>
                          <a:latin typeface="Source Sans 3"/>
                        </a:rPr>
                        <a:t>✕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C2A44"/>
                          </a:solidFill>
                          <a:latin typeface="Source Sans 3"/>
                        </a:rPr>
                        <a:t>No palpable or visible goiter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</a:tr>
              <a:tr h="1142971">
                <a:tc>
                  <a:txBody>
                    <a:bodyPr wrap="square"/>
                    <a:lstStyle/>
                    <a:p>
                      <a:pPr algn="l"/>
                      <a:r>
                        <a:rPr sz="2900" b="1">
                          <a:solidFill>
                            <a:srgbClr val="1F4FA8"/>
                          </a:solidFill>
                          <a:latin typeface="Playfair Display"/>
                        </a:rPr>
                        <a:t>1</a:t>
                      </a:r>
                    </a:p>
                  </a:txBody>
                  <a:tcPr marL="45720" marR="45720" anchor="ctr">
                    <a:solidFill>
                      <a:srgbClr val="F7F9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2500" b="1">
                          <a:solidFill>
                            <a:srgbClr val="0F8B8D"/>
                          </a:solidFill>
                          <a:latin typeface="Source Sans 3"/>
                        </a:rPr>
                        <a:t>✓</a:t>
                      </a:r>
                    </a:p>
                  </a:txBody>
                  <a:tcPr marL="45720" marR="45720" anchor="ctr">
                    <a:solidFill>
                      <a:srgbClr val="F7F9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2500" b="1">
                          <a:solidFill>
                            <a:srgbClr val="9AA6BA"/>
                          </a:solidFill>
                          <a:latin typeface="Source Sans 3"/>
                        </a:rPr>
                        <a:t>✕</a:t>
                      </a:r>
                    </a:p>
                  </a:txBody>
                  <a:tcPr marL="45720" marR="45720" anchor="ctr">
                    <a:solidFill>
                      <a:srgbClr val="F7F9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C2A44"/>
                          </a:solidFill>
                          <a:latin typeface="Source Sans 3"/>
                        </a:rPr>
                        <a:t>Palpable — not visible with neck in normal position</a:t>
                      </a:r>
                    </a:p>
                    <a:p>
                      <a:pPr algn="l"/>
                      <a:r>
                        <a:rPr sz="1200" b="1">
                          <a:solidFill>
                            <a:srgbClr val="1F4FA8"/>
                          </a:solidFill>
                          <a:latin typeface="Source Sans 3"/>
                        </a:rPr>
                        <a:t>1a · palpable only</a:t>
                      </a:r>
                      <a:r>
                        <a:rPr sz="1200" b="1">
                          <a:solidFill>
                            <a:srgbClr val="8A6A24"/>
                          </a:solidFill>
                          <a:latin typeface="Source Sans 3"/>
                        </a:rPr>
                        <a:t>1b · visible with neck extended</a:t>
                      </a:r>
                    </a:p>
                  </a:txBody>
                  <a:tcPr marL="45720" marR="45720" anchor="ctr">
                    <a:solidFill>
                      <a:srgbClr val="F7F9FD"/>
                    </a:solidFill>
                  </a:tcPr>
                </a:tc>
              </a:tr>
              <a:tr h="1142971">
                <a:tc>
                  <a:txBody>
                    <a:bodyPr wrap="square"/>
                    <a:lstStyle/>
                    <a:p>
                      <a:pPr algn="l"/>
                      <a:r>
                        <a:rPr sz="2900" b="1">
                          <a:solidFill>
                            <a:srgbClr val="E7CF96"/>
                          </a:solidFill>
                          <a:latin typeface="Playfair Display"/>
                        </a:rPr>
                        <a:t>2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2500" b="1">
                          <a:solidFill>
                            <a:srgbClr val="0F8B8D"/>
                          </a:solidFill>
                          <a:latin typeface="Source Sans 3"/>
                        </a:rPr>
                        <a:t>✓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2500" b="1">
                          <a:solidFill>
                            <a:srgbClr val="0F8B8D"/>
                          </a:solidFill>
                          <a:latin typeface="Source Sans 3"/>
                        </a:rPr>
                        <a:t>✓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C2A44"/>
                          </a:solidFill>
                          <a:latin typeface="Source Sans 3"/>
                        </a:rPr>
                        <a:t>Clearly visible with neck in normal position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12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3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648008165645961"/>
                                    </p:val>
                                  </p:tav>
                                  <p:tav tm="100000">
                                    <p:val>
                                      <p:fltVal val="0.551837853601633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05  ·  CLASSIFICATION / STAGES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Classification at a Glance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2412939" cy="1371565"/>
          </a:xfrm>
          <a:prstGeom prst="roundRect">
            <a:avLst>
              <a:gd name="adj" fmla="val 10185"/>
            </a:avLst>
          </a:prstGeom>
          <a:solidFill>
            <a:srgbClr val="1325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2476" y="1790655"/>
            <a:ext cx="2095447" cy="11175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00">
                <a:solidFill>
                  <a:srgbClr val="E7CF96"/>
                </a:solidFill>
                <a:latin typeface="Source Sans 3"/>
              </a:rPr>
              <a:t>BY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Playfair Display"/>
              </a:rPr>
              <a:t>Morphology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65415" y="1663658"/>
            <a:ext cx="8064298" cy="1371565"/>
          </a:xfrm>
          <a:prstGeom prst="roundRect">
            <a:avLst>
              <a:gd name="adj" fmla="val 10185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619409" y="1790655"/>
            <a:ext cx="1069821" cy="380990"/>
          </a:xfrm>
          <a:prstGeom prst="roundRect">
            <a:avLst>
              <a:gd name="adj" fmla="val 50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19409" y="1821134"/>
            <a:ext cx="1069821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1F4FA8"/>
                </a:solidFill>
                <a:latin typeface="Source Sans 3"/>
              </a:rPr>
              <a:t>Diffuse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65428" y="1790655"/>
            <a:ext cx="1386805" cy="380990"/>
          </a:xfrm>
          <a:prstGeom prst="roundRect">
            <a:avLst>
              <a:gd name="adj" fmla="val 50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65428" y="1821134"/>
            <a:ext cx="1386805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1F4FA8"/>
                </a:solidFill>
                <a:latin typeface="Source Sans 3"/>
              </a:rPr>
              <a:t>Uninodular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28432" y="1790655"/>
            <a:ext cx="1598128" cy="380990"/>
          </a:xfrm>
          <a:prstGeom prst="roundRect">
            <a:avLst>
              <a:gd name="adj" fmla="val 50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28432" y="1821134"/>
            <a:ext cx="1598128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1F4FA8"/>
                </a:solidFill>
                <a:latin typeface="Source Sans 3"/>
              </a:rPr>
              <a:t>Multinodular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1980" y="3200319"/>
            <a:ext cx="2412939" cy="1371565"/>
          </a:xfrm>
          <a:prstGeom prst="roundRect">
            <a:avLst>
              <a:gd name="adj" fmla="val 10185"/>
            </a:avLst>
          </a:prstGeom>
          <a:solidFill>
            <a:srgbClr val="0B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2476" y="3327316"/>
            <a:ext cx="2095447" cy="11175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00">
                <a:solidFill>
                  <a:srgbClr val="E7CF96"/>
                </a:solidFill>
                <a:latin typeface="Source Sans 3"/>
              </a:rPr>
              <a:t>BY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Playfair Display"/>
              </a:rPr>
              <a:t>Function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65415" y="3200319"/>
            <a:ext cx="8064298" cy="1371565"/>
          </a:xfrm>
          <a:prstGeom prst="roundRect">
            <a:avLst>
              <a:gd name="adj" fmla="val 10185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619409" y="3327316"/>
            <a:ext cx="2549080" cy="380990"/>
          </a:xfrm>
          <a:prstGeom prst="roundRect">
            <a:avLst>
              <a:gd name="adj" fmla="val 50000"/>
            </a:avLst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19409" y="3357796"/>
            <a:ext cx="2549080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0B6E70"/>
                </a:solidFill>
                <a:latin typeface="Source Sans 3"/>
              </a:rPr>
              <a:t>Non-toxic (euthyroid)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44687" y="3327316"/>
            <a:ext cx="2443418" cy="380990"/>
          </a:xfrm>
          <a:prstGeom prst="roundRect">
            <a:avLst>
              <a:gd name="adj" fmla="val 50000"/>
            </a:avLst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44687" y="3357796"/>
            <a:ext cx="2443418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0B6E70"/>
                </a:solidFill>
                <a:latin typeface="Source Sans 3"/>
              </a:rPr>
              <a:t>Toxic (hyperthyroid)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19409" y="3784505"/>
            <a:ext cx="3605693" cy="380990"/>
          </a:xfrm>
          <a:prstGeom prst="roundRect">
            <a:avLst>
              <a:gd name="adj" fmla="val 50000"/>
            </a:avLst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19409" y="3814984"/>
            <a:ext cx="3605693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0B6E70"/>
                </a:solidFill>
                <a:latin typeface="Source Sans 3"/>
              </a:rPr>
              <a:t>Hypothyroid (e.g., Hashimoto’s)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1980" y="4736981"/>
            <a:ext cx="2412939" cy="1371565"/>
          </a:xfrm>
          <a:prstGeom prst="roundRect">
            <a:avLst>
              <a:gd name="adj" fmla="val 10185"/>
            </a:avLst>
          </a:prstGeom>
          <a:solidFill>
            <a:srgbClr val="8A6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2476" y="4863978"/>
            <a:ext cx="2095447" cy="11175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00">
                <a:solidFill>
                  <a:srgbClr val="F7E7C2"/>
                </a:solidFill>
                <a:latin typeface="Source Sans 3"/>
              </a:rPr>
              <a:t>BY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Playfair Display"/>
              </a:rPr>
              <a:t>Epidemiology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365415" y="4736981"/>
            <a:ext cx="8064298" cy="1371565"/>
          </a:xfrm>
          <a:prstGeom prst="roundRect">
            <a:avLst>
              <a:gd name="adj" fmla="val 10185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619409" y="4863978"/>
            <a:ext cx="6035905" cy="380990"/>
          </a:xfrm>
          <a:prstGeom prst="roundRect">
            <a:avLst>
              <a:gd name="adj" fmla="val 50000"/>
            </a:avLst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19409" y="4894457"/>
            <a:ext cx="6035905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8A6A24"/>
                </a:solidFill>
                <a:latin typeface="Source Sans 3"/>
              </a:rPr>
              <a:t>Endemic — &gt; 10% of population (iodine-deficient areas)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619409" y="5321166"/>
            <a:ext cx="3288709" cy="380990"/>
          </a:xfrm>
          <a:prstGeom prst="roundRect">
            <a:avLst>
              <a:gd name="adj" fmla="val 50000"/>
            </a:avLst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19409" y="5351646"/>
            <a:ext cx="3288709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8A6A24"/>
                </a:solidFill>
                <a:latin typeface="Source Sans 3"/>
              </a:rPr>
              <a:t>Sporadic — individual causes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15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9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5554687955672204"/>
                                    </p:val>
                                  </p:tav>
                                  <p:tav tm="100000">
                                    <p:val>
                                      <p:fltVal val="0.342583916593759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555469524642753"/>
                                    </p:val>
                                  </p:tav>
                                  <p:tav tm="100000">
                                    <p:val>
                                      <p:fltVal val="0.3425839895013123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8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5554687955672204"/>
                                    </p:val>
                                  </p:tav>
                                  <p:tav tm="100000">
                                    <p:val>
                                      <p:fltVal val="0.342583916593759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2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018445610965296"/>
                                    </p:val>
                                  </p:tav>
                                  <p:tav tm="100000">
                                    <p:val>
                                      <p:fltVal val="0.288881598133566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5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6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0184448818897636"/>
                                    </p:val>
                                  </p:tav>
                                  <p:tav tm="100000">
                                    <p:val>
                                      <p:fltVal val="0.288881525226013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0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018445610965296"/>
                                    </p:val>
                                  </p:tav>
                                  <p:tav tm="100000">
                                    <p:val>
                                      <p:fltVal val="0.288881598133566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3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4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0184448818897636"/>
                                    </p:val>
                                  </p:tav>
                                  <p:tav tm="100000">
                                    <p:val>
                                      <p:fltVal val="0.288881525226013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7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8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018445610965296"/>
                                    </p:val>
                                  </p:tav>
                                  <p:tav tm="100000">
                                    <p:val>
                                      <p:fltVal val="0.288881598133566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2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0184448818897636"/>
                                    </p:val>
                                  </p:tav>
                                  <p:tav tm="100000">
                                    <p:val>
                                      <p:fltVal val="0.288881525226013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5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6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96152668416448"/>
                                    </p:val>
                                  </p:tav>
                                  <p:tav tm="100000">
                                    <p:val>
                                      <p:fltVal val="0.566652303878681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9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0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9615339749198"/>
                                    </p:val>
                                  </p:tav>
                                  <p:tav tm="100000">
                                    <p:val>
                                      <p:fltVal val="0.56665237678623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3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4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96152668416448"/>
                                    </p:val>
                                  </p:tav>
                                  <p:tav tm="100000">
                                    <p:val>
                                      <p:fltVal val="0.566652303878681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7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8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259129483814523"/>
                                    </p:val>
                                  </p:tav>
                                  <p:tav tm="100000">
                                    <p:val>
                                      <p:fltVal val="0.51294998541848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9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2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259130212890055"/>
                                    </p:val>
                                  </p:tav>
                                  <p:tav tm="100000">
                                    <p:val>
                                      <p:fltVal val="0.512950058326042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5" dur="90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6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259129483814523"/>
                                    </p:val>
                                  </p:tav>
                                  <p:tav tm="100000">
                                    <p:val>
                                      <p:fltVal val="0.51294998541848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9" dur="90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0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259130212890055"/>
                                    </p:val>
                                  </p:tav>
                                  <p:tav tm="100000">
                                    <p:val>
                                      <p:fltVal val="0.512950058326042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1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8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3" dur="900" fill="hold"/>
                                  <p:tgtEl>
                                    <p:spTgt spid="2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4" dur="900" fill="hold"/>
                                  <p:tgtEl>
                                    <p:spTgt spid="2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925780110819481"/>
                                    </p:val>
                                  </p:tav>
                                  <p:tav tm="100000">
                                    <p:val>
                                      <p:fltVal val="0.579615048118985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8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7" dur="900" fill="hold"/>
                                  <p:tgtEl>
                                    <p:spTgt spid="2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8" dur="900" fill="hold"/>
                                  <p:tgtEl>
                                    <p:spTgt spid="2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925779381743949"/>
                                    </p:val>
                                  </p:tav>
                                  <p:tav tm="100000">
                                    <p:val>
                                      <p:fltVal val="0.579614975211431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9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9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900" fill="hold"/>
                                  <p:tgtEl>
                                    <p:spTgt spid="2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2" dur="900" fill="hold"/>
                                  <p:tgtEl>
                                    <p:spTgt spid="2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036837999416739"/>
                                    </p:val>
                                  </p:tav>
                                  <p:tav tm="100000">
                                    <p:val>
                                      <p:fltVal val="0.79072083697871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3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9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5" dur="900" fill="hold"/>
                                  <p:tgtEl>
                                    <p:spTgt spid="2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6" dur="900" fill="hold"/>
                                  <p:tgtEl>
                                    <p:spTgt spid="2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036838728492272"/>
                                    </p:val>
                                  </p:tav>
                                  <p:tav tm="100000">
                                    <p:val>
                                      <p:fltVal val="0.790720909886264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7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9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9" dur="900" fill="hold"/>
                                  <p:tgtEl>
                                    <p:spTgt spid="2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00" dur="900" fill="hold"/>
                                  <p:tgtEl>
                                    <p:spTgt spid="2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036837999416739"/>
                                    </p:val>
                                  </p:tav>
                                  <p:tav tm="100000">
                                    <p:val>
                                      <p:fltVal val="0.79072083697871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1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10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3" dur="900" fill="hold"/>
                                  <p:tgtEl>
                                    <p:spTgt spid="2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04" dur="900" fill="hold"/>
                                  <p:tgtEl>
                                    <p:spTgt spid="2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99814814814815"/>
                                    </p:val>
                                  </p:tav>
                                  <p:tav tm="100000">
                                    <p:val>
                                      <p:fltVal val="0.737018518518518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5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10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7" dur="900" fill="hold"/>
                                  <p:tgtEl>
                                    <p:spTgt spid="2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08" dur="900" fill="hold"/>
                                  <p:tgtEl>
                                    <p:spTgt spid="2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99814085739283"/>
                                    </p:val>
                                  </p:tav>
                                  <p:tav tm="100000">
                                    <p:val>
                                      <p:fltVal val="0.737018445610965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9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1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900" fill="hold"/>
                                  <p:tgtEl>
                                    <p:spTgt spid="2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12" dur="900" fill="hold"/>
                                  <p:tgtEl>
                                    <p:spTgt spid="2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166463983668708"/>
                                    </p:val>
                                  </p:tav>
                                  <p:tav tm="100000">
                                    <p:val>
                                      <p:fltVal val="0.803683435403907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13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1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5" dur="900" fill="hold"/>
                                  <p:tgtEl>
                                    <p:spTgt spid="3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16" dur="900" fill="hold"/>
                                  <p:tgtEl>
                                    <p:spTgt spid="3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16646471274424"/>
                                    </p:val>
                                  </p:tav>
                                  <p:tav tm="100000">
                                    <p:val>
                                      <p:fltVal val="0.803683508311461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06  ·  SIGNS &amp; SYMPTOMS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Local (Mass) Effects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3936901" cy="4444888"/>
          </a:xfrm>
          <a:prstGeom prst="roundRect">
            <a:avLst>
              <a:gd name="adj" fmla="val 4516"/>
            </a:avLst>
          </a:prstGeom>
          <a:solidFill>
            <a:srgbClr val="F5F8FD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neck-goi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476" y="1854153"/>
            <a:ext cx="3555911" cy="361940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88977" y="5549761"/>
            <a:ext cx="3682907" cy="257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4FA8"/>
                </a:solidFill>
                <a:latin typeface="Source Sans 3"/>
              </a:rPr>
              <a:t>Anterior neck swelling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16374" y="1663658"/>
            <a:ext cx="6413339" cy="1587460"/>
          </a:xfrm>
          <a:prstGeom prst="roundRect">
            <a:avLst>
              <a:gd name="adj" fmla="val 9600"/>
            </a:avLst>
          </a:prstGeom>
          <a:solidFill>
            <a:srgbClr val="1325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70368" y="1841453"/>
            <a:ext cx="5905352" cy="9585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E7CF96"/>
                </a:solidFill>
                <a:latin typeface="Source Sans 3"/>
              </a:rPr>
              <a:t>LOCAL (MASS) EFFECT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FFFFFF"/>
                </a:solidFill>
                <a:latin typeface="Playfair Display"/>
              </a:rPr>
              <a:t>Visible or palpable anterior neck swelling</a:t>
            </a:r>
          </a:p>
          <a:p>
            <a:pPr algn="l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0" i="0">
                <a:solidFill>
                  <a:srgbClr val="E7CF96"/>
                </a:solidFill>
                <a:latin typeface="Source Sans 3"/>
              </a:rPr>
              <a:t>Symmetrical or nodular · </a:t>
            </a:r>
            <a:r>
              <a:rPr sz="1500" b="0" i="0">
                <a:solidFill>
                  <a:srgbClr val="E7CF96"/>
                </a:solidFill>
                <a:latin typeface="Source Sans 3"/>
              </a:rPr>
              <a:t>moves upward on swallowing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16374" y="3441613"/>
            <a:ext cx="6413339" cy="12572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219569" y="3765455"/>
            <a:ext cx="609584" cy="609584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6726" y="3902612"/>
            <a:ext cx="335271" cy="33527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006949" y="3530511"/>
            <a:ext cx="5232269" cy="107947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3254D"/>
                </a:solidFill>
                <a:latin typeface="Source Sans 3"/>
              </a:rPr>
              <a:t>Dysphagia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1F4FA8"/>
                </a:solidFill>
                <a:latin typeface="Source Sans 3"/>
              </a:rPr>
              <a:t>Esophageal compression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16374" y="4851278"/>
            <a:ext cx="6413339" cy="12572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219569" y="5175120"/>
            <a:ext cx="609584" cy="609584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2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56726" y="5312277"/>
            <a:ext cx="335271" cy="33527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06949" y="4940176"/>
            <a:ext cx="5232269" cy="107947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3254D"/>
                </a:solidFill>
                <a:latin typeface="Source Sans 3"/>
              </a:rPr>
              <a:t>Dyspnea / stridor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B23A48"/>
                </a:solidFill>
                <a:latin typeface="Source Sans 3"/>
              </a:rPr>
              <a:t>Tracheal compression or deviation — worse when lying flat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16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12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" dur="12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6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409514435695538"/>
                                    </p:val>
                                  </p:tav>
                                  <p:tav tm="100000">
                                    <p:val>
                                      <p:fltVal val="0.827988480606590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0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712872557596967"/>
                                    </p:val>
                                  </p:tav>
                                  <p:tav tm="100000">
                                    <p:val>
                                      <p:fltVal val="0.35832429279673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3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4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5136176727909013"/>
                                    </p:val>
                                  </p:tav>
                                  <p:tav tm="100000">
                                    <p:val>
                                      <p:fltVal val="0.338398804316127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7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8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064664625255176"/>
                                    </p:val>
                                  </p:tav>
                                  <p:tav tm="100000">
                                    <p:val>
                                      <p:fltVal val="0.593503499562554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9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2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064664625255176"/>
                                    </p:val>
                                  </p:tav>
                                  <p:tav tm="100000">
                                    <p:val>
                                      <p:fltVal val="0.593503499562554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5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6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064665354330708"/>
                                    </p:val>
                                  </p:tav>
                                  <p:tav tm="100000">
                                    <p:val>
                                      <p:fltVal val="0.593503572470107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9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0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064665354330708"/>
                                    </p:val>
                                  </p:tav>
                                  <p:tav tm="100000">
                                    <p:val>
                                      <p:fltVal val="0.593503572470107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3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4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120169145523476"/>
                                    </p:val>
                                  </p:tav>
                                  <p:tav tm="100000">
                                    <p:val>
                                      <p:fltVal val="0.799053951589384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5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7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8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120169145523476"/>
                                    </p:val>
                                  </p:tav>
                                  <p:tav tm="100000">
                                    <p:val>
                                      <p:fltVal val="0.799053951589384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2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120169874599008"/>
                                    </p:val>
                                  </p:tav>
                                  <p:tav tm="100000">
                                    <p:val>
                                      <p:fltVal val="0.799054024496937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5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6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120169874599008"/>
                                    </p:val>
                                  </p:tav>
                                  <p:tav tm="100000">
                                    <p:val>
                                      <p:fltVal val="0.799054024496937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06  ·  SIGNS &amp; SYMPTOMS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Local Effects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5238619" cy="1777955"/>
          </a:xfrm>
          <a:prstGeom prst="roundRect">
            <a:avLst>
              <a:gd name="adj" fmla="val 7857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5175" y="2247843"/>
            <a:ext cx="609584" cy="609584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2332" y="2385000"/>
            <a:ext cx="335271" cy="33527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752556" y="1752556"/>
            <a:ext cx="4057548" cy="16001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3254D"/>
                </a:solidFill>
                <a:latin typeface="Source Sans 3"/>
              </a:rPr>
              <a:t>Hoarseness of voice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8A6A24"/>
                </a:solidFill>
                <a:latin typeface="Source Sans 3"/>
              </a:rPr>
              <a:t>Recurrent laryngeal nerve compression — a red flag for malignancy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1095" y="1663658"/>
            <a:ext cx="5238619" cy="1777955"/>
          </a:xfrm>
          <a:prstGeom prst="roundRect">
            <a:avLst>
              <a:gd name="adj" fmla="val 7857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394290" y="2247843"/>
            <a:ext cx="609584" cy="609584"/>
          </a:xfrm>
          <a:prstGeom prst="ellipse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1446" y="2385000"/>
            <a:ext cx="335271" cy="33527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181670" y="1752556"/>
            <a:ext cx="4057548" cy="16001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3254D"/>
                </a:solidFill>
                <a:latin typeface="Source Sans 3"/>
              </a:rPr>
              <a:t>Persistent cough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0B6E70"/>
                </a:solidFill>
                <a:latin typeface="Source Sans 3"/>
              </a:rPr>
              <a:t>With a sensation of throat tightness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1980" y="3632109"/>
            <a:ext cx="10667733" cy="2476438"/>
          </a:xfrm>
          <a:prstGeom prst="roundRect">
            <a:avLst>
              <a:gd name="adj" fmla="val 6153"/>
            </a:avLst>
          </a:prstGeom>
          <a:solidFill>
            <a:srgbClr val="F5F8FD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79473" y="4063898"/>
            <a:ext cx="825479" cy="825479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2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5205" y="4249631"/>
            <a:ext cx="454013" cy="454013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158946" y="3809904"/>
            <a:ext cx="9016774" cy="20954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1F4FA8"/>
                </a:solidFill>
                <a:latin typeface="Source Sans 3"/>
              </a:rPr>
              <a:t>PEMBERTON'S SIGN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3254D"/>
                </a:solidFill>
                <a:latin typeface="Playfair Display"/>
              </a:rPr>
              <a:t>Arms raised overhead → facial flushing, congestion &amp; venous engorgement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1" i="0">
                <a:solidFill>
                  <a:srgbClr val="B23A48"/>
                </a:solidFill>
                <a:latin typeface="Source Sans 3"/>
              </a:rPr>
              <a:t>Thoracic inlet obstruction by a retrosternal goiter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17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9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851757801108195"/>
                                    </p:val>
                                  </p:tav>
                                  <p:tav tm="100000">
                                    <p:val>
                                      <p:fltVal val="0.3722128171478565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8517570720326627"/>
                                    </p:val>
                                  </p:tav>
                                  <p:tav tm="100000">
                                    <p:val>
                                      <p:fltVal val="0.372212744240303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8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851757801108195"/>
                                    </p:val>
                                  </p:tav>
                                  <p:tav tm="100000">
                                    <p:val>
                                      <p:fltVal val="0.3722128171478565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2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851757801108195"/>
                                    </p:val>
                                  </p:tav>
                                  <p:tav tm="100000">
                                    <p:val>
                                      <p:fltVal val="0.3722128171478565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5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6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851757801108195"/>
                                    </p:val>
                                  </p:tav>
                                  <p:tav tm="100000">
                                    <p:val>
                                      <p:fltVal val="0.3722128171478565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0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8517570720326627"/>
                                    </p:val>
                                  </p:tav>
                                  <p:tav tm="100000">
                                    <p:val>
                                      <p:fltVal val="0.372212744240303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3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4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851757801108195"/>
                                    </p:val>
                                  </p:tav>
                                  <p:tav tm="100000">
                                    <p:val>
                                      <p:fltVal val="0.3722128171478565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7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8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851757801108195"/>
                                    </p:val>
                                  </p:tav>
                                  <p:tav tm="100000">
                                    <p:val>
                                      <p:fltVal val="0.3722128171478565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2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231303587051618"/>
                                    </p:val>
                                  </p:tav>
                                  <p:tav tm="100000">
                                    <p:val>
                                      <p:fltVal val="0.71016739574219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5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6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657243365412656"/>
                                    </p:val>
                                  </p:tav>
                                  <p:tav tm="100000">
                                    <p:val>
                                      <p:fltVal val="0.652761373578302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9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0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657243365412656"/>
                                    </p:val>
                                  </p:tav>
                                  <p:tav tm="100000">
                                    <p:val>
                                      <p:fltVal val="0.652761373578302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3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4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212784339457567"/>
                                    </p:val>
                                  </p:tav>
                                  <p:tav tm="100000">
                                    <p:val>
                                      <p:fltVal val="0.708315470982793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06  ·  SIGNS &amp; SYMPTOMS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If Thyroid Dysfunction Coexists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5238619" cy="1142971"/>
          </a:xfrm>
          <a:prstGeom prst="roundRect">
            <a:avLst>
              <a:gd name="adj" fmla="val 13333"/>
            </a:avLst>
          </a:prstGeom>
          <a:solidFill>
            <a:srgbClr val="0B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90575" y="1885902"/>
            <a:ext cx="698482" cy="69848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733" y="2043061"/>
            <a:ext cx="384165" cy="38416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879553" y="1790655"/>
            <a:ext cx="3936901" cy="8889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Playfair Display"/>
              </a:rPr>
              <a:t>Hypothyroidism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400" b="0" i="0">
                <a:solidFill>
                  <a:srgbClr val="F7E7C2"/>
                </a:solidFill>
                <a:latin typeface="Source Sans 3"/>
              </a:rPr>
              <a:t>e.g., Hashimoto’s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1980" y="2933626"/>
            <a:ext cx="5238619" cy="3174920"/>
          </a:xfrm>
          <a:prstGeom prst="roundRect">
            <a:avLst>
              <a:gd name="adj" fmla="val 4800"/>
            </a:avLst>
          </a:prstGeom>
          <a:solidFill>
            <a:srgbClr val="F4FAFA"/>
          </a:solidFill>
          <a:ln w="6350">
            <a:solidFill>
              <a:srgbClr val="D4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90575" y="3174920"/>
            <a:ext cx="1069821" cy="3809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0575" y="3205399"/>
            <a:ext cx="1069821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0B6E70"/>
                </a:solidFill>
                <a:latin typeface="Source Sans 3"/>
              </a:rPr>
              <a:t>Fatigue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36594" y="3174920"/>
            <a:ext cx="1492466" cy="3809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36594" y="3205399"/>
            <a:ext cx="1492466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0B6E70"/>
                </a:solidFill>
                <a:latin typeface="Source Sans 3"/>
              </a:rPr>
              <a:t>Weight gain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05259" y="3174920"/>
            <a:ext cx="2020773" cy="3809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05259" y="3205399"/>
            <a:ext cx="2020773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0B6E70"/>
                </a:solidFill>
                <a:latin typeface="Source Sans 3"/>
              </a:rPr>
              <a:t>Cold intolerance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90575" y="3632109"/>
            <a:ext cx="1598128" cy="3809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0575" y="3662588"/>
            <a:ext cx="1598128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0B6E70"/>
                </a:solidFill>
                <a:latin typeface="Source Sans 3"/>
              </a:rPr>
              <a:t>Constipation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64901" y="3632109"/>
            <a:ext cx="1492466" cy="3809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664901" y="3662588"/>
            <a:ext cx="1492466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0B6E70"/>
                </a:solidFill>
                <a:latin typeface="Source Sans 3"/>
              </a:rPr>
              <a:t>Bradycardia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33566" y="3632109"/>
            <a:ext cx="1175482" cy="3809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33566" y="3662588"/>
            <a:ext cx="1175482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0B6E70"/>
                </a:solidFill>
                <a:latin typeface="Source Sans 3"/>
              </a:rPr>
              <a:t>Dry skin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90575" y="4089297"/>
            <a:ext cx="1386805" cy="3809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0575" y="4119777"/>
            <a:ext cx="1386805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0B6E70"/>
                </a:solidFill>
                <a:latin typeface="Source Sans 3"/>
              </a:rPr>
              <a:t>Depression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453578" y="4089297"/>
            <a:ext cx="2866064" cy="3809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453578" y="4119777"/>
            <a:ext cx="2866064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0B6E70"/>
                </a:solidFill>
                <a:latin typeface="Source Sans 3"/>
              </a:rPr>
              <a:t>Menstrual irregularities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91095" y="1663658"/>
            <a:ext cx="5238619" cy="1142971"/>
          </a:xfrm>
          <a:prstGeom prst="roundRect">
            <a:avLst>
              <a:gd name="adj" fmla="val 13333"/>
            </a:avLst>
          </a:prstGeom>
          <a:solidFill>
            <a:srgbClr val="8A6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19689" y="1885902"/>
            <a:ext cx="698482" cy="69848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2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6848" y="2043061"/>
            <a:ext cx="384165" cy="384165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7308667" y="1790655"/>
            <a:ext cx="3936901" cy="8889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Playfair Display"/>
              </a:rPr>
              <a:t>Hyperthyroidism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400" b="0" i="0">
                <a:solidFill>
                  <a:srgbClr val="F7E7C2"/>
                </a:solidFill>
                <a:latin typeface="Source Sans 3"/>
              </a:rPr>
              <a:t>e.g., Graves’, toxic MNG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91095" y="2933626"/>
            <a:ext cx="5238619" cy="3174920"/>
          </a:xfrm>
          <a:prstGeom prst="roundRect">
            <a:avLst>
              <a:gd name="adj" fmla="val 4800"/>
            </a:avLst>
          </a:prstGeom>
          <a:solidFill>
            <a:srgbClr val="FCF9F2"/>
          </a:solidFill>
          <a:ln w="6350">
            <a:solidFill>
              <a:srgbClr val="E9D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419689" y="3174920"/>
            <a:ext cx="1492466" cy="3809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689" y="3205399"/>
            <a:ext cx="1492466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8A6A24"/>
                </a:solidFill>
                <a:latin typeface="Source Sans 3"/>
              </a:rPr>
              <a:t>Weight loss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88354" y="3174920"/>
            <a:ext cx="2020773" cy="3809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988354" y="3205399"/>
            <a:ext cx="2020773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8A6A24"/>
                </a:solidFill>
                <a:latin typeface="Source Sans 3"/>
              </a:rPr>
              <a:t>Heat intolerance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19689" y="3632109"/>
            <a:ext cx="1598128" cy="3809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19689" y="3662588"/>
            <a:ext cx="1598128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8A6A24"/>
                </a:solidFill>
                <a:latin typeface="Source Sans 3"/>
              </a:rPr>
              <a:t>Palpitations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94015" y="3632109"/>
            <a:ext cx="964159" cy="3809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094015" y="3662588"/>
            <a:ext cx="964159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8A6A24"/>
                </a:solidFill>
                <a:latin typeface="Source Sans 3"/>
              </a:rPr>
              <a:t>Tremor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34373" y="3632109"/>
            <a:ext cx="1175482" cy="3809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34373" y="3662588"/>
            <a:ext cx="1175482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8A6A24"/>
                </a:solidFill>
                <a:latin typeface="Source Sans 3"/>
              </a:rPr>
              <a:t>Sweating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419689" y="4089297"/>
            <a:ext cx="1069821" cy="3809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19689" y="4119777"/>
            <a:ext cx="1069821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8A6A24"/>
                </a:solidFill>
                <a:latin typeface="Source Sans 3"/>
              </a:rPr>
              <a:t>Anxiety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565708" y="4089297"/>
            <a:ext cx="1175482" cy="3809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565708" y="4119777"/>
            <a:ext cx="1175482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8A6A24"/>
                </a:solidFill>
                <a:latin typeface="Source Sans 3"/>
              </a:rPr>
              <a:t>Insomnia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817389" y="4089297"/>
            <a:ext cx="1175482" cy="3809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817389" y="4119777"/>
            <a:ext cx="1175482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8A6A24"/>
                </a:solidFill>
                <a:latin typeface="Source Sans 3"/>
              </a:rPr>
              <a:t>Diarrhea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419689" y="4546486"/>
            <a:ext cx="2654741" cy="3809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19689" y="4576965"/>
            <a:ext cx="2654741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8A6A24"/>
                </a:solidFill>
                <a:latin typeface="Source Sans 3"/>
              </a:rPr>
              <a:t>Exophthalmos (Graves’)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18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9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3888065033537473"/>
                                    </p:val>
                                  </p:tav>
                                  <p:tav tm="100000">
                                    <p:val>
                                      <p:fltVal val="0.325917687372411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388805774278215"/>
                                    </p:val>
                                  </p:tav>
                                  <p:tav tm="100000">
                                    <p:val>
                                      <p:fltVal val="0.3259176144648585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8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3888065033537473"/>
                                    </p:val>
                                  </p:tav>
                                  <p:tav tm="100000">
                                    <p:val>
                                      <p:fltVal val="0.325917687372411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2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3888065033537473"/>
                                    </p:val>
                                  </p:tav>
                                  <p:tav tm="100000">
                                    <p:val>
                                      <p:fltVal val="0.325917687372411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5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6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722055993000875"/>
                                    </p:val>
                                  </p:tav>
                                  <p:tav tm="100000">
                                    <p:val>
                                      <p:fltVal val="0.659242636337124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0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036913094196559"/>
                                    </p:val>
                                  </p:tav>
                                  <p:tav tm="100000">
                                    <p:val>
                                      <p:fltVal val="0.490728346456692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3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4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036912365121027"/>
                                    </p:val>
                                  </p:tav>
                                  <p:tav tm="100000">
                                    <p:val>
                                      <p:fltVal val="0.4907282735491396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7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8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036913094196559"/>
                                    </p:val>
                                  </p:tav>
                                  <p:tav tm="100000">
                                    <p:val>
                                      <p:fltVal val="0.490728346456692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2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036912365121027"/>
                                    </p:val>
                                  </p:tav>
                                  <p:tav tm="100000">
                                    <p:val>
                                      <p:fltVal val="0.4907282735491396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5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6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036913094196559"/>
                                    </p:val>
                                  </p:tav>
                                  <p:tav tm="100000">
                                    <p:val>
                                      <p:fltVal val="0.490728346456692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9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0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036912365121027"/>
                                    </p:val>
                                  </p:tav>
                                  <p:tav tm="100000">
                                    <p:val>
                                      <p:fltVal val="0.4907282735491396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3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4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03563721201517"/>
                                    </p:val>
                                  </p:tav>
                                  <p:tav tm="100000">
                                    <p:val>
                                      <p:fltVal val="0.557393409157188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7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8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03562992125984"/>
                                    </p:val>
                                  </p:tav>
                                  <p:tav tm="100000">
                                    <p:val>
                                      <p:fltVal val="0.557393336249635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9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7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9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2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03563721201517"/>
                                    </p:val>
                                  </p:tav>
                                  <p:tav tm="100000">
                                    <p:val>
                                      <p:fltVal val="0.557393409157188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5" dur="90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6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03562992125984"/>
                                    </p:val>
                                  </p:tav>
                                  <p:tav tm="100000">
                                    <p:val>
                                      <p:fltVal val="0.557393336249635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7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9" dur="90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0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03563721201517"/>
                                    </p:val>
                                  </p:tav>
                                  <p:tav tm="100000">
                                    <p:val>
                                      <p:fltVal val="0.557393409157188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8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3" dur="900" fill="hold"/>
                                  <p:tgtEl>
                                    <p:spTgt spid="2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4" dur="900" fill="hold"/>
                                  <p:tgtEl>
                                    <p:spTgt spid="2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03562992125984"/>
                                    </p:val>
                                  </p:tav>
                                  <p:tav tm="100000">
                                    <p:val>
                                      <p:fltVal val="0.557393336249635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8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7" dur="900" fill="hold"/>
                                  <p:tgtEl>
                                    <p:spTgt spid="2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8" dur="900" fill="hold"/>
                                  <p:tgtEl>
                                    <p:spTgt spid="2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37021289005541"/>
                                    </p:val>
                                  </p:tav>
                                  <p:tav tm="100000">
                                    <p:val>
                                      <p:fltVal val="0.62405832604257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9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9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900" fill="hold"/>
                                  <p:tgtEl>
                                    <p:spTgt spid="2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2" dur="900" fill="hold"/>
                                  <p:tgtEl>
                                    <p:spTgt spid="2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370213619130942"/>
                                    </p:val>
                                  </p:tav>
                                  <p:tav tm="100000">
                                    <p:val>
                                      <p:fltVal val="0.624058398950131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9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5" dur="900" fill="hold"/>
                                  <p:tgtEl>
                                    <p:spTgt spid="2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6" dur="900" fill="hold"/>
                                  <p:tgtEl>
                                    <p:spTgt spid="2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37021289005541"/>
                                    </p:val>
                                  </p:tav>
                                  <p:tav tm="100000">
                                    <p:val>
                                      <p:fltVal val="0.62405832604257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9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9" dur="900" fill="hold"/>
                                  <p:tgtEl>
                                    <p:spTgt spid="2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00" dur="900" fill="hold"/>
                                  <p:tgtEl>
                                    <p:spTgt spid="2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370213619130942"/>
                                    </p:val>
                                  </p:tav>
                                  <p:tav tm="100000">
                                    <p:val>
                                      <p:fltVal val="0.624058398950131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10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3" dur="900" fill="hold"/>
                                  <p:tgtEl>
                                    <p:spTgt spid="2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04" dur="900" fill="hold"/>
                                  <p:tgtEl>
                                    <p:spTgt spid="2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3888065033537473"/>
                                    </p:val>
                                  </p:tav>
                                  <p:tav tm="100000">
                                    <p:val>
                                      <p:fltVal val="0.325917687372411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5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10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7" dur="900" fill="hold"/>
                                  <p:tgtEl>
                                    <p:spTgt spid="2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08" dur="900" fill="hold"/>
                                  <p:tgtEl>
                                    <p:spTgt spid="2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388805774278215"/>
                                    </p:val>
                                  </p:tav>
                                  <p:tav tm="100000">
                                    <p:val>
                                      <p:fltVal val="0.3259176144648585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1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900" fill="hold"/>
                                  <p:tgtEl>
                                    <p:spTgt spid="2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12" dur="900" fill="hold"/>
                                  <p:tgtEl>
                                    <p:spTgt spid="2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3888065033537473"/>
                                    </p:val>
                                  </p:tav>
                                  <p:tav tm="100000">
                                    <p:val>
                                      <p:fltVal val="0.325917687372411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1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1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5" dur="900" fill="hold"/>
                                  <p:tgtEl>
                                    <p:spTgt spid="3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16" dur="900" fill="hold"/>
                                  <p:tgtEl>
                                    <p:spTgt spid="3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3888065033537473"/>
                                    </p:val>
                                  </p:tav>
                                  <p:tav tm="100000">
                                    <p:val>
                                      <p:fltVal val="0.325917687372411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1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9" dur="900" fill="hold"/>
                                  <p:tgtEl>
                                    <p:spTgt spid="3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0" dur="900" fill="hold"/>
                                  <p:tgtEl>
                                    <p:spTgt spid="3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722055993000875"/>
                                    </p:val>
                                  </p:tav>
                                  <p:tav tm="100000">
                                    <p:val>
                                      <p:fltVal val="0.659242636337124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21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3" dur="900" fill="hold"/>
                                  <p:tgtEl>
                                    <p:spTgt spid="3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4" dur="900" fill="hold"/>
                                  <p:tgtEl>
                                    <p:spTgt spid="3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036913094196559"/>
                                    </p:val>
                                  </p:tav>
                                  <p:tav tm="100000">
                                    <p:val>
                                      <p:fltVal val="0.490728346456692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2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7" dur="900" fill="hold"/>
                                  <p:tgtEl>
                                    <p:spTgt spid="3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8" dur="900" fill="hold"/>
                                  <p:tgtEl>
                                    <p:spTgt spid="3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036912365121027"/>
                                    </p:val>
                                  </p:tav>
                                  <p:tav tm="100000">
                                    <p:val>
                                      <p:fltVal val="0.4907282735491396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2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900" fill="hold"/>
                                  <p:tgtEl>
                                    <p:spTgt spid="3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32" dur="900" fill="hold"/>
                                  <p:tgtEl>
                                    <p:spTgt spid="3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036913094196559"/>
                                    </p:val>
                                  </p:tav>
                                  <p:tav tm="100000">
                                    <p:val>
                                      <p:fltVal val="0.490728346456692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5" dur="900" fill="hold"/>
                                  <p:tgtEl>
                                    <p:spTgt spid="3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36" dur="900" fill="hold"/>
                                  <p:tgtEl>
                                    <p:spTgt spid="3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036912365121027"/>
                                    </p:val>
                                  </p:tav>
                                  <p:tav tm="100000">
                                    <p:val>
                                      <p:fltVal val="0.4907282735491396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9" dur="900" fill="hold"/>
                                  <p:tgtEl>
                                    <p:spTgt spid="3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40" dur="900" fill="hold"/>
                                  <p:tgtEl>
                                    <p:spTgt spid="3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03563721201517"/>
                                    </p:val>
                                  </p:tav>
                                  <p:tav tm="100000">
                                    <p:val>
                                      <p:fltVal val="0.557393409157188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41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3" dur="900" fill="hold"/>
                                  <p:tgtEl>
                                    <p:spTgt spid="3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44" dur="900" fill="hold"/>
                                  <p:tgtEl>
                                    <p:spTgt spid="3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03562992125984"/>
                                    </p:val>
                                  </p:tav>
                                  <p:tav tm="100000">
                                    <p:val>
                                      <p:fltVal val="0.557393336249635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4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7" dur="900" fill="hold"/>
                                  <p:tgtEl>
                                    <p:spTgt spid="3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48" dur="900" fill="hold"/>
                                  <p:tgtEl>
                                    <p:spTgt spid="3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03563721201517"/>
                                    </p:val>
                                  </p:tav>
                                  <p:tav tm="100000">
                                    <p:val>
                                      <p:fltVal val="0.557393409157188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4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900" fill="hold"/>
                                  <p:tgtEl>
                                    <p:spTgt spid="3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52" dur="900" fill="hold"/>
                                  <p:tgtEl>
                                    <p:spTgt spid="3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03562992125984"/>
                                    </p:val>
                                  </p:tav>
                                  <p:tav tm="100000">
                                    <p:val>
                                      <p:fltVal val="0.557393336249635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5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5" dur="900" fill="hold"/>
                                  <p:tgtEl>
                                    <p:spTgt spid="4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56" dur="900" fill="hold"/>
                                  <p:tgtEl>
                                    <p:spTgt spid="4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03563721201517"/>
                                    </p:val>
                                  </p:tav>
                                  <p:tav tm="100000">
                                    <p:val>
                                      <p:fltVal val="0.557393409157188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5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9" dur="900" fill="hold"/>
                                  <p:tgtEl>
                                    <p:spTgt spid="4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0" dur="900" fill="hold"/>
                                  <p:tgtEl>
                                    <p:spTgt spid="4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03562992125984"/>
                                    </p:val>
                                  </p:tav>
                                  <p:tav tm="100000">
                                    <p:val>
                                      <p:fltVal val="0.557393336249635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61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3" dur="900" fill="hold"/>
                                  <p:tgtEl>
                                    <p:spTgt spid="4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4" dur="900" fill="hold"/>
                                  <p:tgtEl>
                                    <p:spTgt spid="4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37021289005541"/>
                                    </p:val>
                                  </p:tav>
                                  <p:tav tm="100000">
                                    <p:val>
                                      <p:fltVal val="0.62405832604257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6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7" dur="900" fill="hold"/>
                                  <p:tgtEl>
                                    <p:spTgt spid="4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8" dur="900" fill="hold"/>
                                  <p:tgtEl>
                                    <p:spTgt spid="4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370213619130942"/>
                                    </p:val>
                                  </p:tav>
                                  <p:tav tm="100000">
                                    <p:val>
                                      <p:fltVal val="0.624058398950131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6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7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900" fill="hold"/>
                                  <p:tgtEl>
                                    <p:spTgt spid="4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72" dur="900" fill="hold"/>
                                  <p:tgtEl>
                                    <p:spTgt spid="4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37021289005541"/>
                                    </p:val>
                                  </p:tav>
                                  <p:tav tm="100000">
                                    <p:val>
                                      <p:fltVal val="0.62405832604257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5" dur="900" fill="hold"/>
                                  <p:tgtEl>
                                    <p:spTgt spid="4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76" dur="900" fill="hold"/>
                                  <p:tgtEl>
                                    <p:spTgt spid="4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370213619130942"/>
                                    </p:val>
                                  </p:tav>
                                  <p:tav tm="100000">
                                    <p:val>
                                      <p:fltVal val="0.624058398950131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7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9" dur="900" fill="hold"/>
                                  <p:tgtEl>
                                    <p:spTgt spid="4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80" dur="900" fill="hold"/>
                                  <p:tgtEl>
                                    <p:spTgt spid="4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37021289005541"/>
                                    </p:val>
                                  </p:tav>
                                  <p:tav tm="100000">
                                    <p:val>
                                      <p:fltVal val="0.62405832604257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81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8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3" dur="900" fill="hold"/>
                                  <p:tgtEl>
                                    <p:spTgt spid="4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84" dur="900" fill="hold"/>
                                  <p:tgtEl>
                                    <p:spTgt spid="4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370213619130942"/>
                                    </p:val>
                                  </p:tav>
                                  <p:tav tm="100000">
                                    <p:val>
                                      <p:fltVal val="0.624058398950131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8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8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7" dur="900" fill="hold"/>
                                  <p:tgtEl>
                                    <p:spTgt spid="4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88" dur="900" fill="hold"/>
                                  <p:tgtEl>
                                    <p:spTgt spid="4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036863517060368"/>
                                    </p:val>
                                  </p:tav>
                                  <p:tav tm="100000">
                                    <p:val>
                                      <p:fltVal val="0.690723388743073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8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9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900" fill="hold"/>
                                  <p:tgtEl>
                                    <p:spTgt spid="4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92" dur="900" fill="hold"/>
                                  <p:tgtEl>
                                    <p:spTgt spid="4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036862787984836"/>
                                    </p:val>
                                  </p:tav>
                                  <p:tav tm="100000">
                                    <p:val>
                                      <p:fltVal val="0.690723315835520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06  ·  SIGNS &amp; SYMPTOMS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⚠ Red Flags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3428914" cy="1301717"/>
          </a:xfrm>
          <a:prstGeom prst="roundRect">
            <a:avLst>
              <a:gd name="adj" fmla="val 1073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5175" y="2006549"/>
            <a:ext cx="609584" cy="609584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2332" y="2143706"/>
            <a:ext cx="335271" cy="33527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752556" y="1752556"/>
            <a:ext cx="2247843" cy="11239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3254D"/>
                </a:solidFill>
                <a:latin typeface="Source Sans 3"/>
              </a:rPr>
              <a:t>Rapid growth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1390" y="1663658"/>
            <a:ext cx="3428914" cy="1301717"/>
          </a:xfrm>
          <a:prstGeom prst="roundRect">
            <a:avLst>
              <a:gd name="adj" fmla="val 1073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84585" y="2006549"/>
            <a:ext cx="609584" cy="609584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2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1741" y="2143706"/>
            <a:ext cx="335271" cy="33527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371965" y="1752556"/>
            <a:ext cx="2247843" cy="11239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3254D"/>
                </a:solidFill>
                <a:latin typeface="Source Sans 3"/>
              </a:rPr>
              <a:t>Firm / fixed hard mass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0799" y="1663658"/>
            <a:ext cx="3428914" cy="1301717"/>
          </a:xfrm>
          <a:prstGeom prst="roundRect">
            <a:avLst>
              <a:gd name="adj" fmla="val 1073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203994" y="2006549"/>
            <a:ext cx="609584" cy="609584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41151" y="2143706"/>
            <a:ext cx="335271" cy="33527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991375" y="1752556"/>
            <a:ext cx="2247843" cy="11239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3254D"/>
                </a:solidFill>
                <a:latin typeface="Source Sans 3"/>
              </a:rPr>
              <a:t>Hoarseness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1980" y="3155871"/>
            <a:ext cx="3428914" cy="1301717"/>
          </a:xfrm>
          <a:prstGeom prst="roundRect">
            <a:avLst>
              <a:gd name="adj" fmla="val 1073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5175" y="3498762"/>
            <a:ext cx="609584" cy="609584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3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2332" y="3635919"/>
            <a:ext cx="335271" cy="33527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752556" y="3244768"/>
            <a:ext cx="2247843" cy="11239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3254D"/>
                </a:solidFill>
                <a:latin typeface="Source Sans 3"/>
              </a:rPr>
              <a:t>Cervical lymphadenopathy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81390" y="3155871"/>
            <a:ext cx="3428914" cy="1301717"/>
          </a:xfrm>
          <a:prstGeom prst="roundRect">
            <a:avLst>
              <a:gd name="adj" fmla="val 1073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584585" y="3498762"/>
            <a:ext cx="609584" cy="609584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3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1741" y="3635919"/>
            <a:ext cx="335271" cy="335271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371965" y="3244768"/>
            <a:ext cx="2247843" cy="11239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3254D"/>
                </a:solidFill>
                <a:latin typeface="Source Sans 3"/>
              </a:rPr>
              <a:t>Age &lt; 20 or &gt; 60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00799" y="3155871"/>
            <a:ext cx="3428914" cy="1301717"/>
          </a:xfrm>
          <a:prstGeom prst="roundRect">
            <a:avLst>
              <a:gd name="adj" fmla="val 1073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03994" y="3498762"/>
            <a:ext cx="609584" cy="609584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3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41151" y="3635919"/>
            <a:ext cx="335271" cy="335271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991375" y="3244768"/>
            <a:ext cx="2247843" cy="11239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3254D"/>
                </a:solidFill>
                <a:latin typeface="Source Sans 3"/>
              </a:rPr>
              <a:t>Prior neck irradiation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61980" y="4648083"/>
            <a:ext cx="10667733" cy="1460463"/>
          </a:xfrm>
          <a:prstGeom prst="roundRect">
            <a:avLst>
              <a:gd name="adj" fmla="val 10434"/>
            </a:avLst>
          </a:prstGeom>
          <a:solidFill>
            <a:srgbClr val="7E1F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79473" y="4990975"/>
            <a:ext cx="761980" cy="7619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3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50918" y="5162420"/>
            <a:ext cx="419089" cy="41908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095447" y="4775080"/>
            <a:ext cx="9143771" cy="12064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F6D9DD"/>
                </a:solidFill>
                <a:latin typeface="Source Sans 3"/>
              </a:rPr>
              <a:t>ACTION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Playfair Display"/>
              </a:rPr>
              <a:t>Suspect malignancy — refer promptly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19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9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5045443277923594"/>
                                    </p:val>
                                  </p:tav>
                                  <p:tav tm="100000">
                                    <p:val>
                                      <p:fltVal val="0.33749146981627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499913969087197"/>
                                    </p:val>
                                  </p:tav>
                                  <p:tav tm="100000">
                                    <p:val>
                                      <p:fltVal val="0.3370284339457567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8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4999146981627294"/>
                                    </p:val>
                                  </p:tav>
                                  <p:tav tm="100000">
                                    <p:val>
                                      <p:fltVal val="0.3370285068533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2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5045443277923594"/>
                                    </p:val>
                                  </p:tav>
                                  <p:tav tm="100000">
                                    <p:val>
                                      <p:fltVal val="0.33749146981627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5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6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5045443277923594"/>
                                    </p:val>
                                  </p:tav>
                                  <p:tav tm="100000">
                                    <p:val>
                                      <p:fltVal val="0.33749146981627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0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499913969087197"/>
                                    </p:val>
                                  </p:tav>
                                  <p:tav tm="100000">
                                    <p:val>
                                      <p:fltVal val="0.3370284339457567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3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4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4999146981627294"/>
                                    </p:val>
                                  </p:tav>
                                  <p:tav tm="100000">
                                    <p:val>
                                      <p:fltVal val="0.3370285068533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7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8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5045443277923594"/>
                                    </p:val>
                                  </p:tav>
                                  <p:tav tm="100000">
                                    <p:val>
                                      <p:fltVal val="0.33749146981627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2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5045443277923594"/>
                                    </p:val>
                                  </p:tav>
                                  <p:tav tm="100000">
                                    <p:val>
                                      <p:fltVal val="0.33749146981627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5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6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499913969087197"/>
                                    </p:val>
                                  </p:tav>
                                  <p:tav tm="100000">
                                    <p:val>
                                      <p:fltVal val="0.3370284339457567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9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0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4999146981627294"/>
                                    </p:val>
                                  </p:tav>
                                  <p:tav tm="100000">
                                    <p:val>
                                      <p:fltVal val="0.3370285068533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3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4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5045443277923594"/>
                                    </p:val>
                                  </p:tav>
                                  <p:tav tm="100000">
                                    <p:val>
                                      <p:fltVal val="0.33749146981627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7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8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6804163021289"/>
                                    </p:val>
                                  </p:tav>
                                  <p:tav tm="100000">
                                    <p:val>
                                      <p:fltVal val="0.55507866724992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9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2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675785943423739"/>
                                    </p:val>
                                  </p:tav>
                                  <p:tav tm="100000">
                                    <p:val>
                                      <p:fltVal val="0.55461563137941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5" dur="90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6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675786672499271"/>
                                    </p:val>
                                  </p:tav>
                                  <p:tav tm="100000">
                                    <p:val>
                                      <p:fltVal val="0.554615704286964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9" dur="90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0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680414843977836"/>
                                    </p:val>
                                  </p:tav>
                                  <p:tav tm="100000">
                                    <p:val>
                                      <p:fltVal val="0.555078521434820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1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8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3" dur="900" fill="hold"/>
                                  <p:tgtEl>
                                    <p:spTgt spid="2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4" dur="900" fill="hold"/>
                                  <p:tgtEl>
                                    <p:spTgt spid="2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6804163021289"/>
                                    </p:val>
                                  </p:tav>
                                  <p:tav tm="100000">
                                    <p:val>
                                      <p:fltVal val="0.55507866724992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5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8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7" dur="900" fill="hold"/>
                                  <p:tgtEl>
                                    <p:spTgt spid="2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8" dur="900" fill="hold"/>
                                  <p:tgtEl>
                                    <p:spTgt spid="2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675785943423739"/>
                                    </p:val>
                                  </p:tav>
                                  <p:tav tm="100000">
                                    <p:val>
                                      <p:fltVal val="0.55461563137941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9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9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900" fill="hold"/>
                                  <p:tgtEl>
                                    <p:spTgt spid="2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2" dur="900" fill="hold"/>
                                  <p:tgtEl>
                                    <p:spTgt spid="2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675786672499271"/>
                                    </p:val>
                                  </p:tav>
                                  <p:tav tm="100000">
                                    <p:val>
                                      <p:fltVal val="0.554615704286964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3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9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5" dur="900" fill="hold"/>
                                  <p:tgtEl>
                                    <p:spTgt spid="2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6" dur="900" fill="hold"/>
                                  <p:tgtEl>
                                    <p:spTgt spid="2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680414843977836"/>
                                    </p:val>
                                  </p:tav>
                                  <p:tav tm="100000">
                                    <p:val>
                                      <p:fltVal val="0.555078521434820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7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9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9" dur="900" fill="hold"/>
                                  <p:tgtEl>
                                    <p:spTgt spid="2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00" dur="900" fill="hold"/>
                                  <p:tgtEl>
                                    <p:spTgt spid="2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6804163021289"/>
                                    </p:val>
                                  </p:tav>
                                  <p:tav tm="100000">
                                    <p:val>
                                      <p:fltVal val="0.55507866724992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1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10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3" dur="900" fill="hold"/>
                                  <p:tgtEl>
                                    <p:spTgt spid="2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04" dur="900" fill="hold"/>
                                  <p:tgtEl>
                                    <p:spTgt spid="2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675785943423739"/>
                                    </p:val>
                                  </p:tav>
                                  <p:tav tm="100000">
                                    <p:val>
                                      <p:fltVal val="0.55461563137941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5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10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7" dur="900" fill="hold"/>
                                  <p:tgtEl>
                                    <p:spTgt spid="2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08" dur="900" fill="hold"/>
                                  <p:tgtEl>
                                    <p:spTgt spid="2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675786672499271"/>
                                    </p:val>
                                  </p:tav>
                                  <p:tav tm="100000">
                                    <p:val>
                                      <p:fltVal val="0.554615704286964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9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1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900" fill="hold"/>
                                  <p:tgtEl>
                                    <p:spTgt spid="2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12" dur="900" fill="hold"/>
                                  <p:tgtEl>
                                    <p:spTgt spid="2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680414843977836"/>
                                    </p:val>
                                  </p:tav>
                                  <p:tav tm="100000">
                                    <p:val>
                                      <p:fltVal val="0.555078521434820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13" presetID="10" presetClass="entr" presetSubtype="0" fill="hold" grpId="0" nodeType="withEffect">
                            <p:stCondLst>
                              <p:cond delay="840"/>
                            </p:stCondLst>
                            <p:childTnLst>
                              <p:set>
                                <p:cBhvr>
                                  <p:cTn id="1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5" dur="900" fill="hold"/>
                                  <p:tgtEl>
                                    <p:spTgt spid="3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16" dur="900" fill="hold"/>
                                  <p:tgtEl>
                                    <p:spTgt spid="3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97202464275299"/>
                                    </p:val>
                                  </p:tav>
                                  <p:tav tm="100000">
                                    <p:val>
                                      <p:fltVal val="0.78423950131233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17" presetID="10" presetClass="entr" presetSubtype="0" fill="hold" grpId="0" nodeType="withEffect">
                            <p:stCondLst>
                              <p:cond delay="840"/>
                            </p:stCondLst>
                            <p:childTnLst>
                              <p:set>
                                <p:cBhvr>
                                  <p:cTn id="1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9" dur="900" fill="hold"/>
                                  <p:tgtEl>
                                    <p:spTgt spid="3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0" dur="900" fill="hold"/>
                                  <p:tgtEl>
                                    <p:spTgt spid="3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962766112569262"/>
                                    </p:val>
                                  </p:tav>
                                  <p:tav tm="100000">
                                    <p:val>
                                      <p:fltVal val="0.783313648293963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21" presetID="10" presetClass="entr" presetSubtype="0" fill="hold" grpId="0" nodeType="withEffect">
                            <p:stCondLst>
                              <p:cond delay="840"/>
                            </p:stCondLst>
                            <p:childTnLst>
                              <p:set>
                                <p:cBhvr>
                                  <p:cTn id="1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3" dur="900" fill="hold"/>
                                  <p:tgtEl>
                                    <p:spTgt spid="3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4" dur="900" fill="hold"/>
                                  <p:tgtEl>
                                    <p:spTgt spid="3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96276538349373"/>
                                    </p:val>
                                  </p:tav>
                                  <p:tav tm="100000">
                                    <p:val>
                                      <p:fltVal val="0.7833135753864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25" presetID="10" presetClass="entr" presetSubtype="0" fill="hold" grpId="0" nodeType="withEffect">
                            <p:stCondLst>
                              <p:cond delay="960"/>
                            </p:stCondLst>
                            <p:childTnLst>
                              <p:set>
                                <p:cBhvr>
                                  <p:cTn id="1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7" dur="900" fill="hold"/>
                                  <p:tgtEl>
                                    <p:spTgt spid="3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8" dur="900" fill="hold"/>
                                  <p:tgtEl>
                                    <p:spTgt spid="3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97202464275299"/>
                                    </p:val>
                                  </p:tav>
                                  <p:tav tm="100000">
                                    <p:val>
                                      <p:fltVal val="0.78423950131233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07  ·  COMPLICATIONS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Complications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3555911" cy="4444888"/>
          </a:xfrm>
          <a:prstGeom prst="roundRect">
            <a:avLst>
              <a:gd name="adj" fmla="val 4642"/>
            </a:avLst>
          </a:prstGeom>
          <a:solidFill>
            <a:srgbClr val="7E1F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79473" y="2044648"/>
            <a:ext cx="825479" cy="82547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5205" y="2230381"/>
            <a:ext cx="454013" cy="45401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9473" y="3174920"/>
            <a:ext cx="2984425" cy="18549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00">
                <a:solidFill>
                  <a:srgbClr val="F6D9DD"/>
                </a:solidFill>
                <a:latin typeface="Source Sans 3"/>
              </a:rPr>
              <a:t>MOST SERIOUS ACUTE COMPLICATION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FFFFFF"/>
                </a:solidFill>
                <a:latin typeface="Playfair Display"/>
              </a:rPr>
              <a:t>Airway obstruction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500" b="0" i="0">
                <a:solidFill>
                  <a:srgbClr val="F6D9DD"/>
                </a:solidFill>
                <a:latin typeface="Source Sans 3"/>
              </a:rPr>
              <a:t>Tracheal compression — an emergency if severe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35384" y="1663658"/>
            <a:ext cx="6794330" cy="1377915"/>
          </a:xfrm>
          <a:prstGeom prst="roundRect">
            <a:avLst>
              <a:gd name="adj" fmla="val 10138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38579" y="2044648"/>
            <a:ext cx="609584" cy="609584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5735" y="2181805"/>
            <a:ext cx="335271" cy="33527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625959" y="1752556"/>
            <a:ext cx="5613259" cy="12001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3254D"/>
                </a:solidFill>
                <a:latin typeface="Source Sans 3"/>
              </a:rPr>
              <a:t>Esophageal compression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1F4FA8"/>
                </a:solidFill>
                <a:latin typeface="Source Sans 3"/>
              </a:rPr>
              <a:t>→ Progressive dysphagia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35384" y="3193970"/>
            <a:ext cx="6794330" cy="1377915"/>
          </a:xfrm>
          <a:prstGeom prst="roundRect">
            <a:avLst>
              <a:gd name="adj" fmla="val 10138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838579" y="3574960"/>
            <a:ext cx="609584" cy="609584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5735" y="3712117"/>
            <a:ext cx="335271" cy="33527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625959" y="3282867"/>
            <a:ext cx="5613259" cy="12001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3254D"/>
                </a:solidFill>
                <a:latin typeface="Source Sans 3"/>
              </a:rPr>
              <a:t>Superior vena cava syndrome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B23A48"/>
                </a:solidFill>
                <a:latin typeface="Source Sans 3"/>
              </a:rPr>
              <a:t>With large retrosternal goiters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35384" y="4724281"/>
            <a:ext cx="6794330" cy="1377915"/>
          </a:xfrm>
          <a:prstGeom prst="roundRect">
            <a:avLst>
              <a:gd name="adj" fmla="val 10138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838579" y="5105272"/>
            <a:ext cx="609584" cy="609584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2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75735" y="5242428"/>
            <a:ext cx="335271" cy="33527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625959" y="4813179"/>
            <a:ext cx="5613259" cy="12001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3254D"/>
                </a:solidFill>
                <a:latin typeface="Source Sans 3"/>
              </a:rPr>
              <a:t>Recurrent laryngeal nerve palsy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8A6A24"/>
                </a:solidFill>
                <a:latin typeface="Source Sans 3"/>
              </a:rPr>
              <a:t>→ Hoarseness / vocal cord paralysis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20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9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9615339749198"/>
                                    </p:val>
                                  </p:tav>
                                  <p:tav tm="100000">
                                    <p:val>
                                      <p:fltVal val="0.56665237678623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7128718285214346"/>
                                    </p:val>
                                  </p:tav>
                                  <p:tav tm="100000">
                                    <p:val>
                                      <p:fltVal val="0.35832421988918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8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7128718285214346"/>
                                    </p:val>
                                  </p:tav>
                                  <p:tav tm="100000">
                                    <p:val>
                                      <p:fltVal val="0.35832421988918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2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111515748031496"/>
                                    </p:val>
                                  </p:tav>
                                  <p:tav tm="100000">
                                    <p:val>
                                      <p:fltVal val="0.598188611840186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5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6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5600984251968504"/>
                                    </p:val>
                                  </p:tav>
                                  <p:tav tm="100000">
                                    <p:val>
                                      <p:fltVal val="0.343046879556722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0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555468066491688"/>
                                    </p:val>
                                  </p:tav>
                                  <p:tav tm="100000">
                                    <p:val>
                                      <p:fltVal val="0.3425838436862058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3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4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5554687955672204"/>
                                    </p:val>
                                  </p:tav>
                                  <p:tav tm="100000">
                                    <p:val>
                                      <p:fltVal val="0.342583916593759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7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8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5600984251968504"/>
                                    </p:val>
                                  </p:tav>
                                  <p:tav tm="100000">
                                    <p:val>
                                      <p:fltVal val="0.343046879556722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2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91524496937883"/>
                                    </p:val>
                                  </p:tav>
                                  <p:tav tm="100000">
                                    <p:val>
                                      <p:fltVal val="0.566189486730825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5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6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86894138232721"/>
                                    </p:val>
                                  </p:tav>
                                  <p:tav tm="100000">
                                    <p:val>
                                      <p:fltVal val="0.565726450860309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9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0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86894867308253"/>
                                    </p:val>
                                  </p:tav>
                                  <p:tav tm="100000">
                                    <p:val>
                                      <p:fltVal val="0.565726523767862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3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4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91523038786818"/>
                                    </p:val>
                                  </p:tav>
                                  <p:tav tm="100000">
                                    <p:val>
                                      <p:fltVal val="0.566189340915718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7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8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02294911052785"/>
                                    </p:val>
                                  </p:tav>
                                  <p:tav tm="100000">
                                    <p:val>
                                      <p:fltVal val="0.789331948089822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9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2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018320209973753"/>
                                    </p:val>
                                  </p:tav>
                                  <p:tav tm="100000">
                                    <p:val>
                                      <p:fltVal val="0.788869058034412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5" dur="90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6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01831948089822"/>
                                    </p:val>
                                  </p:tav>
                                  <p:tav tm="100000">
                                    <p:val>
                                      <p:fltVal val="0.788868985126859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9" dur="90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0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02294911052785"/>
                                    </p:val>
                                  </p:tav>
                                  <p:tav tm="100000">
                                    <p:val>
                                      <p:fltVal val="0.789331948089822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07  ·  COMPLICATIONS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Complications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2520886" cy="4444888"/>
          </a:xfrm>
          <a:prstGeom prst="roundRect">
            <a:avLst>
              <a:gd name="adj" fmla="val 554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90575" y="2616134"/>
            <a:ext cx="698482" cy="698482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733" y="2773293"/>
            <a:ext cx="384165" cy="38416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90575" y="3505112"/>
            <a:ext cx="2063698" cy="11267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3254D"/>
                </a:solidFill>
                <a:latin typeface="Playfair Display"/>
              </a:rPr>
              <a:t>Thyrotoxicosis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8A6A24"/>
                </a:solidFill>
                <a:latin typeface="Source Sans 3"/>
              </a:rPr>
              <a:t>Autonomous nodules secrete hormone (secondary hyperthyroidism)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3363" y="1663658"/>
            <a:ext cx="2520886" cy="4444888"/>
          </a:xfrm>
          <a:prstGeom prst="roundRect">
            <a:avLst>
              <a:gd name="adj" fmla="val 554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701957" y="2616134"/>
            <a:ext cx="698482" cy="698482"/>
          </a:xfrm>
          <a:prstGeom prst="ellipse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59116" y="2773293"/>
            <a:ext cx="384165" cy="38416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701957" y="3505112"/>
            <a:ext cx="2063698" cy="89913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3254D"/>
                </a:solidFill>
                <a:latin typeface="Playfair Display"/>
              </a:rPr>
              <a:t>Hypothyroidism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0B6E70"/>
                </a:solidFill>
                <a:latin typeface="Source Sans 3"/>
              </a:rPr>
              <a:t>End-stage autoimmune destruction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84745" y="1663658"/>
            <a:ext cx="2520886" cy="4444888"/>
          </a:xfrm>
          <a:prstGeom prst="roundRect">
            <a:avLst>
              <a:gd name="adj" fmla="val 554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13339" y="2616134"/>
            <a:ext cx="698482" cy="698482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3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0498" y="2773293"/>
            <a:ext cx="384165" cy="38416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13339" y="3505112"/>
            <a:ext cx="2063698" cy="14563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3254D"/>
                </a:solidFill>
                <a:latin typeface="Playfair Display"/>
              </a:rPr>
              <a:t>Malignant transformation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B23A48"/>
                </a:solidFill>
                <a:latin typeface="Source Sans 3"/>
              </a:rPr>
              <a:t>A small proportion of nodular goiters harbor carcinoma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96127" y="1663658"/>
            <a:ext cx="2520886" cy="4444888"/>
          </a:xfrm>
          <a:prstGeom prst="roundRect">
            <a:avLst>
              <a:gd name="adj" fmla="val 554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124721" y="2616134"/>
            <a:ext cx="698482" cy="698482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1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81880" y="2773293"/>
            <a:ext cx="384165" cy="384165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124721" y="3505112"/>
            <a:ext cx="2063698" cy="122882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3254D"/>
                </a:solidFill>
                <a:latin typeface="Playfair Display"/>
              </a:rPr>
              <a:t>Cosmetic &amp; psychosocial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1F4FA8"/>
                </a:solidFill>
                <a:latin typeface="Source Sans 3"/>
              </a:rPr>
              <a:t>Anxiety · body-image disturbance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21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9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9615339749198"/>
                                    </p:val>
                                  </p:tav>
                                  <p:tav tm="100000">
                                    <p:val>
                                      <p:fltVal val="0.56665237678623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45359434237387"/>
                                    </p:val>
                                  </p:tav>
                                  <p:tav tm="100000">
                                    <p:val>
                                      <p:fltVal val="0.4323964712744240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8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453595071449402"/>
                                    </p:val>
                                  </p:tav>
                                  <p:tav tm="100000">
                                    <p:val>
                                      <p:fltVal val="0.4323965441819772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2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062072761738116"/>
                                    </p:val>
                                  </p:tav>
                                  <p:tav tm="100000">
                                    <p:val>
                                      <p:fltVal val="0.593244313210848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5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6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9615339749198"/>
                                    </p:val>
                                  </p:tav>
                                  <p:tav tm="100000">
                                    <p:val>
                                      <p:fltVal val="0.56665237678623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0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45359434237387"/>
                                    </p:val>
                                  </p:tav>
                                  <p:tav tm="100000">
                                    <p:val>
                                      <p:fltVal val="0.4323964712744240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3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4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453595071449402"/>
                                    </p:val>
                                  </p:tav>
                                  <p:tav tm="100000">
                                    <p:val>
                                      <p:fltVal val="0.4323965441819772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7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8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896151210265383"/>
                                    </p:val>
                                  </p:tav>
                                  <p:tav tm="100000">
                                    <p:val>
                                      <p:fltVal val="0.576652158063575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2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9615339749198"/>
                                    </p:val>
                                  </p:tav>
                                  <p:tav tm="100000">
                                    <p:val>
                                      <p:fltVal val="0.56665237678623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5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6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45359434237387"/>
                                    </p:val>
                                  </p:tav>
                                  <p:tav tm="100000">
                                    <p:val>
                                      <p:fltVal val="0.4323964712744240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9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0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453595071449402"/>
                                    </p:val>
                                  </p:tav>
                                  <p:tav tm="100000">
                                    <p:val>
                                      <p:fltVal val="0.4323965441819772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3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4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302437299504229"/>
                                    </p:val>
                                  </p:tav>
                                  <p:tav tm="100000">
                                    <p:val>
                                      <p:fltVal val="0.617280766987459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7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8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9615339749198"/>
                                    </p:val>
                                  </p:tav>
                                  <p:tav tm="100000">
                                    <p:val>
                                      <p:fltVal val="0.56665237678623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9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2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45359434237387"/>
                                    </p:val>
                                  </p:tav>
                                  <p:tav tm="100000">
                                    <p:val>
                                      <p:fltVal val="0.4323964712744240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5" dur="90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6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453595071449402"/>
                                    </p:val>
                                  </p:tav>
                                  <p:tav tm="100000">
                                    <p:val>
                                      <p:fltVal val="0.4323965441819772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9" dur="90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0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136515748031496"/>
                                    </p:val>
                                  </p:tav>
                                  <p:tav tm="100000">
                                    <p:val>
                                      <p:fltVal val="0.600688611840186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07  ·  COMPLICATIONS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Complications After Surgery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10667733" cy="952476"/>
          </a:xfrm>
          <a:prstGeom prst="roundRect">
            <a:avLst>
              <a:gd name="adj" fmla="val 16000"/>
            </a:avLst>
          </a:prstGeom>
          <a:solidFill>
            <a:srgbClr val="F5F8FD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15974" y="1835104"/>
            <a:ext cx="609584" cy="609584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3131" y="1972260"/>
            <a:ext cx="335271" cy="33527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841453" y="1790655"/>
            <a:ext cx="9397765" cy="6984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1F4FA8"/>
                </a:solidFill>
                <a:latin typeface="Source Sans 3"/>
              </a:rPr>
              <a:t>AFTER THYROIDECTOMY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3254D"/>
                </a:solidFill>
                <a:latin typeface="Playfair Display"/>
              </a:rPr>
              <a:t>Post-surgical complications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1980" y="2806629"/>
            <a:ext cx="2520886" cy="3301917"/>
          </a:xfrm>
          <a:prstGeom prst="roundRect">
            <a:avLst>
              <a:gd name="adj" fmla="val 5541"/>
            </a:avLst>
          </a:prstGeom>
          <a:solidFill>
            <a:srgbClr val="FDF6F7"/>
          </a:solidFill>
          <a:ln w="6350">
            <a:solidFill>
              <a:srgbClr val="F0D3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0575" y="3187620"/>
            <a:ext cx="698482" cy="698482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4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733" y="3344778"/>
            <a:ext cx="384165" cy="38416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90575" y="4076598"/>
            <a:ext cx="2063698" cy="97127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3254D"/>
                </a:solidFill>
                <a:latin typeface="Playfair Display"/>
              </a:rPr>
              <a:t>Hemorrhage / hematoma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B23A48"/>
                </a:solidFill>
                <a:latin typeface="Source Sans 3"/>
              </a:rPr>
              <a:t>With airway compromise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73363" y="2806629"/>
            <a:ext cx="2520886" cy="3301917"/>
          </a:xfrm>
          <a:prstGeom prst="roundRect">
            <a:avLst>
              <a:gd name="adj" fmla="val 554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701957" y="3187620"/>
            <a:ext cx="698482" cy="698482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4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59116" y="3344778"/>
            <a:ext cx="384165" cy="38416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701957" y="4076598"/>
            <a:ext cx="2063698" cy="97127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3254D"/>
                </a:solidFill>
                <a:latin typeface="Playfair Display"/>
              </a:rPr>
              <a:t>Hypocalcemia / tetany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8A6A24"/>
                </a:solidFill>
                <a:latin typeface="Source Sans 3"/>
              </a:rPr>
              <a:t>From hypoparathyroidism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84745" y="2806629"/>
            <a:ext cx="2520886" cy="3301917"/>
          </a:xfrm>
          <a:prstGeom prst="roundRect">
            <a:avLst>
              <a:gd name="adj" fmla="val 554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13339" y="3187620"/>
            <a:ext cx="698482" cy="698482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4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0498" y="3344778"/>
            <a:ext cx="384165" cy="384165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413339" y="4076598"/>
            <a:ext cx="2063698" cy="128596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3254D"/>
                </a:solidFill>
                <a:latin typeface="Playfair Display"/>
              </a:rPr>
              <a:t>Recurrent laryngeal nerve injury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1F4FA8"/>
                </a:solidFill>
                <a:latin typeface="Source Sans 3"/>
              </a:rPr>
              <a:t>Voice change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896127" y="2806629"/>
            <a:ext cx="2520886" cy="3301917"/>
          </a:xfrm>
          <a:prstGeom prst="roundRect">
            <a:avLst>
              <a:gd name="adj" fmla="val 554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24721" y="3187620"/>
            <a:ext cx="698482" cy="698482"/>
          </a:xfrm>
          <a:prstGeom prst="ellipse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4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81880" y="3344778"/>
            <a:ext cx="384165" cy="384165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124721" y="4076598"/>
            <a:ext cx="2063698" cy="88415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3254D"/>
                </a:solidFill>
                <a:latin typeface="Playfair Display"/>
              </a:rPr>
              <a:t>Hypothyroidism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0B6E70"/>
                </a:solidFill>
                <a:latin typeface="Source Sans 3"/>
              </a:rPr>
              <a:t>Requiring lifelong replacement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22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9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24992125984252"/>
                                    </p:val>
                                  </p:tav>
                                  <p:tav tm="100000">
                                    <p:val>
                                      <p:fltVal val="0.3120291630212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24992125984252"/>
                                    </p:val>
                                  </p:tav>
                                  <p:tav tm="100000">
                                    <p:val>
                                      <p:fltVal val="0.3120291630212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8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2499205307669876"/>
                                    </p:val>
                                  </p:tav>
                                  <p:tav tm="100000">
                                    <p:val>
                                      <p:fltVal val="0.312029090113735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2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24992125984252"/>
                                    </p:val>
                                  </p:tav>
                                  <p:tav tm="100000">
                                    <p:val>
                                      <p:fltVal val="0.3120291630212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5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6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629465587634878"/>
                                    </p:val>
                                  </p:tav>
                                  <p:tav tm="100000">
                                    <p:val>
                                      <p:fltVal val="0.649983595800524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0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286907261592301"/>
                                    </p:val>
                                  </p:tav>
                                  <p:tav tm="100000">
                                    <p:val>
                                      <p:fltVal val="0.515727763196267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3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4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286906532516769"/>
                                    </p:val>
                                  </p:tav>
                                  <p:tav tm="100000">
                                    <p:val>
                                      <p:fltVal val="0.515727690288713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7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8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782055263925343"/>
                                    </p:val>
                                  </p:tav>
                                  <p:tav tm="100000">
                                    <p:val>
                                      <p:fltVal val="0.665242563429571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2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629465587634878"/>
                                    </p:val>
                                  </p:tav>
                                  <p:tav tm="100000">
                                    <p:val>
                                      <p:fltVal val="0.649983595800524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5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6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286907261592301"/>
                                    </p:val>
                                  </p:tav>
                                  <p:tav tm="100000">
                                    <p:val>
                                      <p:fltVal val="0.515727763196267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9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0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286906532516769"/>
                                    </p:val>
                                  </p:tav>
                                  <p:tav tm="100000">
                                    <p:val>
                                      <p:fltVal val="0.515727690288713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3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4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782055263925343"/>
                                    </p:val>
                                  </p:tav>
                                  <p:tav tm="100000">
                                    <p:val>
                                      <p:fltVal val="0.665242563429571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7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8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629465587634878"/>
                                    </p:val>
                                  </p:tav>
                                  <p:tav tm="100000">
                                    <p:val>
                                      <p:fltVal val="0.649983595800524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9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2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286907261592301"/>
                                    </p:val>
                                  </p:tav>
                                  <p:tav tm="100000">
                                    <p:val>
                                      <p:fltVal val="0.515727763196267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5" dur="90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6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286906532516769"/>
                                    </p:val>
                                  </p:tav>
                                  <p:tav tm="100000">
                                    <p:val>
                                      <p:fltVal val="0.515727690288713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9" dur="90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0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011493875765529"/>
                                    </p:val>
                                  </p:tav>
                                  <p:tav tm="100000">
                                    <p:val>
                                      <p:fltVal val="0.688186424613589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1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8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3" dur="900" fill="hold"/>
                                  <p:tgtEl>
                                    <p:spTgt spid="2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4" dur="900" fill="hold"/>
                                  <p:tgtEl>
                                    <p:spTgt spid="2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629465587634878"/>
                                    </p:val>
                                  </p:tav>
                                  <p:tav tm="100000">
                                    <p:val>
                                      <p:fltVal val="0.649983595800524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5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8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7" dur="900" fill="hold"/>
                                  <p:tgtEl>
                                    <p:spTgt spid="2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8" dur="900" fill="hold"/>
                                  <p:tgtEl>
                                    <p:spTgt spid="2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286907261592301"/>
                                    </p:val>
                                  </p:tav>
                                  <p:tav tm="100000">
                                    <p:val>
                                      <p:fltVal val="0.515727763196267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9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9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900" fill="hold"/>
                                  <p:tgtEl>
                                    <p:spTgt spid="2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2" dur="900" fill="hold"/>
                                  <p:tgtEl>
                                    <p:spTgt spid="2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286906532516769"/>
                                    </p:val>
                                  </p:tav>
                                  <p:tav tm="100000">
                                    <p:val>
                                      <p:fltVal val="0.515727690288713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3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9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5" dur="900" fill="hold"/>
                                  <p:tgtEl>
                                    <p:spTgt spid="2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6" dur="900" fill="hold"/>
                                  <p:tgtEl>
                                    <p:spTgt spid="2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718538203557889"/>
                                    </p:val>
                                  </p:tav>
                                  <p:tav tm="100000">
                                    <p:val>
                                      <p:fltVal val="0.658890857392825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08  ·  DIAGNOSIS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The Diagnostic Pathway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460463" y="2222444"/>
            <a:ext cx="9270768" cy="19049"/>
          </a:xfrm>
          <a:prstGeom prst="rect">
            <a:avLst/>
          </a:prstGeom>
          <a:solidFill>
            <a:srgbClr val="1325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27156" y="1904952"/>
            <a:ext cx="634984" cy="6349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Playfair Display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1980" y="2793930"/>
            <a:ext cx="2571685" cy="3301917"/>
          </a:xfrm>
          <a:prstGeom prst="roundRect">
            <a:avLst>
              <a:gd name="adj" fmla="val 5925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63658" y="3111422"/>
            <a:ext cx="761980" cy="761980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5104" y="3282867"/>
            <a:ext cx="419089" cy="419089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952476" y="4127396"/>
            <a:ext cx="647175" cy="317492"/>
          </a:xfrm>
          <a:prstGeom prst="roundRect">
            <a:avLst>
              <a:gd name="adj" fmla="val 50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2476" y="4152796"/>
            <a:ext cx="647175" cy="26669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F4FA8"/>
                </a:solidFill>
                <a:latin typeface="Source Sans 3"/>
              </a:rPr>
              <a:t>Neck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75850" y="4127396"/>
            <a:ext cx="1201897" cy="317492"/>
          </a:xfrm>
          <a:prstGeom prst="roundRect">
            <a:avLst>
              <a:gd name="adj" fmla="val 50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75850" y="4152796"/>
            <a:ext cx="1201897" cy="26669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F4FA8"/>
                </a:solidFill>
                <a:latin typeface="Source Sans 3"/>
              </a:rPr>
              <a:t>Lymph nodes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2476" y="4521086"/>
            <a:ext cx="1201897" cy="317492"/>
          </a:xfrm>
          <a:prstGeom prst="roundRect">
            <a:avLst>
              <a:gd name="adj" fmla="val 50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2476" y="4546486"/>
            <a:ext cx="1201897" cy="26669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F4FA8"/>
                </a:solidFill>
                <a:latin typeface="Source Sans 3"/>
              </a:rPr>
              <a:t>Pemberton’s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25839" y="1904952"/>
            <a:ext cx="634984" cy="6349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Playfair Display"/>
              </a:rPr>
              <a:t>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60663" y="2793930"/>
            <a:ext cx="2571685" cy="3301917"/>
          </a:xfrm>
          <a:prstGeom prst="roundRect">
            <a:avLst>
              <a:gd name="adj" fmla="val 5925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362340" y="3111422"/>
            <a:ext cx="761980" cy="761980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4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3786" y="3282867"/>
            <a:ext cx="419089" cy="419089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3651158" y="4127396"/>
            <a:ext cx="567929" cy="317492"/>
          </a:xfrm>
          <a:prstGeom prst="roundRect">
            <a:avLst>
              <a:gd name="adj" fmla="val 50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1158" y="4152796"/>
            <a:ext cx="567929" cy="26669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F4FA8"/>
                </a:solidFill>
                <a:latin typeface="Source Sans 3"/>
              </a:rPr>
              <a:t>TSH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5286" y="4127396"/>
            <a:ext cx="1043405" cy="317492"/>
          </a:xfrm>
          <a:prstGeom prst="roundRect">
            <a:avLst>
              <a:gd name="adj" fmla="val 50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95286" y="4152796"/>
            <a:ext cx="1043405" cy="26669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F4FA8"/>
                </a:solidFill>
                <a:latin typeface="Source Sans 3"/>
              </a:rPr>
              <a:t>FT4 / FT3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1158" y="4521086"/>
            <a:ext cx="1122651" cy="317492"/>
          </a:xfrm>
          <a:prstGeom prst="roundRect">
            <a:avLst>
              <a:gd name="adj" fmla="val 50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1158" y="4546486"/>
            <a:ext cx="1122651" cy="26669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F4FA8"/>
                </a:solidFill>
                <a:latin typeface="Source Sans 3"/>
              </a:rPr>
              <a:t>Antibodies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24521" y="1904952"/>
            <a:ext cx="634984" cy="6349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Playfair Display"/>
              </a:rPr>
              <a:t>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346" y="2793930"/>
            <a:ext cx="2571685" cy="3301917"/>
          </a:xfrm>
          <a:prstGeom prst="roundRect">
            <a:avLst>
              <a:gd name="adj" fmla="val 5925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061023" y="3111422"/>
            <a:ext cx="761980" cy="761980"/>
          </a:xfrm>
          <a:prstGeom prst="ellipse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2469" y="3282867"/>
            <a:ext cx="419089" cy="419089"/>
          </a:xfrm>
          <a:prstGeom prst="rect">
            <a:avLst/>
          </a:prstGeom>
        </p:spPr>
      </p:pic>
      <p:sp>
        <p:nvSpPr>
          <p:cNvPr id="31" name="Rounded Rectangle 30"/>
          <p:cNvSpPr/>
          <p:nvPr/>
        </p:nvSpPr>
        <p:spPr>
          <a:xfrm>
            <a:off x="6349841" y="4127396"/>
            <a:ext cx="1122651" cy="317492"/>
          </a:xfrm>
          <a:prstGeom prst="roundRect">
            <a:avLst>
              <a:gd name="adj" fmla="val 50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49841" y="4152796"/>
            <a:ext cx="1122651" cy="26669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F4FA8"/>
                </a:solidFill>
                <a:latin typeface="Source Sans 3"/>
              </a:rPr>
              <a:t>Ultrasound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548691" y="4127396"/>
            <a:ext cx="964159" cy="317492"/>
          </a:xfrm>
          <a:prstGeom prst="roundRect">
            <a:avLst>
              <a:gd name="adj" fmla="val 50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48691" y="4152796"/>
            <a:ext cx="964159" cy="26669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F4FA8"/>
                </a:solidFill>
                <a:latin typeface="Source Sans 3"/>
              </a:rPr>
              <a:t>RAI scan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349841" y="4521086"/>
            <a:ext cx="964159" cy="317492"/>
          </a:xfrm>
          <a:prstGeom prst="roundRect">
            <a:avLst>
              <a:gd name="adj" fmla="val 50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49841" y="4546486"/>
            <a:ext cx="964159" cy="26669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F4FA8"/>
                </a:solidFill>
                <a:latin typeface="Source Sans 3"/>
              </a:rPr>
              <a:t>CT / MRI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390199" y="4521086"/>
            <a:ext cx="726421" cy="317492"/>
          </a:xfrm>
          <a:prstGeom prst="roundRect">
            <a:avLst>
              <a:gd name="adj" fmla="val 50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90199" y="4546486"/>
            <a:ext cx="726421" cy="26669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F4FA8"/>
                </a:solidFill>
                <a:latin typeface="Source Sans 3"/>
              </a:rPr>
              <a:t>X-ray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823204" y="1904952"/>
            <a:ext cx="634984" cy="6349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Playfair Display"/>
              </a:rPr>
              <a:t>4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858028" y="2793930"/>
            <a:ext cx="2571685" cy="3301917"/>
          </a:xfrm>
          <a:prstGeom prst="roundRect">
            <a:avLst>
              <a:gd name="adj" fmla="val 5925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9759706" y="3111422"/>
            <a:ext cx="761980" cy="761980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5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31151" y="3282867"/>
            <a:ext cx="419089" cy="419089"/>
          </a:xfrm>
          <a:prstGeom prst="rect">
            <a:avLst/>
          </a:prstGeom>
        </p:spPr>
      </p:pic>
      <p:sp>
        <p:nvSpPr>
          <p:cNvPr id="43" name="Rounded Rectangle 42"/>
          <p:cNvSpPr/>
          <p:nvPr/>
        </p:nvSpPr>
        <p:spPr>
          <a:xfrm>
            <a:off x="9048523" y="4127396"/>
            <a:ext cx="647175" cy="317492"/>
          </a:xfrm>
          <a:prstGeom prst="roundRect">
            <a:avLst>
              <a:gd name="adj" fmla="val 50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048523" y="4152796"/>
            <a:ext cx="647175" cy="26669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F4FA8"/>
                </a:solidFill>
                <a:latin typeface="Source Sans 3"/>
              </a:rPr>
              <a:t>FNAB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23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12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3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370288713910761"/>
                                    </p:val>
                                  </p:tav>
                                  <p:tav tm="100000">
                                    <p:val>
                                      <p:fltVal val="0.3240659084281131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4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7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610948527267425"/>
                                    </p:val>
                                  </p:tav>
                                  <p:tav tm="100000">
                                    <p:val>
                                      <p:fltVal val="0.648131889763779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8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1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222093904928551"/>
                                    </p:val>
                                  </p:tav>
                                  <p:tav tm="100000">
                                    <p:val>
                                      <p:fltVal val="0.509246427529892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2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4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5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222093175853019"/>
                                    </p:val>
                                  </p:tav>
                                  <p:tav tm="100000">
                                    <p:val>
                                      <p:fltVal val="0.50924635462233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6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8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9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379472149314669"/>
                                    </p:val>
                                  </p:tav>
                                  <p:tav tm="100000">
                                    <p:val>
                                      <p:fltVal val="0.624984251968503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0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2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3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379472878390201"/>
                                    </p:val>
                                  </p:tav>
                                  <p:tav tm="100000">
                                    <p:val>
                                      <p:fltVal val="0.624984324876057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4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4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6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7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379472149314669"/>
                                    </p:val>
                                  </p:tav>
                                  <p:tav tm="100000">
                                    <p:val>
                                      <p:fltVal val="0.624984251968503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8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4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0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1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379472878390201"/>
                                    </p:val>
                                  </p:tav>
                                  <p:tav tm="100000">
                                    <p:val>
                                      <p:fltVal val="0.624984324876057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2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5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4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5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953531641878099"/>
                                    </p:val>
                                  </p:tav>
                                  <p:tav tm="100000">
                                    <p:val>
                                      <p:fltVal val="0.68239020122484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6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5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8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9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953532370953631"/>
                                    </p:val>
                                  </p:tav>
                                  <p:tav tm="100000">
                                    <p:val>
                                      <p:fltVal val="0.682390274132400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0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6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2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3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370288713910761"/>
                                    </p:val>
                                  </p:tav>
                                  <p:tav tm="100000">
                                    <p:val>
                                      <p:fltVal val="0.3240659084281131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4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6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6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7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610948527267425"/>
                                    </p:val>
                                  </p:tav>
                                  <p:tav tm="100000">
                                    <p:val>
                                      <p:fltVal val="0.648131889763779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8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6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0" dur="9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1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222093904928551"/>
                                    </p:val>
                                  </p:tav>
                                  <p:tav tm="100000">
                                    <p:val>
                                      <p:fltVal val="0.509246427529892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2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7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4" dur="90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5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222093175853019"/>
                                    </p:val>
                                  </p:tav>
                                  <p:tav tm="100000">
                                    <p:val>
                                      <p:fltVal val="0.50924635462233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6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7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8" dur="90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9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379472149314669"/>
                                    </p:val>
                                  </p:tav>
                                  <p:tav tm="100000">
                                    <p:val>
                                      <p:fltVal val="0.624984251968503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0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8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2" dur="900" fill="hold"/>
                                  <p:tgtEl>
                                    <p:spTgt spid="2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3" dur="900" fill="hold"/>
                                  <p:tgtEl>
                                    <p:spTgt spid="2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379472878390201"/>
                                    </p:val>
                                  </p:tav>
                                  <p:tav tm="100000">
                                    <p:val>
                                      <p:fltVal val="0.624984324876057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4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8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6" dur="900" fill="hold"/>
                                  <p:tgtEl>
                                    <p:spTgt spid="2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7" dur="900" fill="hold"/>
                                  <p:tgtEl>
                                    <p:spTgt spid="2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379472149314669"/>
                                    </p:val>
                                  </p:tav>
                                  <p:tav tm="100000">
                                    <p:val>
                                      <p:fltVal val="0.624984251968503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8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8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0" dur="900" fill="hold"/>
                                  <p:tgtEl>
                                    <p:spTgt spid="2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1" dur="900" fill="hold"/>
                                  <p:tgtEl>
                                    <p:spTgt spid="2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379472878390201"/>
                                    </p:val>
                                  </p:tav>
                                  <p:tav tm="100000">
                                    <p:val>
                                      <p:fltVal val="0.624984324876057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2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9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4" dur="900" fill="hold"/>
                                  <p:tgtEl>
                                    <p:spTgt spid="2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5" dur="900" fill="hold"/>
                                  <p:tgtEl>
                                    <p:spTgt spid="2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953531641878099"/>
                                    </p:val>
                                  </p:tav>
                                  <p:tav tm="100000">
                                    <p:val>
                                      <p:fltVal val="0.68239020122484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6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9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8" dur="900" fill="hold"/>
                                  <p:tgtEl>
                                    <p:spTgt spid="2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9" dur="900" fill="hold"/>
                                  <p:tgtEl>
                                    <p:spTgt spid="2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953532370953631"/>
                                    </p:val>
                                  </p:tav>
                                  <p:tav tm="100000">
                                    <p:val>
                                      <p:fltVal val="0.682390274132400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0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10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2" dur="900" fill="hold"/>
                                  <p:tgtEl>
                                    <p:spTgt spid="2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03" dur="900" fill="hold"/>
                                  <p:tgtEl>
                                    <p:spTgt spid="2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370288713910761"/>
                                    </p:val>
                                  </p:tav>
                                  <p:tav tm="100000">
                                    <p:val>
                                      <p:fltVal val="0.3240659084281131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4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10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6" dur="900" fill="hold"/>
                                  <p:tgtEl>
                                    <p:spTgt spid="2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07" dur="900" fill="hold"/>
                                  <p:tgtEl>
                                    <p:spTgt spid="2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610948527267425"/>
                                    </p:val>
                                  </p:tav>
                                  <p:tav tm="100000">
                                    <p:val>
                                      <p:fltVal val="0.648131889763779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8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10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0" dur="900" fill="hold"/>
                                  <p:tgtEl>
                                    <p:spTgt spid="2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11" dur="900" fill="hold"/>
                                  <p:tgtEl>
                                    <p:spTgt spid="2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222093904928551"/>
                                    </p:val>
                                  </p:tav>
                                  <p:tav tm="100000">
                                    <p:val>
                                      <p:fltVal val="0.509246427529892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12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1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4" dur="900" fill="hold"/>
                                  <p:tgtEl>
                                    <p:spTgt spid="3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15" dur="900" fill="hold"/>
                                  <p:tgtEl>
                                    <p:spTgt spid="3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222093175853019"/>
                                    </p:val>
                                  </p:tav>
                                  <p:tav tm="100000">
                                    <p:val>
                                      <p:fltVal val="0.50924635462233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16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1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8" dur="900" fill="hold"/>
                                  <p:tgtEl>
                                    <p:spTgt spid="3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19" dur="900" fill="hold"/>
                                  <p:tgtEl>
                                    <p:spTgt spid="3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379472149314669"/>
                                    </p:val>
                                  </p:tav>
                                  <p:tav tm="100000">
                                    <p:val>
                                      <p:fltVal val="0.624984251968503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20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1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2" dur="900" fill="hold"/>
                                  <p:tgtEl>
                                    <p:spTgt spid="3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3" dur="900" fill="hold"/>
                                  <p:tgtEl>
                                    <p:spTgt spid="3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379472878390201"/>
                                    </p:val>
                                  </p:tav>
                                  <p:tav tm="100000">
                                    <p:val>
                                      <p:fltVal val="0.624984324876057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24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1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6" dur="900" fill="hold"/>
                                  <p:tgtEl>
                                    <p:spTgt spid="3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7" dur="900" fill="hold"/>
                                  <p:tgtEl>
                                    <p:spTgt spid="3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379472149314669"/>
                                    </p:val>
                                  </p:tav>
                                  <p:tav tm="100000">
                                    <p:val>
                                      <p:fltVal val="0.624984251968503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28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1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0" dur="900" fill="hold"/>
                                  <p:tgtEl>
                                    <p:spTgt spid="3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31" dur="900" fill="hold"/>
                                  <p:tgtEl>
                                    <p:spTgt spid="3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379472878390201"/>
                                    </p:val>
                                  </p:tav>
                                  <p:tav tm="100000">
                                    <p:val>
                                      <p:fltVal val="0.624984324876057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2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13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4" dur="900" fill="hold"/>
                                  <p:tgtEl>
                                    <p:spTgt spid="3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35" dur="900" fill="hold"/>
                                  <p:tgtEl>
                                    <p:spTgt spid="3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953531641878099"/>
                                    </p:val>
                                  </p:tav>
                                  <p:tav tm="100000">
                                    <p:val>
                                      <p:fltVal val="0.68239020122484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6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13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8" dur="900" fill="hold"/>
                                  <p:tgtEl>
                                    <p:spTgt spid="3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39" dur="900" fill="hold"/>
                                  <p:tgtEl>
                                    <p:spTgt spid="3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953532370953631"/>
                                    </p:val>
                                  </p:tav>
                                  <p:tav tm="100000">
                                    <p:val>
                                      <p:fltVal val="0.682390274132400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40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1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2" dur="900" fill="hold"/>
                                  <p:tgtEl>
                                    <p:spTgt spid="3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43" dur="900" fill="hold"/>
                                  <p:tgtEl>
                                    <p:spTgt spid="3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953531641878099"/>
                                    </p:val>
                                  </p:tav>
                                  <p:tav tm="100000">
                                    <p:val>
                                      <p:fltVal val="0.68239020122484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44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14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6" dur="900" fill="hold"/>
                                  <p:tgtEl>
                                    <p:spTgt spid="3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47" dur="900" fill="hold"/>
                                  <p:tgtEl>
                                    <p:spTgt spid="3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953532370953631"/>
                                    </p:val>
                                  </p:tav>
                                  <p:tav tm="100000">
                                    <p:val>
                                      <p:fltVal val="0.682390274132400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48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4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0" dur="900" fill="hold"/>
                                  <p:tgtEl>
                                    <p:spTgt spid="3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51" dur="900" fill="hold"/>
                                  <p:tgtEl>
                                    <p:spTgt spid="3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370288713910761"/>
                                    </p:val>
                                  </p:tav>
                                  <p:tav tm="100000">
                                    <p:val>
                                      <p:fltVal val="0.3240659084281131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52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5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4" dur="900" fill="hold"/>
                                  <p:tgtEl>
                                    <p:spTgt spid="4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55" dur="900" fill="hold"/>
                                  <p:tgtEl>
                                    <p:spTgt spid="4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610948527267425"/>
                                    </p:val>
                                  </p:tav>
                                  <p:tav tm="100000">
                                    <p:val>
                                      <p:fltVal val="0.648131889763779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56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5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8" dur="900" fill="hold"/>
                                  <p:tgtEl>
                                    <p:spTgt spid="4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59" dur="900" fill="hold"/>
                                  <p:tgtEl>
                                    <p:spTgt spid="4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222093904928551"/>
                                    </p:val>
                                  </p:tav>
                                  <p:tav tm="100000">
                                    <p:val>
                                      <p:fltVal val="0.509246427529892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60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6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2" dur="900" fill="hold"/>
                                  <p:tgtEl>
                                    <p:spTgt spid="4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3" dur="900" fill="hold"/>
                                  <p:tgtEl>
                                    <p:spTgt spid="4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222093175853019"/>
                                    </p:val>
                                  </p:tav>
                                  <p:tav tm="100000">
                                    <p:val>
                                      <p:fltVal val="0.50924635462233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64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6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6" dur="900" fill="hold"/>
                                  <p:tgtEl>
                                    <p:spTgt spid="4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7" dur="900" fill="hold"/>
                                  <p:tgtEl>
                                    <p:spTgt spid="4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379472149314669"/>
                                    </p:val>
                                  </p:tav>
                                  <p:tav tm="100000">
                                    <p:val>
                                      <p:fltVal val="0.624984251968503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68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6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0" dur="900" fill="hold"/>
                                  <p:tgtEl>
                                    <p:spTgt spid="4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71" dur="900" fill="hold"/>
                                  <p:tgtEl>
                                    <p:spTgt spid="4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379472878390201"/>
                                    </p:val>
                                  </p:tav>
                                  <p:tav tm="100000">
                                    <p:val>
                                      <p:fltVal val="0.624984324876057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08  ·  DIAGNOSIS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History &amp; Physical Examination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3936901" cy="4444888"/>
          </a:xfrm>
          <a:prstGeom prst="roundRect">
            <a:avLst>
              <a:gd name="adj" fmla="val 4516"/>
            </a:avLst>
          </a:prstGeom>
          <a:solidFill>
            <a:srgbClr val="F5F8FD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neck-goi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476" y="1854153"/>
            <a:ext cx="3555911" cy="361940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88977" y="5549761"/>
            <a:ext cx="3682907" cy="257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4FA8"/>
                </a:solidFill>
                <a:latin typeface="Source Sans 3"/>
              </a:rPr>
              <a:t>Inspect &amp; palpate the neck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16374" y="1663658"/>
            <a:ext cx="6413339" cy="32384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B8923E"/>
                </a:solidFill>
                <a:latin typeface="Source Sans 3"/>
              </a:rPr>
              <a:t>STEP 1 · HISTORY &amp; PHYSICAL EXAMINATION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16374" y="1981150"/>
            <a:ext cx="6413339" cy="933426"/>
          </a:xfrm>
          <a:prstGeom prst="roundRect">
            <a:avLst>
              <a:gd name="adj" fmla="val 14965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219569" y="2139896"/>
            <a:ext cx="609584" cy="609584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6726" y="2277053"/>
            <a:ext cx="335271" cy="33527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06949" y="2070048"/>
            <a:ext cx="5232269" cy="75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3254D"/>
                </a:solidFill>
                <a:latin typeface="Source Sans 3"/>
              </a:rPr>
              <a:t>Neck inspection &amp; palpation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1F4FA8"/>
                </a:solidFill>
                <a:latin typeface="Source Sans 3"/>
              </a:rPr>
              <a:t>Size · symmetry · consistency · nodules · movement with swallowing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16374" y="3041573"/>
            <a:ext cx="6413339" cy="933426"/>
          </a:xfrm>
          <a:prstGeom prst="roundRect">
            <a:avLst>
              <a:gd name="adj" fmla="val 14965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19569" y="3200319"/>
            <a:ext cx="609584" cy="609584"/>
          </a:xfrm>
          <a:prstGeom prst="ellipse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5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56726" y="3337476"/>
            <a:ext cx="335271" cy="33527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006949" y="3130471"/>
            <a:ext cx="5232269" cy="75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3254D"/>
                </a:solidFill>
                <a:latin typeface="Source Sans 3"/>
              </a:rPr>
              <a:t>Lymph nodes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0B6E70"/>
                </a:solidFill>
                <a:latin typeface="Source Sans 3"/>
              </a:rPr>
              <a:t>Check for cervical lymphadenopathy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16374" y="4101997"/>
            <a:ext cx="6413339" cy="933426"/>
          </a:xfrm>
          <a:prstGeom prst="roundRect">
            <a:avLst>
              <a:gd name="adj" fmla="val 14965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219569" y="4260743"/>
            <a:ext cx="609584" cy="609584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1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56726" y="4397900"/>
            <a:ext cx="335271" cy="33527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006949" y="4190895"/>
            <a:ext cx="5232269" cy="75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3254D"/>
                </a:solidFill>
                <a:latin typeface="Source Sans 3"/>
              </a:rPr>
              <a:t>Pemberton’s sign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B23A48"/>
                </a:solidFill>
                <a:latin typeface="Source Sans 3"/>
              </a:rPr>
              <a:t>Retrosternal extension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16374" y="5162420"/>
            <a:ext cx="6413339" cy="933426"/>
          </a:xfrm>
          <a:prstGeom prst="roundRect">
            <a:avLst>
              <a:gd name="adj" fmla="val 14965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219569" y="5321166"/>
            <a:ext cx="609584" cy="609584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4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56726" y="5458323"/>
            <a:ext cx="335271" cy="335271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006949" y="5251318"/>
            <a:ext cx="5232269" cy="75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3254D"/>
                </a:solidFill>
                <a:latin typeface="Source Sans 3"/>
              </a:rPr>
              <a:t>Signs of thyroid dysfunction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8A6A24"/>
                </a:solidFill>
                <a:latin typeface="Source Sans 3"/>
              </a:rPr>
              <a:t>Hypo- or hyperthyroid features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24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12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" dur="12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6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409514435695538"/>
                                    </p:val>
                                  </p:tav>
                                  <p:tav tm="100000">
                                    <p:val>
                                      <p:fltVal val="0.827988480606590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0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7915988626421695"/>
                                    </p:val>
                                  </p:tav>
                                  <p:tav tm="100000">
                                    <p:val>
                                      <p:fltVal val="0.26619692330125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3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4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698983668708078"/>
                                    </p:val>
                                  </p:tav>
                                  <p:tav tm="100000">
                                    <p:val>
                                      <p:fltVal val="0.3569354039078448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7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8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6943540390784485"/>
                                    </p:val>
                                  </p:tav>
                                  <p:tav tm="100000">
                                    <p:val>
                                      <p:fltVal val="0.356472440944881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9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2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6943547681539807"/>
                                    </p:val>
                                  </p:tav>
                                  <p:tav tm="100000">
                                    <p:val>
                                      <p:fltVal val="0.356472513852435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5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6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69898439778361"/>
                                    </p:val>
                                  </p:tav>
                                  <p:tav tm="100000">
                                    <p:val>
                                      <p:fltVal val="0.3569354768153980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4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9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0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245240594925634"/>
                                    </p:val>
                                  </p:tav>
                                  <p:tav tm="100000">
                                    <p:val>
                                      <p:fltVal val="0.51156109652960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3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4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240610965296004"/>
                                    </p:val>
                                  </p:tav>
                                  <p:tav tm="100000">
                                    <p:val>
                                      <p:fltVal val="0.511098133566637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5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7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8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240611694371536"/>
                                    </p:val>
                                  </p:tav>
                                  <p:tav tm="100000">
                                    <p:val>
                                      <p:fltVal val="0.511098206474190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2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245241324001166"/>
                                    </p:val>
                                  </p:tav>
                                  <p:tav tm="100000">
                                    <p:val>
                                      <p:fltVal val="0.51156116943715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5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6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791498979294255"/>
                                    </p:val>
                                  </p:tav>
                                  <p:tav tm="100000">
                                    <p:val>
                                      <p:fltVal val="0.666186934966462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9" dur="9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0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786869349664625"/>
                                    </p:val>
                                  </p:tav>
                                  <p:tav tm="100000">
                                    <p:val>
                                      <p:fltVal val="0.665723972003499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1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3" dur="90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4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786870078740157"/>
                                    </p:val>
                                  </p:tav>
                                  <p:tav tm="100000">
                                    <p:val>
                                      <p:fltVal val="0.665724044911052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7" dur="90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8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791499708369787"/>
                                    </p:val>
                                  </p:tav>
                                  <p:tav tm="100000">
                                    <p:val>
                                      <p:fltVal val="0.666187007874015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9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8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900" fill="hold"/>
                                  <p:tgtEl>
                                    <p:spTgt spid="2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2" dur="900" fill="hold"/>
                                  <p:tgtEl>
                                    <p:spTgt spid="2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337755905511811"/>
                                    </p:val>
                                  </p:tav>
                                  <p:tav tm="100000">
                                    <p:val>
                                      <p:fltVal val="0.820812627588218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3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8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5" dur="900" fill="hold"/>
                                  <p:tgtEl>
                                    <p:spTgt spid="2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6" dur="900" fill="hold"/>
                                  <p:tgtEl>
                                    <p:spTgt spid="2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333126275882181"/>
                                    </p:val>
                                  </p:tav>
                                  <p:tav tm="100000">
                                    <p:val>
                                      <p:fltVal val="0.820349664625255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7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8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9" dur="900" fill="hold"/>
                                  <p:tgtEl>
                                    <p:spTgt spid="2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0" dur="900" fill="hold"/>
                                  <p:tgtEl>
                                    <p:spTgt spid="2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333127004957713"/>
                                    </p:val>
                                  </p:tav>
                                  <p:tav tm="100000">
                                    <p:val>
                                      <p:fltVal val="0.820349737532808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1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9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3" dur="900" fill="hold"/>
                                  <p:tgtEl>
                                    <p:spTgt spid="2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4" dur="900" fill="hold"/>
                                  <p:tgtEl>
                                    <p:spTgt spid="2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337756634587343"/>
                                    </p:val>
                                  </p:tav>
                                  <p:tav tm="100000">
                                    <p:val>
                                      <p:fltVal val="0.820812700495771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08  ·  DIAGNOSIS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Laboratory Tests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5206869" cy="2095447"/>
          </a:xfrm>
          <a:prstGeom prst="roundRect">
            <a:avLst>
              <a:gd name="adj" fmla="val 7272"/>
            </a:avLst>
          </a:prstGeom>
          <a:solidFill>
            <a:srgbClr val="1325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5974" y="1854153"/>
            <a:ext cx="4698882" cy="14589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E7CF96"/>
                </a:solidFill>
                <a:latin typeface="Source Sans 3"/>
              </a:rPr>
              <a:t>STEP 2 · FIRST-LINE SCREENING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5500" b="1" i="0">
                <a:solidFill>
                  <a:srgbClr val="FFFFFF"/>
                </a:solidFill>
                <a:latin typeface="Playfair Display"/>
              </a:rPr>
              <a:t>TSH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600" b="0" i="0">
                <a:solidFill>
                  <a:srgbClr val="E7CF96"/>
                </a:solidFill>
                <a:latin typeface="Source Sans 3"/>
              </a:rPr>
              <a:t>Then free T4 / free T3 to classify function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1980" y="3949601"/>
            <a:ext cx="5206869" cy="2158946"/>
          </a:xfrm>
          <a:prstGeom prst="roundRect">
            <a:avLst>
              <a:gd name="adj" fmla="val 8235"/>
            </a:avLst>
          </a:prstGeom>
          <a:solidFill>
            <a:srgbClr val="F5F8FD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blood-tu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476" y="4140096"/>
            <a:ext cx="4825879" cy="1777955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286342" y="1663658"/>
            <a:ext cx="5143371" cy="1015974"/>
          </a:xfrm>
          <a:prstGeom prst="roundRect">
            <a:avLst>
              <a:gd name="adj" fmla="val 13750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89537" y="1866853"/>
            <a:ext cx="609584" cy="609584"/>
          </a:xfrm>
          <a:prstGeom prst="ellipse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6694" y="2004009"/>
            <a:ext cx="335271" cy="33527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76918" y="1752556"/>
            <a:ext cx="3962300" cy="8381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00">
                <a:solidFill>
                  <a:srgbClr val="0B6E70"/>
                </a:solidFill>
                <a:latin typeface="Source Sans 3"/>
              </a:rPr>
              <a:t>ANTIBODIES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Anti-TPO / anti-thyroglobulin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0B6E70"/>
                </a:solidFill>
                <a:latin typeface="Source Sans 3"/>
              </a:rPr>
              <a:t>→ Hashimoto’s thyroiditis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86342" y="2806629"/>
            <a:ext cx="5143371" cy="1015974"/>
          </a:xfrm>
          <a:prstGeom prst="roundRect">
            <a:avLst>
              <a:gd name="adj" fmla="val 13750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89537" y="3009824"/>
            <a:ext cx="609584" cy="609584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5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6694" y="3146981"/>
            <a:ext cx="335271" cy="33527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276918" y="2895527"/>
            <a:ext cx="3962300" cy="8381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00">
                <a:solidFill>
                  <a:srgbClr val="8A6A24"/>
                </a:solidFill>
                <a:latin typeface="Source Sans 3"/>
              </a:rPr>
              <a:t>ANTIBODIES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TSH-receptor antibodies (TRAb)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8A6A24"/>
                </a:solidFill>
                <a:latin typeface="Source Sans 3"/>
              </a:rPr>
              <a:t>→ Graves’ disease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86342" y="3949601"/>
            <a:ext cx="5143371" cy="1015974"/>
          </a:xfrm>
          <a:prstGeom prst="roundRect">
            <a:avLst>
              <a:gd name="adj" fmla="val 13750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89537" y="4152796"/>
            <a:ext cx="609584" cy="609584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3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6694" y="4289952"/>
            <a:ext cx="335271" cy="33527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276918" y="4038499"/>
            <a:ext cx="3962300" cy="8381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00">
                <a:solidFill>
                  <a:srgbClr val="B23A48"/>
                </a:solidFill>
                <a:latin typeface="Source Sans 3"/>
              </a:rPr>
              <a:t>SPECIAL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Serum calcitonin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B23A48"/>
                </a:solidFill>
                <a:latin typeface="Source Sans 3"/>
              </a:rPr>
              <a:t>If medullary carcinoma is suspected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86342" y="5092572"/>
            <a:ext cx="5143371" cy="1015974"/>
          </a:xfrm>
          <a:prstGeom prst="roundRect">
            <a:avLst>
              <a:gd name="adj" fmla="val 13750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89537" y="5295767"/>
            <a:ext cx="609584" cy="609584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5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6694" y="5432924"/>
            <a:ext cx="335271" cy="335271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76918" y="5181470"/>
            <a:ext cx="3962300" cy="8381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00">
                <a:solidFill>
                  <a:srgbClr val="1F4FA8"/>
                </a:solidFill>
                <a:latin typeface="Source Sans 3"/>
              </a:rPr>
              <a:t>AFTER SURGERY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Serum calcium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1F4FA8"/>
                </a:solidFill>
                <a:latin typeface="Source Sans 3"/>
              </a:rPr>
              <a:t>Post-op follow-up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25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9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0832334499854184"/>
                                    </p:val>
                                  </p:tav>
                                  <p:tav tm="100000">
                                    <p:val>
                                      <p:fltVal val="0.39536038203557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8969415281423153"/>
                                    </p:val>
                                  </p:tav>
                                  <p:tav tm="100000">
                                    <p:val>
                                      <p:fltVal val="0.376731189851268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12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" dur="12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3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4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2962160979877514"/>
                                    </p:val>
                                  </p:tav>
                                  <p:tav tm="100000">
                                    <p:val>
                                      <p:fltVal val="0.31665864683581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7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8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2962160979877514"/>
                                    </p:val>
                                  </p:tav>
                                  <p:tav tm="100000">
                                    <p:val>
                                      <p:fltVal val="0.31665864683581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9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2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296215368912219"/>
                                    </p:val>
                                  </p:tav>
                                  <p:tav tm="100000">
                                    <p:val>
                                      <p:fltVal val="0.3166585739282589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5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6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2962168270632836"/>
                                    </p:val>
                                  </p:tav>
                                  <p:tav tm="100000">
                                    <p:val>
                                      <p:fltVal val="0.316658719743365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4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9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0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962840478273549"/>
                                    </p:val>
                                  </p:tav>
                                  <p:tav tm="100000">
                                    <p:val>
                                      <p:fltVal val="0.4833210848643919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3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4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962840478273549"/>
                                    </p:val>
                                  </p:tav>
                                  <p:tav tm="100000">
                                    <p:val>
                                      <p:fltVal val="0.4833210848643919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5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7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8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9628412073490813"/>
                                    </p:val>
                                  </p:tav>
                                  <p:tav tm="100000">
                                    <p:val>
                                      <p:fltVal val="0.483321157771945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2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9628412073490813"/>
                                    </p:val>
                                  </p:tav>
                                  <p:tav tm="100000">
                                    <p:val>
                                      <p:fltVal val="0.483321157771945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5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6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629466316710411"/>
                                    </p:val>
                                  </p:tav>
                                  <p:tav tm="100000">
                                    <p:val>
                                      <p:fltVal val="0.649983668708078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9" dur="9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0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629466316710411"/>
                                    </p:val>
                                  </p:tav>
                                  <p:tav tm="100000">
                                    <p:val>
                                      <p:fltVal val="0.649983668708078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1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3" dur="90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4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629465587634878"/>
                                    </p:val>
                                  </p:tav>
                                  <p:tav tm="100000">
                                    <p:val>
                                      <p:fltVal val="0.649983595800524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7" dur="90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8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629467045785943"/>
                                    </p:val>
                                  </p:tav>
                                  <p:tav tm="100000">
                                    <p:val>
                                      <p:fltVal val="0.649983741615631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9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8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900" fill="hold"/>
                                  <p:tgtEl>
                                    <p:spTgt spid="2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2" dur="900" fill="hold"/>
                                  <p:tgtEl>
                                    <p:spTgt spid="2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296090696996209"/>
                                    </p:val>
                                  </p:tav>
                                  <p:tav tm="100000">
                                    <p:val>
                                      <p:fltVal val="0.816646106736657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3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8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5" dur="900" fill="hold"/>
                                  <p:tgtEl>
                                    <p:spTgt spid="2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6" dur="900" fill="hold"/>
                                  <p:tgtEl>
                                    <p:spTgt spid="2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296090696996209"/>
                                    </p:val>
                                  </p:tav>
                                  <p:tav tm="100000">
                                    <p:val>
                                      <p:fltVal val="0.816646106736657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7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8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9" dur="900" fill="hold"/>
                                  <p:tgtEl>
                                    <p:spTgt spid="2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0" dur="900" fill="hold"/>
                                  <p:tgtEl>
                                    <p:spTgt spid="2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296091426071741"/>
                                    </p:val>
                                  </p:tav>
                                  <p:tav tm="100000">
                                    <p:val>
                                      <p:fltVal val="0.816646179644211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1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9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3" dur="900" fill="hold"/>
                                  <p:tgtEl>
                                    <p:spTgt spid="2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4" dur="900" fill="hold"/>
                                  <p:tgtEl>
                                    <p:spTgt spid="2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296091426071741"/>
                                    </p:val>
                                  </p:tav>
                                  <p:tav tm="100000">
                                    <p:val>
                                      <p:fltVal val="0.816646179644211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08  ·  DIAGNOSIS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Imaging — Ultrasound &amp; Scintigraphy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5460863" cy="3301917"/>
          </a:xfrm>
          <a:prstGeom prst="roundRect">
            <a:avLst>
              <a:gd name="adj" fmla="val 5384"/>
            </a:avLst>
          </a:prstGeom>
          <a:solidFill>
            <a:srgbClr val="F5F8FD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us-multinodula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476" y="1854153"/>
            <a:ext cx="5079873" cy="247643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88977" y="4406789"/>
            <a:ext cx="5206869" cy="257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4FA8"/>
                </a:solidFill>
                <a:latin typeface="Source Sans 3"/>
              </a:rPr>
              <a:t>Ultrasound — multinodular goiter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40336" y="1663658"/>
            <a:ext cx="4889377" cy="3301917"/>
          </a:xfrm>
          <a:prstGeom prst="roundRect">
            <a:avLst>
              <a:gd name="adj" fmla="val 4615"/>
            </a:avLst>
          </a:prstGeom>
          <a:solidFill>
            <a:srgbClr val="1325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94330" y="1879553"/>
            <a:ext cx="700006" cy="34924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94330" y="1907492"/>
            <a:ext cx="700006" cy="29336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Source Sans 3"/>
              </a:rPr>
              <a:t>Size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70534" y="1879553"/>
            <a:ext cx="884913" cy="34924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70534" y="1907492"/>
            <a:ext cx="884913" cy="29336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Source Sans 3"/>
              </a:rPr>
              <a:t>Volume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31646" y="1879553"/>
            <a:ext cx="2456626" cy="34924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31646" y="1907492"/>
            <a:ext cx="2456626" cy="29336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Source Sans 3"/>
              </a:rPr>
              <a:t>Nodule characterization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94330" y="2304992"/>
            <a:ext cx="2826441" cy="34924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94330" y="2332931"/>
            <a:ext cx="2826441" cy="29336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Source Sans 3"/>
              </a:rPr>
              <a:t>TI-RADS risk stratification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1980" y="5156071"/>
            <a:ext cx="10667733" cy="952476"/>
          </a:xfrm>
          <a:prstGeom prst="roundRect">
            <a:avLst>
              <a:gd name="adj" fmla="val 16000"/>
            </a:avLst>
          </a:prstGeom>
          <a:solidFill>
            <a:srgbClr val="FCF9F2"/>
          </a:solidFill>
          <a:ln w="6350">
            <a:solidFill>
              <a:srgbClr val="E9D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5974" y="5327516"/>
            <a:ext cx="609584" cy="609584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6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3131" y="5464673"/>
            <a:ext cx="335271" cy="335271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1841453" y="5219569"/>
            <a:ext cx="1617939" cy="36511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9D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41453" y="5248778"/>
            <a:ext cx="1617939" cy="30669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1">
                <a:solidFill>
                  <a:srgbClr val="8A6A24"/>
                </a:solidFill>
                <a:latin typeface="Source Sans 3"/>
              </a:rPr>
              <a:t>“Hot” = toxic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535591" y="5219569"/>
            <a:ext cx="2212284" cy="36511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9D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35591" y="5248778"/>
            <a:ext cx="2212284" cy="30669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1">
                <a:solidFill>
                  <a:srgbClr val="8A6A24"/>
                </a:solidFill>
                <a:latin typeface="Source Sans 3"/>
              </a:rPr>
              <a:t>“Cold” = suspicious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26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12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" dur="12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6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742888597258676"/>
                                    </p:val>
                                  </p:tav>
                                  <p:tav tm="100000">
                                    <p:val>
                                      <p:fltVal val="0.661325896762904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0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9628412073490813"/>
                                    </p:val>
                                  </p:tav>
                                  <p:tav tm="100000">
                                    <p:val>
                                      <p:fltVal val="0.483321157771945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3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4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1249249052201805"/>
                                    </p:val>
                                  </p:tav>
                                  <p:tav tm="100000">
                                    <p:val>
                                      <p:fltVal val="0.299529527559055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7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8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1249241761446483"/>
                                    </p:val>
                                  </p:tav>
                                  <p:tav tm="100000">
                                    <p:val>
                                      <p:fltVal val="0.299529454651501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9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2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1249249052201805"/>
                                    </p:val>
                                  </p:tav>
                                  <p:tav tm="100000">
                                    <p:val>
                                      <p:fltVal val="0.299529527559055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5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6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1249241761446483"/>
                                    </p:val>
                                  </p:tav>
                                  <p:tav tm="100000">
                                    <p:val>
                                      <p:fltVal val="0.299529454651501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9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0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1249249052201805"/>
                                    </p:val>
                                  </p:tav>
                                  <p:tav tm="100000">
                                    <p:val>
                                      <p:fltVal val="0.299529527559055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5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3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4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1249241761446483"/>
                                    </p:val>
                                  </p:tav>
                                  <p:tav tm="100000">
                                    <p:val>
                                      <p:fltVal val="0.299529454651501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7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8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745279235928842"/>
                                    </p:val>
                                  </p:tav>
                                  <p:tav tm="100000">
                                    <p:val>
                                      <p:fltVal val="0.361564960629921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9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6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2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74527850685331"/>
                                    </p:val>
                                  </p:tav>
                                  <p:tav tm="100000">
                                    <p:val>
                                      <p:fltVal val="0.3615648877223680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5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6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342386993292505"/>
                                    </p:val>
                                  </p:tav>
                                  <p:tav tm="100000">
                                    <p:val>
                                      <p:fltVal val="0.821275736366287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9" dur="9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0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342385535141441"/>
                                    </p:val>
                                  </p:tav>
                                  <p:tav tm="100000">
                                    <p:val>
                                      <p:fltVal val="0.821275590551181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7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3" dur="90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4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342386264216973"/>
                                    </p:val>
                                  </p:tav>
                                  <p:tav tm="100000">
                                    <p:val>
                                      <p:fltVal val="0.821275663458734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7" dur="90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8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006746135899679"/>
                                    </p:val>
                                  </p:tav>
                                  <p:tav tm="100000">
                                    <p:val>
                                      <p:fltVal val="0.7877116506270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8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900" fill="hold"/>
                                  <p:tgtEl>
                                    <p:spTgt spid="2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2" dur="900" fill="hold"/>
                                  <p:tgtEl>
                                    <p:spTgt spid="2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006746135899679"/>
                                    </p:val>
                                  </p:tav>
                                  <p:tav tm="100000">
                                    <p:val>
                                      <p:fltVal val="0.7877116506270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8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5" dur="900" fill="hold"/>
                                  <p:tgtEl>
                                    <p:spTgt spid="2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6" dur="900" fill="hold"/>
                                  <p:tgtEl>
                                    <p:spTgt spid="2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006746135899679"/>
                                    </p:val>
                                  </p:tav>
                                  <p:tav tm="100000">
                                    <p:val>
                                      <p:fltVal val="0.7877116506270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8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9" dur="900" fill="hold"/>
                                  <p:tgtEl>
                                    <p:spTgt spid="2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0" dur="900" fill="hold"/>
                                  <p:tgtEl>
                                    <p:spTgt spid="2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006746135899679"/>
                                    </p:val>
                                  </p:tav>
                                  <p:tav tm="100000">
                                    <p:val>
                                      <p:fltVal val="0.7877116506270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08  ·  DIAGNOSIS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Imaging — CT, MRI &amp; X-ray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4444888" cy="4444888"/>
          </a:xfrm>
          <a:prstGeom prst="roundRect">
            <a:avLst>
              <a:gd name="adj" fmla="val 4000"/>
            </a:avLst>
          </a:prstGeom>
          <a:solidFill>
            <a:srgbClr val="F5F8FD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t-goit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476" y="1854153"/>
            <a:ext cx="4063898" cy="361940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88977" y="5549761"/>
            <a:ext cx="4190895" cy="257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4FA8"/>
                </a:solidFill>
                <a:latin typeface="Source Sans 3"/>
              </a:rPr>
              <a:t>CT — enlarged nodular thyroid (arrow)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24361" y="1663658"/>
            <a:ext cx="5905352" cy="2146246"/>
          </a:xfrm>
          <a:prstGeom prst="roundRect">
            <a:avLst>
              <a:gd name="adj" fmla="val 6508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752956" y="1917652"/>
            <a:ext cx="698482" cy="698482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6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0114" y="2074810"/>
            <a:ext cx="384165" cy="38416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752956" y="2806629"/>
            <a:ext cx="5448163" cy="114220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00">
                <a:solidFill>
                  <a:srgbClr val="1F4FA8"/>
                </a:solidFill>
                <a:latin typeface="Source Sans 3"/>
              </a:rPr>
              <a:t>CROSS-SECTIONAL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3254D"/>
                </a:solidFill>
                <a:latin typeface="Playfair Display"/>
              </a:rPr>
              <a:t>CT / MRI of neck &amp; chest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1F4FA8"/>
                </a:solidFill>
                <a:latin typeface="Source Sans 3"/>
              </a:rPr>
              <a:t>Retrosternal extension · airway &amp; esophageal compression assessment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24361" y="3962300"/>
            <a:ext cx="5905352" cy="2146246"/>
          </a:xfrm>
          <a:prstGeom prst="roundRect">
            <a:avLst>
              <a:gd name="adj" fmla="val 6508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752956" y="4216294"/>
            <a:ext cx="698482" cy="698482"/>
          </a:xfrm>
          <a:prstGeom prst="ellipse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2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0114" y="4373453"/>
            <a:ext cx="384165" cy="38416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752956" y="5105272"/>
            <a:ext cx="5448163" cy="9146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00">
                <a:solidFill>
                  <a:srgbClr val="0B6E70"/>
                </a:solidFill>
                <a:latin typeface="Source Sans 3"/>
              </a:rPr>
              <a:t>PLAIN FILM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3254D"/>
                </a:solidFill>
                <a:latin typeface="Playfair Display"/>
              </a:rPr>
              <a:t>Chest X-ray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0B6E70"/>
                </a:solidFill>
                <a:latin typeface="Source Sans 3"/>
              </a:rPr>
              <a:t>Tracheal deviation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27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12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" dur="12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6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409514435695538"/>
                                    </p:val>
                                  </p:tav>
                                  <p:tav tm="100000">
                                    <p:val>
                                      <p:fltVal val="0.827988480606590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0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1202697579469233"/>
                                    </p:val>
                                  </p:tav>
                                  <p:tav tm="100000">
                                    <p:val>
                                      <p:fltVal val="0.39906401283172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3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4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4351020705745117"/>
                                    </p:val>
                                  </p:tav>
                                  <p:tav tm="100000">
                                    <p:val>
                                      <p:fltVal val="0.330547244094488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7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8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435101341498979"/>
                                    </p:val>
                                  </p:tav>
                                  <p:tav tm="100000">
                                    <p:val>
                                      <p:fltVal val="0.330547171186934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4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2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05487532808399"/>
                                    </p:val>
                                  </p:tav>
                                  <p:tav tm="100000">
                                    <p:val>
                                      <p:fltVal val="0.4925245698454359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5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6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72037037037037"/>
                                    </p:val>
                                  </p:tav>
                                  <p:tav tm="100000">
                                    <p:val>
                                      <p:fltVal val="0.734240740740740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9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0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786869349664625"/>
                                    </p:val>
                                  </p:tav>
                                  <p:tav tm="100000">
                                    <p:val>
                                      <p:fltVal val="0.665723972003499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5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3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4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786870078740157"/>
                                    </p:val>
                                  </p:tav>
                                  <p:tav tm="100000">
                                    <p:val>
                                      <p:fltVal val="0.665724044911052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7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8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240722513852435"/>
                                    </p:val>
                                  </p:tav>
                                  <p:tav tm="100000">
                                    <p:val>
                                      <p:fltVal val="0.811109288422280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08  ·  DIAGNOSIS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Tissue Diagnosis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10667733" cy="2095447"/>
          </a:xfrm>
          <a:prstGeom prst="roundRect">
            <a:avLst>
              <a:gd name="adj" fmla="val 7878"/>
            </a:avLst>
          </a:prstGeom>
          <a:solidFill>
            <a:srgbClr val="1325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42971" y="2273243"/>
            <a:ext cx="888977" cy="88897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2991" y="2473263"/>
            <a:ext cx="488937" cy="48893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349441" y="1854153"/>
            <a:ext cx="8889777" cy="1714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E7CF96"/>
                </a:solidFill>
                <a:latin typeface="Source Sans 3"/>
              </a:rPr>
              <a:t>STEP 4 · TISSUE DIAGNOSIS — GOLD STANDARD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FFFFFF"/>
                </a:solidFill>
                <a:latin typeface="Playfair Display"/>
              </a:rPr>
              <a:t>Fine-needle aspiration biopsy (FNAB)</a:t>
            </a:r>
          </a:p>
          <a:p>
            <a:pPr algn="l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0" i="0">
                <a:solidFill>
                  <a:srgbClr val="E7CF96"/>
                </a:solidFill>
                <a:latin typeface="Source Sans 3"/>
              </a:rPr>
              <a:t>For evaluating suspicious nodules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1980" y="3949601"/>
            <a:ext cx="5238619" cy="2158946"/>
          </a:xfrm>
          <a:prstGeom prst="roundRect">
            <a:avLst>
              <a:gd name="adj" fmla="val 6470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0575" y="4203594"/>
            <a:ext cx="698482" cy="698482"/>
          </a:xfrm>
          <a:prstGeom prst="ellipse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733" y="4360753"/>
            <a:ext cx="384165" cy="38416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90575" y="5092572"/>
            <a:ext cx="4781430" cy="6865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3254D"/>
                </a:solidFill>
                <a:latin typeface="Playfair Display"/>
              </a:rPr>
              <a:t>Gold standard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0B6E70"/>
                </a:solidFill>
                <a:latin typeface="Source Sans 3"/>
              </a:rPr>
              <a:t>For tissue diagnosis of suspicious nodules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1095" y="3949601"/>
            <a:ext cx="5238619" cy="2158946"/>
          </a:xfrm>
          <a:prstGeom prst="roundRect">
            <a:avLst>
              <a:gd name="adj" fmla="val 6470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19689" y="4203594"/>
            <a:ext cx="698482" cy="698482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6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6848" y="4360753"/>
            <a:ext cx="384165" cy="38416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19689" y="5092572"/>
            <a:ext cx="4781430" cy="6865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3254D"/>
                </a:solidFill>
                <a:latin typeface="Playfair Display"/>
              </a:rPr>
              <a:t>Bethesda classification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8A6A24"/>
                </a:solidFill>
                <a:latin typeface="Source Sans 3"/>
              </a:rPr>
              <a:t>Used to report FNAB results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28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9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0832334499854184"/>
                                    </p:val>
                                  </p:tav>
                                  <p:tav tm="100000">
                                    <p:val>
                                      <p:fltVal val="0.39536038203557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092492709244678"/>
                                    </p:val>
                                  </p:tav>
                                  <p:tav tm="100000">
                                    <p:val>
                                      <p:fltVal val="0.396286307961504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8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092492709244678"/>
                                    </p:val>
                                  </p:tav>
                                  <p:tav tm="100000">
                                    <p:val>
                                      <p:fltVal val="0.396286307961504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2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0832334499854184"/>
                                    </p:val>
                                  </p:tav>
                                  <p:tav tm="100000">
                                    <p:val>
                                      <p:fltVal val="0.39536038203557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5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6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62779235928843"/>
                                    </p:val>
                                  </p:tav>
                                  <p:tav tm="100000">
                                    <p:val>
                                      <p:fltVal val="0.733314960629921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0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768350831146107"/>
                                    </p:val>
                                  </p:tav>
                                  <p:tav tm="100000">
                                    <p:val>
                                      <p:fltVal val="0.663872120151647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3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4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768351560221639"/>
                                    </p:val>
                                  </p:tav>
                                  <p:tav tm="100000">
                                    <p:val>
                                      <p:fltVal val="0.66387219305920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5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7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8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055911344415281"/>
                                    </p:val>
                                  </p:tav>
                                  <p:tav tm="100000">
                                    <p:val>
                                      <p:fltVal val="0.792628171478565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2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62779235928843"/>
                                    </p:val>
                                  </p:tav>
                                  <p:tav tm="100000">
                                    <p:val>
                                      <p:fltVal val="0.733314960629921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5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6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768350831146107"/>
                                    </p:val>
                                  </p:tav>
                                  <p:tav tm="100000">
                                    <p:val>
                                      <p:fltVal val="0.663872120151647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9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0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768351560221639"/>
                                    </p:val>
                                  </p:tav>
                                  <p:tav tm="100000">
                                    <p:val>
                                      <p:fltVal val="0.66387219305920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3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4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055911344415281"/>
                                    </p:val>
                                  </p:tav>
                                  <p:tav tm="100000">
                                    <p:val>
                                      <p:fltVal val="0.792628171478565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09  ·  MEDICAL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Medical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5238619" cy="2158946"/>
          </a:xfrm>
          <a:prstGeom prst="roundRect">
            <a:avLst>
              <a:gd name="adj" fmla="val 6470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90575" y="1917652"/>
            <a:ext cx="698482" cy="698482"/>
          </a:xfrm>
          <a:prstGeom prst="ellipse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733" y="2074810"/>
            <a:ext cx="384165" cy="38416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90575" y="2806629"/>
            <a:ext cx="4781430" cy="9141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3254D"/>
                </a:solidFill>
                <a:latin typeface="Playfair Display"/>
              </a:rPr>
              <a:t>Observation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0B6E70"/>
                </a:solidFill>
                <a:latin typeface="Source Sans 3"/>
              </a:rPr>
              <a:t>Small, asymptomatic, euthyroid goiters → periodic clinical &amp; ultrasound follow-up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1095" y="1663658"/>
            <a:ext cx="5238619" cy="2158946"/>
          </a:xfrm>
          <a:prstGeom prst="roundRect">
            <a:avLst>
              <a:gd name="adj" fmla="val 6470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19689" y="1917652"/>
            <a:ext cx="698482" cy="698482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6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6848" y="2074810"/>
            <a:ext cx="384165" cy="38416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19689" y="2806629"/>
            <a:ext cx="4781430" cy="9141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3254D"/>
                </a:solidFill>
                <a:latin typeface="Playfair Display"/>
              </a:rPr>
              <a:t>Iodine supplementation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8A6A24"/>
                </a:solidFill>
                <a:latin typeface="Source Sans 3"/>
              </a:rPr>
              <a:t>For iodine-deficiency goiter — e.g., potassium iodide; dietary correction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1980" y="4013099"/>
            <a:ext cx="10667733" cy="2095447"/>
          </a:xfrm>
          <a:prstGeom prst="roundRect">
            <a:avLst>
              <a:gd name="adj" fmla="val 7272"/>
            </a:avLst>
          </a:prstGeom>
          <a:solidFill>
            <a:srgbClr val="1325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79473" y="4521086"/>
            <a:ext cx="825479" cy="82547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6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5205" y="4706819"/>
            <a:ext cx="454013" cy="454013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2158946" y="4140096"/>
            <a:ext cx="3678336" cy="33336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58946" y="4166765"/>
            <a:ext cx="3678336" cy="28002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Source Sans 3"/>
              </a:rPr>
              <a:t>TSH suppression — simple diffuse goiter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13480" y="4140096"/>
            <a:ext cx="3334936" cy="33336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13480" y="4166765"/>
            <a:ext cx="3334936" cy="28002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Source Sans 3"/>
              </a:rPr>
              <a:t>Mandatory after total thyroidectomy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158946" y="4549661"/>
            <a:ext cx="2133038" cy="33336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58946" y="4576330"/>
            <a:ext cx="2133038" cy="28002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Source Sans 3"/>
              </a:rPr>
              <a:t>Treats hypothyroidism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29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9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1295290172061827"/>
                                    </p:val>
                                  </p:tav>
                                  <p:tav tm="100000">
                                    <p:val>
                                      <p:fltVal val="0.399989938757655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4351020705745117"/>
                                    </p:val>
                                  </p:tav>
                                  <p:tav tm="100000">
                                    <p:val>
                                      <p:fltVal val="0.330547244094488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8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435101341498979"/>
                                    </p:val>
                                  </p:tav>
                                  <p:tav tm="100000">
                                    <p:val>
                                      <p:fltVal val="0.330547171186934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2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8885834062408867"/>
                                    </p:val>
                                  </p:tav>
                                  <p:tav tm="100000">
                                    <p:val>
                                      <p:fltVal val="0.475895377661125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5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6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1295290172061827"/>
                                    </p:val>
                                  </p:tav>
                                  <p:tav tm="100000">
                                    <p:val>
                                      <p:fltVal val="0.399989938757655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0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4351020705745117"/>
                                    </p:val>
                                  </p:tav>
                                  <p:tav tm="100000">
                                    <p:val>
                                      <p:fltVal val="0.330547244094488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3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4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435101341498979"/>
                                    </p:val>
                                  </p:tav>
                                  <p:tav tm="100000">
                                    <p:val>
                                      <p:fltVal val="0.330547171186934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7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8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8885834062408867"/>
                                    </p:val>
                                  </p:tav>
                                  <p:tav tm="100000">
                                    <p:val>
                                      <p:fltVal val="0.475895377661125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2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509073344998541"/>
                                    </p:val>
                                  </p:tav>
                                  <p:tav tm="100000">
                                    <p:val>
                                      <p:fltVal val="0.737944371536891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5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6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32389253426655"/>
                                    </p:val>
                                  </p:tav>
                                  <p:tav tm="100000">
                                    <p:val>
                                      <p:fltVal val="0.71942629046369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9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0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32389253426655"/>
                                    </p:val>
                                  </p:tav>
                                  <p:tav tm="100000">
                                    <p:val>
                                      <p:fltVal val="0.71942629046369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3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4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409564012831729"/>
                                    </p:val>
                                  </p:tav>
                                  <p:tav tm="100000">
                                    <p:val>
                                      <p:fltVal val="0.627993438320209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7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8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409563283756197"/>
                                    </p:val>
                                  </p:tav>
                                  <p:tav tm="100000">
                                    <p:val>
                                      <p:fltVal val="0.627993365412656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9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2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409564012831729"/>
                                    </p:val>
                                  </p:tav>
                                  <p:tav tm="100000">
                                    <p:val>
                                      <p:fltVal val="0.627993438320209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5" dur="90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6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409563283756197"/>
                                    </p:val>
                                  </p:tav>
                                  <p:tav tm="100000">
                                    <p:val>
                                      <p:fltVal val="0.627993365412656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9" dur="90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0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006771653543307"/>
                                    </p:val>
                                  </p:tav>
                                  <p:tav tm="100000">
                                    <p:val>
                                      <p:fltVal val="0.687714202391367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1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8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3" dur="900" fill="hold"/>
                                  <p:tgtEl>
                                    <p:spTgt spid="2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4" dur="900" fill="hold"/>
                                  <p:tgtEl>
                                    <p:spTgt spid="2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006770924467774"/>
                                    </p:val>
                                  </p:tav>
                                  <p:tav tm="100000">
                                    <p:val>
                                      <p:fltVal val="0.687714129483814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09  ·  MEDICAL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Treating Thyroid Overactivity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3428914" cy="4444888"/>
          </a:xfrm>
          <a:prstGeom prst="roundRect">
            <a:avLst>
              <a:gd name="adj" fmla="val 4074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90575" y="2616134"/>
            <a:ext cx="698482" cy="698482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733" y="2773293"/>
            <a:ext cx="384165" cy="38416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90575" y="3505112"/>
            <a:ext cx="2971725" cy="9141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3254D"/>
                </a:solidFill>
                <a:latin typeface="Playfair Display"/>
              </a:rPr>
              <a:t>Antithyroid drugs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1F4FA8"/>
                </a:solidFill>
                <a:latin typeface="Source Sans 3"/>
              </a:rPr>
              <a:t>Methimazole or propylthiouracil (PTU) — toxic goiter / Graves’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1390" y="1663658"/>
            <a:ext cx="3428914" cy="4444888"/>
          </a:xfrm>
          <a:prstGeom prst="roundRect">
            <a:avLst>
              <a:gd name="adj" fmla="val 4074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609984" y="2616134"/>
            <a:ext cx="698482" cy="698482"/>
          </a:xfrm>
          <a:prstGeom prst="ellipse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7143" y="2773293"/>
            <a:ext cx="384165" cy="38416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09984" y="3505112"/>
            <a:ext cx="2971725" cy="6865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3254D"/>
                </a:solidFill>
                <a:latin typeface="Playfair Display"/>
              </a:rPr>
              <a:t>Beta-blockers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0B6E70"/>
                </a:solidFill>
                <a:latin typeface="Source Sans 3"/>
              </a:rPr>
              <a:t>Propranolol — symptom control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0799" y="1663658"/>
            <a:ext cx="3428914" cy="4444888"/>
          </a:xfrm>
          <a:prstGeom prst="roundRect">
            <a:avLst>
              <a:gd name="adj" fmla="val 4074"/>
            </a:avLst>
          </a:prstGeom>
          <a:solidFill>
            <a:srgbClr val="FCF9F2"/>
          </a:solidFill>
          <a:ln w="6350">
            <a:solidFill>
              <a:srgbClr val="E9D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229394" y="2616134"/>
            <a:ext cx="698482" cy="698482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6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6552" y="2773293"/>
            <a:ext cx="384165" cy="38416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29394" y="3505112"/>
            <a:ext cx="2971725" cy="11417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3254D"/>
                </a:solidFill>
                <a:latin typeface="Playfair Display"/>
              </a:rPr>
              <a:t>Radioactive iodine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8A6A24"/>
                </a:solidFill>
                <a:latin typeface="Source Sans 3"/>
              </a:rPr>
              <a:t>RAI, I-131 · ablates hyperfunctioning tissue · shrinks toxic MNG &amp; Graves’ goiter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30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9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9615339749198"/>
                                    </p:val>
                                  </p:tav>
                                  <p:tav tm="100000">
                                    <p:val>
                                      <p:fltVal val="0.56665237678623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45359434237387"/>
                                    </p:val>
                                  </p:tav>
                                  <p:tav tm="100000">
                                    <p:val>
                                      <p:fltVal val="0.4323964712744240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8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453595071449402"/>
                                    </p:val>
                                  </p:tav>
                                  <p:tav tm="100000">
                                    <p:val>
                                      <p:fltVal val="0.4323965441819772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2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907077136191309"/>
                                    </p:val>
                                  </p:tav>
                                  <p:tav tm="100000">
                                    <p:val>
                                      <p:fltVal val="0.577744750656167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5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6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9615339749198"/>
                                    </p:val>
                                  </p:tav>
                                  <p:tav tm="100000">
                                    <p:val>
                                      <p:fltVal val="0.56665237678623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0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45359434237387"/>
                                    </p:val>
                                  </p:tav>
                                  <p:tav tm="100000">
                                    <p:val>
                                      <p:fltVal val="0.4323964712744240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3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4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453595071449402"/>
                                    </p:val>
                                  </p:tav>
                                  <p:tav tm="100000">
                                    <p:val>
                                      <p:fltVal val="0.4323965441819772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7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8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41154855643045"/>
                                    </p:val>
                                  </p:tav>
                                  <p:tav tm="100000">
                                    <p:val>
                                      <p:fltVal val="0.561152522601341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2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9615339749198"/>
                                    </p:val>
                                  </p:tav>
                                  <p:tav tm="100000">
                                    <p:val>
                                      <p:fltVal val="0.56665237678623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5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6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45359434237387"/>
                                    </p:val>
                                  </p:tav>
                                  <p:tav tm="100000">
                                    <p:val>
                                      <p:fltVal val="0.4323964712744240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9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0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453595071449402"/>
                                    </p:val>
                                  </p:tav>
                                  <p:tav tm="100000">
                                    <p:val>
                                      <p:fltVal val="0.4323965441819772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3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4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072998687664042"/>
                                    </p:val>
                                  </p:tav>
                                  <p:tav tm="100000">
                                    <p:val>
                                      <p:fltVal val="0.594336905803441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09  ·  MEDICAL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Surgery — Thyroidectomy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3555911" cy="4444888"/>
          </a:xfrm>
          <a:prstGeom prst="roundRect">
            <a:avLst>
              <a:gd name="adj" fmla="val 5000"/>
            </a:avLst>
          </a:prstGeom>
          <a:solidFill>
            <a:srgbClr val="F5F8FD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ultinodular-goi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476" y="1854153"/>
            <a:ext cx="3174920" cy="361940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88977" y="5549761"/>
            <a:ext cx="3301917" cy="257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4FA8"/>
                </a:solidFill>
                <a:latin typeface="Source Sans 3"/>
              </a:rPr>
              <a:t>Large nodular goiter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35384" y="1663658"/>
            <a:ext cx="6794330" cy="32384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B8923E"/>
                </a:solidFill>
                <a:latin typeface="Source Sans 3"/>
              </a:rPr>
              <a:t>SURGERY · THYROIDECTOMY — INDICATIONS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35384" y="1981150"/>
            <a:ext cx="6794330" cy="520686"/>
          </a:xfrm>
          <a:prstGeom prst="roundRect">
            <a:avLst>
              <a:gd name="adj" fmla="val 26829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38579" y="2120846"/>
            <a:ext cx="241293" cy="241293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870" y="2175138"/>
            <a:ext cx="132711" cy="13271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257668" y="2070048"/>
            <a:ext cx="5981550" cy="34289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Compressive symptoms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35384" y="2590735"/>
            <a:ext cx="6794330" cy="520686"/>
          </a:xfrm>
          <a:prstGeom prst="roundRect">
            <a:avLst>
              <a:gd name="adj" fmla="val 26829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838579" y="2730431"/>
            <a:ext cx="241293" cy="241293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3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870" y="2784722"/>
            <a:ext cx="132711" cy="13271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257668" y="2679633"/>
            <a:ext cx="5981550" cy="34289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Suspected / proven malignancy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35384" y="3200319"/>
            <a:ext cx="6794330" cy="520686"/>
          </a:xfrm>
          <a:prstGeom prst="roundRect">
            <a:avLst>
              <a:gd name="adj" fmla="val 26829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838579" y="3340016"/>
            <a:ext cx="241293" cy="241293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2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92870" y="3394307"/>
            <a:ext cx="132711" cy="13271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257668" y="3289217"/>
            <a:ext cx="5981550" cy="34289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Retrosternal extension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35384" y="3809904"/>
            <a:ext cx="6794330" cy="520686"/>
          </a:xfrm>
          <a:prstGeom prst="roundRect">
            <a:avLst>
              <a:gd name="adj" fmla="val 26829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838579" y="3949601"/>
            <a:ext cx="241293" cy="241293"/>
          </a:xfrm>
          <a:prstGeom prst="ellipse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7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92870" y="4003892"/>
            <a:ext cx="132711" cy="132711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257668" y="3898802"/>
            <a:ext cx="5981550" cy="34289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Cosmetic concern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35384" y="4419489"/>
            <a:ext cx="6794330" cy="520686"/>
          </a:xfrm>
          <a:prstGeom prst="roundRect">
            <a:avLst>
              <a:gd name="adj" fmla="val 26829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838579" y="4559186"/>
            <a:ext cx="241293" cy="241293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7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92870" y="4613477"/>
            <a:ext cx="132711" cy="132711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257668" y="4508387"/>
            <a:ext cx="5981550" cy="34289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Failed medical therapy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635384" y="5092572"/>
            <a:ext cx="6794330" cy="1015974"/>
          </a:xfrm>
          <a:prstGeom prst="roundRect">
            <a:avLst>
              <a:gd name="adj" fmla="val 13750"/>
            </a:avLst>
          </a:prstGeom>
          <a:solidFill>
            <a:srgbClr val="1325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889377" y="5219569"/>
            <a:ext cx="825479" cy="36511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89377" y="5248778"/>
            <a:ext cx="825479" cy="30669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Source Sans 3"/>
              </a:rPr>
              <a:t>Total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791055" y="5219569"/>
            <a:ext cx="1320766" cy="36511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91055" y="5248778"/>
            <a:ext cx="1320766" cy="30669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Source Sans 3"/>
              </a:rPr>
              <a:t>Near-total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188020" y="5219569"/>
            <a:ext cx="1221709" cy="36511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188020" y="5248778"/>
            <a:ext cx="1221709" cy="30669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Source Sans 3"/>
              </a:rPr>
              <a:t>Lobectomy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31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12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" dur="12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6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409514435695538"/>
                                    </p:val>
                                  </p:tav>
                                  <p:tav tm="100000">
                                    <p:val>
                                      <p:fltVal val="0.827988480606590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0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7915988626421695"/>
                                    </p:val>
                                  </p:tav>
                                  <p:tav tm="100000">
                                    <p:val>
                                      <p:fltVal val="0.26619692330125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3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4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3980650335374746"/>
                                    </p:val>
                                  </p:tav>
                                  <p:tav tm="100000">
                                    <p:val>
                                      <p:fltVal val="0.326843540390784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7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8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3980643044619424"/>
                                    </p:val>
                                  </p:tav>
                                  <p:tav tm="100000">
                                    <p:val>
                                      <p:fltVal val="0.326843467483231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9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2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398065762613007"/>
                                    </p:val>
                                  </p:tav>
                                  <p:tav tm="100000">
                                    <p:val>
                                      <p:fltVal val="0.326843613298337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5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6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398065762613007"/>
                                    </p:val>
                                  </p:tav>
                                  <p:tav tm="100000">
                                    <p:val>
                                      <p:fltVal val="0.326843613298337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4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9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0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2869320501603964"/>
                                    </p:val>
                                  </p:tav>
                                  <p:tav tm="100000">
                                    <p:val>
                                      <p:fltVal val="0.415730242053076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3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4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286931321084864"/>
                                    </p:val>
                                  </p:tav>
                                  <p:tav tm="100000">
                                    <p:val>
                                      <p:fltVal val="0.4157301691455234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5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7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8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286931321084864"/>
                                    </p:val>
                                  </p:tav>
                                  <p:tav tm="100000">
                                    <p:val>
                                      <p:fltVal val="0.4157301691455234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2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2869327792359285"/>
                                    </p:val>
                                  </p:tav>
                                  <p:tav tm="100000">
                                    <p:val>
                                      <p:fltVal val="0.415730314960629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5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6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175797608632254"/>
                                    </p:val>
                                  </p:tav>
                                  <p:tav tm="100000">
                                    <p:val>
                                      <p:fltVal val="0.504616797900262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9" dur="9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0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175798337707787"/>
                                    </p:val>
                                  </p:tav>
                                  <p:tav tm="100000">
                                    <p:val>
                                      <p:fltVal val="0.504616870807815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1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3" dur="90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4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175798337707787"/>
                                    </p:val>
                                  </p:tav>
                                  <p:tav tm="100000">
                                    <p:val>
                                      <p:fltVal val="0.504616870807815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7" dur="90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8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175798337707787"/>
                                    </p:val>
                                  </p:tav>
                                  <p:tav tm="100000">
                                    <p:val>
                                      <p:fltVal val="0.504616870807815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9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8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900" fill="hold"/>
                                  <p:tgtEl>
                                    <p:spTgt spid="2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2" dur="900" fill="hold"/>
                                  <p:tgtEl>
                                    <p:spTgt spid="2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064664625255176"/>
                                    </p:val>
                                  </p:tav>
                                  <p:tav tm="100000">
                                    <p:val>
                                      <p:fltVal val="0.593503499562554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3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8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5" dur="900" fill="hold"/>
                                  <p:tgtEl>
                                    <p:spTgt spid="2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6" dur="900" fill="hold"/>
                                  <p:tgtEl>
                                    <p:spTgt spid="2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064665354330708"/>
                                    </p:val>
                                  </p:tav>
                                  <p:tav tm="100000">
                                    <p:val>
                                      <p:fltVal val="0.593503572470107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7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8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9" dur="900" fill="hold"/>
                                  <p:tgtEl>
                                    <p:spTgt spid="2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0" dur="900" fill="hold"/>
                                  <p:tgtEl>
                                    <p:spTgt spid="2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064665354330708"/>
                                    </p:val>
                                  </p:tav>
                                  <p:tav tm="100000">
                                    <p:val>
                                      <p:fltVal val="0.593503572470107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1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9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3" dur="900" fill="hold"/>
                                  <p:tgtEl>
                                    <p:spTgt spid="2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4" dur="900" fill="hold"/>
                                  <p:tgtEl>
                                    <p:spTgt spid="2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064665354330708"/>
                                    </p:val>
                                  </p:tav>
                                  <p:tav tm="100000">
                                    <p:val>
                                      <p:fltVal val="0.593503572470107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5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9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7" dur="900" fill="hold"/>
                                  <p:tgtEl>
                                    <p:spTgt spid="2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8" dur="900" fill="hold"/>
                                  <p:tgtEl>
                                    <p:spTgt spid="2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953531641878099"/>
                                    </p:val>
                                  </p:tav>
                                  <p:tav tm="100000">
                                    <p:val>
                                      <p:fltVal val="0.68239020122484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9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10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900" fill="hold"/>
                                  <p:tgtEl>
                                    <p:spTgt spid="2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02" dur="900" fill="hold"/>
                                  <p:tgtEl>
                                    <p:spTgt spid="2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953532370953631"/>
                                    </p:val>
                                  </p:tav>
                                  <p:tav tm="100000">
                                    <p:val>
                                      <p:fltVal val="0.682390274132400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3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10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5" dur="900" fill="hold"/>
                                  <p:tgtEl>
                                    <p:spTgt spid="2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06" dur="900" fill="hold"/>
                                  <p:tgtEl>
                                    <p:spTgt spid="2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953532370953631"/>
                                    </p:val>
                                  </p:tav>
                                  <p:tav tm="100000">
                                    <p:val>
                                      <p:fltVal val="0.682390274132400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7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10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9" dur="900" fill="hold"/>
                                  <p:tgtEl>
                                    <p:spTgt spid="2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10" dur="900" fill="hold"/>
                                  <p:tgtEl>
                                    <p:spTgt spid="2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953532370953631"/>
                                    </p:val>
                                  </p:tav>
                                  <p:tav tm="100000">
                                    <p:val>
                                      <p:fltVal val="0.682390274132400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11" presetID="10" presetClass="entr" presetSubtype="0" fill="hold" grpId="0" nodeType="withEffect">
                            <p:stCondLst>
                              <p:cond delay="840"/>
                            </p:stCondLst>
                            <p:childTnLst>
                              <p:set>
                                <p:cBhvr>
                                  <p:cTn id="1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3" dur="900" fill="hold"/>
                                  <p:tgtEl>
                                    <p:spTgt spid="3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14" dur="900" fill="hold"/>
                                  <p:tgtEl>
                                    <p:spTgt spid="3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296090696996209"/>
                                    </p:val>
                                  </p:tav>
                                  <p:tav tm="100000">
                                    <p:val>
                                      <p:fltVal val="0.816646106736657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15" presetID="10" presetClass="entr" presetSubtype="0" fill="hold" grpId="0" nodeType="withEffect">
                            <p:stCondLst>
                              <p:cond delay="960"/>
                            </p:stCondLst>
                            <p:childTnLst>
                              <p:set>
                                <p:cBhvr>
                                  <p:cTn id="1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7" dur="900" fill="hold"/>
                                  <p:tgtEl>
                                    <p:spTgt spid="3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18" dur="900" fill="hold"/>
                                  <p:tgtEl>
                                    <p:spTgt spid="3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006746135899679"/>
                                    </p:val>
                                  </p:tav>
                                  <p:tav tm="100000">
                                    <p:val>
                                      <p:fltVal val="0.7877116506270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19" presetID="10" presetClass="entr" presetSubtype="0" fill="hold" grpId="0" nodeType="withEffect">
                            <p:stCondLst>
                              <p:cond delay="960"/>
                            </p:stCondLst>
                            <p:childTnLst>
                              <p:set>
                                <p:cBhvr>
                                  <p:cTn id="1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900" fill="hold"/>
                                  <p:tgtEl>
                                    <p:spTgt spid="3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2" dur="900" fill="hold"/>
                                  <p:tgtEl>
                                    <p:spTgt spid="3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006746135899679"/>
                                    </p:val>
                                  </p:tav>
                                  <p:tav tm="100000">
                                    <p:val>
                                      <p:fltVal val="0.7877116506270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23" presetID="10" presetClass="entr" presetSubtype="0" fill="hold" grpId="0" nodeType="withEffect">
                            <p:stCondLst>
                              <p:cond delay="960"/>
                            </p:stCondLst>
                            <p:childTnLst>
                              <p:set>
                                <p:cBhvr>
                                  <p:cTn id="1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5" dur="900" fill="hold"/>
                                  <p:tgtEl>
                                    <p:spTgt spid="3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6" dur="900" fill="hold"/>
                                  <p:tgtEl>
                                    <p:spTgt spid="3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006746135899679"/>
                                    </p:val>
                                  </p:tav>
                                  <p:tav tm="100000">
                                    <p:val>
                                      <p:fltVal val="0.7877116506270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27" presetID="10" presetClass="entr" presetSubtype="0" fill="hold" grpId="0" nodeType="withEffect">
                            <p:stCondLst>
                              <p:cond delay="960"/>
                            </p:stCondLst>
                            <p:childTnLst>
                              <p:set>
                                <p:cBhvr>
                                  <p:cTn id="1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9" dur="900" fill="hold"/>
                                  <p:tgtEl>
                                    <p:spTgt spid="3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30" dur="900" fill="hold"/>
                                  <p:tgtEl>
                                    <p:spTgt spid="3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006746135899679"/>
                                    </p:val>
                                  </p:tav>
                                  <p:tav tm="100000">
                                    <p:val>
                                      <p:fltVal val="0.7877116506270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1" presetID="10" presetClass="entr" presetSubtype="0" fill="hold" grpId="0" nodeType="withEffect">
                            <p:stCondLst>
                              <p:cond delay="960"/>
                            </p:stCondLst>
                            <p:childTnLst>
                              <p:set>
                                <p:cBhvr>
                                  <p:cTn id="1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3" dur="900" fill="hold"/>
                                  <p:tgtEl>
                                    <p:spTgt spid="3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34" dur="900" fill="hold"/>
                                  <p:tgtEl>
                                    <p:spTgt spid="3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006746135899679"/>
                                    </p:val>
                                  </p:tav>
                                  <p:tav tm="100000">
                                    <p:val>
                                      <p:fltVal val="0.7877116506270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5" presetID="10" presetClass="entr" presetSubtype="0" fill="hold" grpId="0" nodeType="withEffect">
                            <p:stCondLst>
                              <p:cond delay="960"/>
                            </p:stCondLst>
                            <p:childTnLst>
                              <p:set>
                                <p:cBhvr>
                                  <p:cTn id="1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7" dur="900" fill="hold"/>
                                  <p:tgtEl>
                                    <p:spTgt spid="3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38" dur="900" fill="hold"/>
                                  <p:tgtEl>
                                    <p:spTgt spid="3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006746135899679"/>
                                    </p:val>
                                  </p:tav>
                                  <p:tav tm="100000">
                                    <p:val>
                                      <p:fltVal val="0.7877116506270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53993" y="253993"/>
            <a:ext cx="11683707" cy="6349841"/>
          </a:xfrm>
          <a:prstGeom prst="rect">
            <a:avLst/>
          </a:prstGeom>
          <a:noFill/>
          <a:ln w="9525">
            <a:solidFill>
              <a:srgbClr val="B89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492812" y="1079473"/>
            <a:ext cx="4698882" cy="469888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ultinodular-goi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5288" y="1587460"/>
            <a:ext cx="2793930" cy="36956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52476" y="1904952"/>
            <a:ext cx="5714857" cy="28891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 spc="350">
                <a:solidFill>
                  <a:srgbClr val="0F8B8D"/>
                </a:solidFill>
                <a:latin typeface="Source Sans 3"/>
              </a:rPr>
              <a:t>SECTION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27076" y="2260543"/>
            <a:ext cx="6349841" cy="18617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200" b="1" i="0">
                <a:solidFill>
                  <a:srgbClr val="13254D"/>
                </a:solidFill>
                <a:latin typeface="Playfair Display"/>
              </a:rPr>
              <a:t>Nursing Management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952476" y="4254393"/>
            <a:ext cx="1269968" cy="2539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52476" y="4546486"/>
            <a:ext cx="2133038" cy="33336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F4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2476" y="4573155"/>
            <a:ext cx="2133038" cy="28002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1F4FA8"/>
                </a:solidFill>
                <a:latin typeface="Source Sans 3"/>
              </a:rPr>
              <a:t>Pre-op / Non-surgical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61712" y="4546486"/>
            <a:ext cx="1532089" cy="33336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F4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61712" y="4573155"/>
            <a:ext cx="1532089" cy="28002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1F4FA8"/>
                </a:solidFill>
                <a:latin typeface="Source Sans 3"/>
              </a:rPr>
              <a:t>Post-op Airway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70000" y="4546486"/>
            <a:ext cx="1360389" cy="33336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F4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70000" y="4573155"/>
            <a:ext cx="1360389" cy="28002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1F4FA8"/>
                </a:solidFill>
                <a:latin typeface="Source Sans 3"/>
              </a:rPr>
              <a:t>Hypocalcemia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6588" y="4546486"/>
            <a:ext cx="1016990" cy="33336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F4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06588" y="4573155"/>
            <a:ext cx="1016990" cy="28002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1F4FA8"/>
                </a:solidFill>
                <a:latin typeface="Source Sans 3"/>
              </a:rPr>
              <a:t>Recovery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2476" y="4956051"/>
            <a:ext cx="1532089" cy="33336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F4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2476" y="4982720"/>
            <a:ext cx="1532089" cy="28002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1F4FA8"/>
                </a:solidFill>
                <a:latin typeface="Source Sans 3"/>
              </a:rPr>
              <a:t>Nursing Pearls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12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138762758821814"/>
                                    </p:val>
                                  </p:tav>
                                  <p:tav tm="100000">
                                    <p:val>
                                      <p:fltVal val="0.500913312919218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2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117979731700204"/>
                                    </p:val>
                                  </p:tav>
                                  <p:tav tm="100000">
                                    <p:val>
                                      <p:fltVal val="0.2988350102070574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6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" dur="9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9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783215952172645"/>
                                    </p:val>
                                  </p:tav>
                                  <p:tav tm="100000">
                                    <p:val>
                                      <p:fltVal val="0.465358632254301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0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3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351695100612423"/>
                                    </p:val>
                                  </p:tav>
                                  <p:tav tm="100000">
                                    <p:val>
                                      <p:fltVal val="0.62220654709827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4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7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002142023913678"/>
                                    </p:val>
                                  </p:tav>
                                  <p:tav tm="100000">
                                    <p:val>
                                      <p:fltVal val="0.687251239428404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8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1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002141294838146"/>
                                    </p:val>
                                  </p:tav>
                                  <p:tav tm="100000">
                                    <p:val>
                                      <p:fltVal val="0.687251166520851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2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3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4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5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002142023913678"/>
                                    </p:val>
                                  </p:tav>
                                  <p:tav tm="100000">
                                    <p:val>
                                      <p:fltVal val="0.687251239428404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6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3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8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9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002141294838146"/>
                                    </p:val>
                                  </p:tav>
                                  <p:tav tm="100000">
                                    <p:val>
                                      <p:fltVal val="0.687251166520851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0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2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3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002142023913678"/>
                                    </p:val>
                                  </p:tav>
                                  <p:tav tm="100000">
                                    <p:val>
                                      <p:fltVal val="0.687251239428404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4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4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6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7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002141294838146"/>
                                    </p:val>
                                  </p:tav>
                                  <p:tav tm="100000">
                                    <p:val>
                                      <p:fltVal val="0.687251166520851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8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4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0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1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002142023913678"/>
                                    </p:val>
                                  </p:tav>
                                  <p:tav tm="100000">
                                    <p:val>
                                      <p:fltVal val="0.687251239428404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2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4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5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002141294838146"/>
                                    </p:val>
                                  </p:tav>
                                  <p:tav tm="100000">
                                    <p:val>
                                      <p:fltVal val="0.687251166520851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6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8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9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599349664625256"/>
                                    </p:val>
                                  </p:tav>
                                  <p:tav tm="100000">
                                    <p:val>
                                      <p:fltVal val="0.746972003499562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0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2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3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599348935549722"/>
                                    </p:val>
                                  </p:tav>
                                  <p:tav tm="100000">
                                    <p:val>
                                      <p:fltVal val="0.746971930592009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10  ·  NURSING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Preoperative / Non-surgical Care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10667733" cy="1206469"/>
          </a:xfrm>
          <a:prstGeom prst="roundRect">
            <a:avLst>
              <a:gd name="adj" fmla="val 12631"/>
            </a:avLst>
          </a:prstGeom>
          <a:solidFill>
            <a:srgbClr val="1325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15974" y="1962100"/>
            <a:ext cx="609584" cy="60958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3131" y="2099257"/>
            <a:ext cx="335271" cy="33527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841453" y="1790655"/>
            <a:ext cx="9397765" cy="9524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E7CF96"/>
                </a:solidFill>
                <a:latin typeface="Source Sans 3"/>
              </a:rPr>
              <a:t>AT EVERY ENCOUNTER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Playfair Display"/>
              </a:rPr>
              <a:t>Assess airway, breathing pattern, voice &amp; swallowing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500" b="1" i="0">
                <a:solidFill>
                  <a:srgbClr val="F6D9DD"/>
                </a:solidFill>
                <a:latin typeface="Source Sans 3"/>
              </a:rPr>
              <a:t>Report stridor immediately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1980" y="3060623"/>
            <a:ext cx="3428914" cy="3047923"/>
          </a:xfrm>
          <a:prstGeom prst="roundRect">
            <a:avLst>
              <a:gd name="adj" fmla="val 4583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0575" y="3314617"/>
            <a:ext cx="698482" cy="698482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733" y="3471775"/>
            <a:ext cx="384165" cy="38416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90575" y="4203594"/>
            <a:ext cx="2971725" cy="1096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3254D"/>
                </a:solidFill>
                <a:latin typeface="Playfair Display"/>
              </a:rPr>
              <a:t>Medication adherence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1F4FA8"/>
                </a:solidFill>
                <a:latin typeface="Source Sans 3"/>
              </a:rPr>
              <a:t>Levothyroxine on an empty stomach · separate from calcium / iron by 4 hours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1390" y="3060623"/>
            <a:ext cx="3428914" cy="3047923"/>
          </a:xfrm>
          <a:prstGeom prst="roundRect">
            <a:avLst>
              <a:gd name="adj" fmla="val 4583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609984" y="3314617"/>
            <a:ext cx="698482" cy="698482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6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7143" y="3471775"/>
            <a:ext cx="384165" cy="38416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609984" y="4203594"/>
            <a:ext cx="2971725" cy="1096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3254D"/>
                </a:solidFill>
                <a:latin typeface="Playfair Display"/>
              </a:rPr>
              <a:t>Nutritional counseling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8A6A24"/>
                </a:solidFill>
                <a:latin typeface="Source Sans 3"/>
              </a:rPr>
              <a:t>Adequate iodine — iodized salt, seafood, dairy · avoid excess goitrogens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00799" y="3060623"/>
            <a:ext cx="3428914" cy="3047923"/>
          </a:xfrm>
          <a:prstGeom prst="roundRect">
            <a:avLst>
              <a:gd name="adj" fmla="val 4583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29394" y="3314617"/>
            <a:ext cx="698482" cy="698482"/>
          </a:xfrm>
          <a:prstGeom prst="ellipse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6552" y="3471775"/>
            <a:ext cx="384165" cy="384165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29394" y="4203594"/>
            <a:ext cx="2971725" cy="64158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3254D"/>
                </a:solidFill>
                <a:latin typeface="Playfair Display"/>
              </a:rPr>
              <a:t>Psychosocial support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0B6E70"/>
                </a:solidFill>
                <a:latin typeface="Source Sans 3"/>
              </a:rPr>
              <a:t>For body-image concerns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33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9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435101341498979"/>
                                    </p:val>
                                  </p:tav>
                                  <p:tav tm="100000">
                                    <p:val>
                                      <p:fltVal val="0.330547171186934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435100612423447"/>
                                    </p:val>
                                  </p:tav>
                                  <p:tav tm="100000">
                                    <p:val>
                                      <p:fltVal val="0.330547098279381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8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435101341498979"/>
                                    </p:val>
                                  </p:tav>
                                  <p:tav tm="100000">
                                    <p:val>
                                      <p:fltVal val="0.330547171186934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2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4351020705745117"/>
                                    </p:val>
                                  </p:tav>
                                  <p:tav tm="100000">
                                    <p:val>
                                      <p:fltVal val="0.330547244094488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5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6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81464639836687"/>
                                    </p:val>
                                  </p:tav>
                                  <p:tav tm="100000">
                                    <p:val>
                                      <p:fltVal val="0.668501676873724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0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472088072324293"/>
                                    </p:val>
                                  </p:tav>
                                  <p:tav tm="100000">
                                    <p:val>
                                      <p:fltVal val="0.534245844269466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3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4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47208734324876"/>
                                    </p:val>
                                  </p:tav>
                                  <p:tav tm="100000">
                                    <p:val>
                                      <p:fltVal val="0.534245771361913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7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8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058713910761155"/>
                                    </p:val>
                                  </p:tav>
                                  <p:tav tm="100000">
                                    <p:val>
                                      <p:fltVal val="0.692908428113152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2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81464639836687"/>
                                    </p:val>
                                  </p:tav>
                                  <p:tav tm="100000">
                                    <p:val>
                                      <p:fltVal val="0.668501676873724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5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6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472088072324293"/>
                                    </p:val>
                                  </p:tav>
                                  <p:tav tm="100000">
                                    <p:val>
                                      <p:fltVal val="0.534245844269466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9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0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47208734324876"/>
                                    </p:val>
                                  </p:tav>
                                  <p:tav tm="100000">
                                    <p:val>
                                      <p:fltVal val="0.534245771361913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3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4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058713910761155"/>
                                    </p:val>
                                  </p:tav>
                                  <p:tav tm="100000">
                                    <p:val>
                                      <p:fltVal val="0.692908428113152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7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8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81464639836687"/>
                                    </p:val>
                                  </p:tav>
                                  <p:tav tm="100000">
                                    <p:val>
                                      <p:fltVal val="0.668501676873724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9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2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472088072324293"/>
                                    </p:val>
                                  </p:tav>
                                  <p:tav tm="100000">
                                    <p:val>
                                      <p:fltVal val="0.534245844269466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5" dur="90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6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47208734324876"/>
                                    </p:val>
                                  </p:tav>
                                  <p:tav tm="100000">
                                    <p:val>
                                      <p:fltVal val="0.534245771361913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9" dur="90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0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726870078740157"/>
                                    </p:val>
                                  </p:tav>
                                  <p:tav tm="100000">
                                    <p:val>
                                      <p:fltVal val="0.659724044911052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10  ·  NURSING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Postoperative Care — Airway First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10667733" cy="952476"/>
          </a:xfrm>
          <a:prstGeom prst="roundRect">
            <a:avLst>
              <a:gd name="adj" fmla="val 14666"/>
            </a:avLst>
          </a:prstGeom>
          <a:solidFill>
            <a:srgbClr val="7E1F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15974" y="1835104"/>
            <a:ext cx="609584" cy="60958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3131" y="1972260"/>
            <a:ext cx="335271" cy="33527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841453" y="1790655"/>
            <a:ext cx="9397765" cy="6984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F6D9DD"/>
                </a:solidFill>
                <a:latin typeface="Source Sans 3"/>
              </a:rPr>
              <a:t>POST-THYROIDECTOMY · PRIORITY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Playfair Display"/>
              </a:rPr>
              <a:t>AIRWAY — monitor continuously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1980" y="2806629"/>
            <a:ext cx="5257668" cy="971525"/>
          </a:xfrm>
          <a:prstGeom prst="roundRect">
            <a:avLst>
              <a:gd name="adj" fmla="val 14379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65175" y="2984425"/>
            <a:ext cx="609584" cy="609584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8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2332" y="3121581"/>
            <a:ext cx="335271" cy="33527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752556" y="2895527"/>
            <a:ext cx="4076598" cy="7937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Tracheostomy set + suction at the bedside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045" y="2806629"/>
            <a:ext cx="5257668" cy="971525"/>
          </a:xfrm>
          <a:prstGeom prst="roundRect">
            <a:avLst>
              <a:gd name="adj" fmla="val 14379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75240" y="2984425"/>
            <a:ext cx="609584" cy="609584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3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2397" y="3121581"/>
            <a:ext cx="335271" cy="33527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162620" y="2895527"/>
            <a:ext cx="4076598" cy="7937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Watch for neck swelling / hematoma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1980" y="3930551"/>
            <a:ext cx="5257668" cy="971525"/>
          </a:xfrm>
          <a:prstGeom prst="roundRect">
            <a:avLst>
              <a:gd name="adj" fmla="val 14379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5175" y="4108347"/>
            <a:ext cx="609584" cy="609584"/>
          </a:xfrm>
          <a:prstGeom prst="ellipse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8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2332" y="4245503"/>
            <a:ext cx="335271" cy="33527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752556" y="4019449"/>
            <a:ext cx="4076598" cy="7937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Semi-Fowler's position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045" y="3930551"/>
            <a:ext cx="5257668" cy="971525"/>
          </a:xfrm>
          <a:prstGeom prst="roundRect">
            <a:avLst>
              <a:gd name="adj" fmla="val 14379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75240" y="4108347"/>
            <a:ext cx="609584" cy="609584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12397" y="4245503"/>
            <a:ext cx="335271" cy="335271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162620" y="4019449"/>
            <a:ext cx="4076598" cy="7937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Support the neck when moving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61980" y="5054473"/>
            <a:ext cx="10667733" cy="1054073"/>
          </a:xfrm>
          <a:prstGeom prst="roundRect">
            <a:avLst>
              <a:gd name="adj" fmla="val 13253"/>
            </a:avLst>
          </a:prstGeom>
          <a:solidFill>
            <a:srgbClr val="F5F8FD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15974" y="5276718"/>
            <a:ext cx="609584" cy="609584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8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3131" y="5413874"/>
            <a:ext cx="335271" cy="335271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841453" y="5117972"/>
            <a:ext cx="9397765" cy="9270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1F4FA8"/>
                </a:solidFill>
                <a:latin typeface="Source Sans 3"/>
              </a:rPr>
              <a:t>CHECK THE DRESSING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3254D"/>
                </a:solidFill>
                <a:latin typeface="Playfair Display"/>
              </a:rPr>
              <a:t>Front </a:t>
            </a:r>
            <a:r>
              <a:rPr sz="2200" b="1" i="0">
                <a:solidFill>
                  <a:srgbClr val="13254D"/>
                </a:solidFill>
                <a:latin typeface="Source Sans 3"/>
              </a:rPr>
              <a:t>and</a:t>
            </a:r>
            <a:r>
              <a:rPr sz="2200" b="1" i="0">
                <a:solidFill>
                  <a:srgbClr val="13254D"/>
                </a:solidFill>
                <a:latin typeface="Playfair Display"/>
              </a:rPr>
              <a:t> back of the neck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34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9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24992125984252"/>
                                    </p:val>
                                  </p:tav>
                                  <p:tav tm="100000">
                                    <p:val>
                                      <p:fltVal val="0.3120291630212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24992125984252"/>
                                    </p:val>
                                  </p:tav>
                                  <p:tav tm="100000">
                                    <p:val>
                                      <p:fltVal val="0.3120291630212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8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2499205307669876"/>
                                    </p:val>
                                  </p:tav>
                                  <p:tav tm="100000">
                                    <p:val>
                                      <p:fltVal val="0.312029090113735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2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24992125984252"/>
                                    </p:val>
                                  </p:tav>
                                  <p:tav tm="100000">
                                    <p:val>
                                      <p:fltVal val="0.3120291630212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5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6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9304337999416736"/>
                                    </p:val>
                                  </p:tav>
                                  <p:tav tm="100000">
                                    <p:val>
                                      <p:fltVal val="0.480080417031204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0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9258048993875764"/>
                                    </p:val>
                                  </p:tav>
                                  <p:tav tm="100000">
                                    <p:val>
                                      <p:fltVal val="0.479617526975794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3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4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925804170312044"/>
                                    </p:val>
                                  </p:tav>
                                  <p:tav tm="100000">
                                    <p:val>
                                      <p:fltVal val="0.4796174540682414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7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8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9304345290172064"/>
                                    </p:val>
                                  </p:tav>
                                  <p:tav tm="100000">
                                    <p:val>
                                      <p:fltVal val="0.480080489938757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2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9304337999416736"/>
                                    </p:val>
                                  </p:tav>
                                  <p:tav tm="100000">
                                    <p:val>
                                      <p:fltVal val="0.480080417031204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5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6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9258048993875764"/>
                                    </p:val>
                                  </p:tav>
                                  <p:tav tm="100000">
                                    <p:val>
                                      <p:fltVal val="0.479617526975794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9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0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925804170312044"/>
                                    </p:val>
                                  </p:tav>
                                  <p:tav tm="100000">
                                    <p:val>
                                      <p:fltVal val="0.4796174540682414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3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4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9304345290172064"/>
                                    </p:val>
                                  </p:tav>
                                  <p:tav tm="100000">
                                    <p:val>
                                      <p:fltVal val="0.480080489938757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7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8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569281860600759"/>
                                    </p:val>
                                  </p:tav>
                                  <p:tav tm="100000">
                                    <p:val>
                                      <p:fltVal val="0.643965223097112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9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2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564652960046661"/>
                                    </p:val>
                                  </p:tav>
                                  <p:tav tm="100000">
                                    <p:val>
                                      <p:fltVal val="0.643502333041703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5" dur="90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6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564652230971129"/>
                                    </p:val>
                                  </p:tav>
                                  <p:tav tm="100000">
                                    <p:val>
                                      <p:fltVal val="0.643502260134149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9" dur="90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0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569282589676291"/>
                                    </p:val>
                                  </p:tav>
                                  <p:tav tm="100000">
                                    <p:val>
                                      <p:fltVal val="0.643965296004666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1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8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3" dur="900" fill="hold"/>
                                  <p:tgtEl>
                                    <p:spTgt spid="2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4" dur="900" fill="hold"/>
                                  <p:tgtEl>
                                    <p:spTgt spid="2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569281860600759"/>
                                    </p:val>
                                  </p:tav>
                                  <p:tav tm="100000">
                                    <p:val>
                                      <p:fltVal val="0.643965223097112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5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8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7" dur="900" fill="hold"/>
                                  <p:tgtEl>
                                    <p:spTgt spid="2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8" dur="900" fill="hold"/>
                                  <p:tgtEl>
                                    <p:spTgt spid="2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564652960046661"/>
                                    </p:val>
                                  </p:tav>
                                  <p:tav tm="100000">
                                    <p:val>
                                      <p:fltVal val="0.643502333041703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9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9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900" fill="hold"/>
                                  <p:tgtEl>
                                    <p:spTgt spid="2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2" dur="900" fill="hold"/>
                                  <p:tgtEl>
                                    <p:spTgt spid="2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564652230971129"/>
                                    </p:val>
                                  </p:tav>
                                  <p:tav tm="100000">
                                    <p:val>
                                      <p:fltVal val="0.643502260134149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3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9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5" dur="900" fill="hold"/>
                                  <p:tgtEl>
                                    <p:spTgt spid="2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6" dur="900" fill="hold"/>
                                  <p:tgtEl>
                                    <p:spTgt spid="2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569282589676291"/>
                                    </p:val>
                                  </p:tav>
                                  <p:tav tm="100000">
                                    <p:val>
                                      <p:fltVal val="0.643965296004666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7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9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9" dur="900" fill="hold"/>
                                  <p:tgtEl>
                                    <p:spTgt spid="2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00" dur="900" fill="hold"/>
                                  <p:tgtEl>
                                    <p:spTgt spid="2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268313648293963"/>
                                    </p:val>
                                  </p:tav>
                                  <p:tav tm="100000">
                                    <p:val>
                                      <p:fltVal val="0.813868401866433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1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10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3" dur="900" fill="hold"/>
                                  <p:tgtEl>
                                    <p:spTgt spid="2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04" dur="900" fill="hold"/>
                                  <p:tgtEl>
                                    <p:spTgt spid="2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268314377369496"/>
                                    </p:val>
                                  </p:tav>
                                  <p:tav tm="100000">
                                    <p:val>
                                      <p:fltVal val="0.813868474773986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5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10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7" dur="900" fill="hold"/>
                                  <p:tgtEl>
                                    <p:spTgt spid="2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08" dur="900" fill="hold"/>
                                  <p:tgtEl>
                                    <p:spTgt spid="2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268313648293963"/>
                                    </p:val>
                                  </p:tav>
                                  <p:tav tm="100000">
                                    <p:val>
                                      <p:fltVal val="0.813868401866433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9" presetID="10" presetClass="entr" presetSubtype="0" fill="hold" grpId="0" nodeType="withEffect">
                            <p:stCondLst>
                              <p:cond delay="840"/>
                            </p:stCondLst>
                            <p:childTnLst>
                              <p:set>
                                <p:cBhvr>
                                  <p:cTn id="1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900" fill="hold"/>
                                  <p:tgtEl>
                                    <p:spTgt spid="2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12" dur="900" fill="hold"/>
                                  <p:tgtEl>
                                    <p:spTgt spid="2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268314377369496"/>
                                    </p:val>
                                  </p:tav>
                                  <p:tav tm="100000">
                                    <p:val>
                                      <p:fltVal val="0.813868474773986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10  ·  NURSING MANAGEMENT  ·  POST-OP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Hypocalcemia Watch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3555911" cy="4444888"/>
          </a:xfrm>
          <a:prstGeom prst="roundRect">
            <a:avLst>
              <a:gd name="adj" fmla="val 5000"/>
            </a:avLst>
          </a:prstGeom>
          <a:solidFill>
            <a:srgbClr val="F5F8FD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hyroid-gl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476" y="1854153"/>
            <a:ext cx="3174920" cy="361940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88977" y="5549761"/>
            <a:ext cx="3301917" cy="257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4FA8"/>
                </a:solidFill>
                <a:latin typeface="Source Sans 3"/>
              </a:rPr>
              <a:t>Parathyroid injury → hypocalcemia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35384" y="1663658"/>
            <a:ext cx="3301917" cy="2095447"/>
          </a:xfrm>
          <a:prstGeom prst="roundRect">
            <a:avLst>
              <a:gd name="adj" fmla="val 7272"/>
            </a:avLst>
          </a:prstGeom>
          <a:solidFill>
            <a:srgbClr val="1325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89377" y="1854153"/>
            <a:ext cx="2793930" cy="13050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E7CF96"/>
                </a:solidFill>
                <a:latin typeface="Source Sans 3"/>
              </a:rPr>
              <a:t>SIGN 1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Playfair Display"/>
              </a:rPr>
              <a:t>Chvostek's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500" b="0" i="0">
                <a:solidFill>
                  <a:srgbClr val="DCE6F7"/>
                </a:solidFill>
                <a:latin typeface="Source Sans 3"/>
              </a:rPr>
              <a:t>Tap the facial nerve → facial twitching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27796" y="1663658"/>
            <a:ext cx="3301917" cy="2095447"/>
          </a:xfrm>
          <a:prstGeom prst="roundRect">
            <a:avLst>
              <a:gd name="adj" fmla="val 7272"/>
            </a:avLst>
          </a:prstGeom>
          <a:solidFill>
            <a:srgbClr val="0B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81790" y="1854153"/>
            <a:ext cx="2793930" cy="13050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E7CF96"/>
                </a:solidFill>
                <a:latin typeface="Source Sans 3"/>
              </a:rPr>
              <a:t>SIGN 2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Playfair Display"/>
              </a:rPr>
              <a:t>Trousseau's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500" b="0" i="0">
                <a:solidFill>
                  <a:srgbClr val="DDF1F1"/>
                </a:solidFill>
                <a:latin typeface="Source Sans 3"/>
              </a:rPr>
              <a:t>BP cuff inflated → carpal spasm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35384" y="3949601"/>
            <a:ext cx="6794330" cy="2158946"/>
          </a:xfrm>
          <a:prstGeom prst="roundRect">
            <a:avLst>
              <a:gd name="adj" fmla="val 7058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89377" y="4127396"/>
            <a:ext cx="6286342" cy="15338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B8923E"/>
                </a:solidFill>
                <a:latin typeface="Source Sans 3"/>
              </a:rPr>
              <a:t>ASSESS &amp; ACT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0F8B8D"/>
                </a:solidFill>
                <a:latin typeface="Source Sans 3"/>
              </a:rPr>
              <a:t>◆</a:t>
            </a:r>
            <a:r>
              <a:rPr sz="1700" b="1" i="0">
                <a:solidFill>
                  <a:srgbClr val="13254D"/>
                </a:solidFill>
                <a:latin typeface="Source Sans 3"/>
              </a:rPr>
              <a:t>Perioral tingling · muscle cramps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0F8B8D"/>
                </a:solidFill>
                <a:latin typeface="Source Sans 3"/>
              </a:rPr>
              <a:t>◆</a:t>
            </a:r>
            <a:r>
              <a:rPr sz="1700" b="1" i="0">
                <a:solidFill>
                  <a:srgbClr val="13254D"/>
                </a:solidFill>
                <a:latin typeface="Source Sans 3"/>
              </a:rPr>
              <a:t>Monitor serum calcium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0F8B8D"/>
                </a:solidFill>
                <a:latin typeface="Source Sans 3"/>
              </a:rPr>
              <a:t>◆</a:t>
            </a:r>
            <a:r>
              <a:rPr sz="1700" b="1" i="0">
                <a:solidFill>
                  <a:srgbClr val="13254D"/>
                </a:solidFill>
                <a:latin typeface="Source Sans 3"/>
              </a:rPr>
              <a:t>Keep IV calcium gluconate available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35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12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" dur="12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6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409514435695538"/>
                                    </p:val>
                                  </p:tav>
                                  <p:tav tm="100000">
                                    <p:val>
                                      <p:fltVal val="0.827988480606590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0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0832334499854184"/>
                                    </p:val>
                                  </p:tav>
                                  <p:tav tm="100000">
                                    <p:val>
                                      <p:fltVal val="0.39536038203557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3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4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784722222222222"/>
                                    </p:val>
                                  </p:tav>
                                  <p:tav tm="100000">
                                    <p:val>
                                      <p:fltVal val="0.3655092592592592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5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7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8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0832334499854184"/>
                                    </p:val>
                                  </p:tav>
                                  <p:tav tm="100000">
                                    <p:val>
                                      <p:fltVal val="0.39536038203557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4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2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784722222222222"/>
                                    </p:val>
                                  </p:tav>
                                  <p:tav tm="100000">
                                    <p:val>
                                      <p:fltVal val="0.3655092592592592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5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6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62779235928843"/>
                                    </p:val>
                                  </p:tav>
                                  <p:tav tm="100000">
                                    <p:val>
                                      <p:fltVal val="0.733314960629921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7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4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9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0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266301399825021"/>
                                    </p:val>
                                  </p:tav>
                                  <p:tav tm="100000">
                                    <p:val>
                                      <p:fltVal val="0.713667177019539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10  ·  NURSING MANAGEMENT  ·  POST-OP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Recovery &amp; Teaching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3428914" cy="253993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90575" y="1917652"/>
            <a:ext cx="698482" cy="698482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733" y="2074810"/>
            <a:ext cx="384165" cy="38416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90575" y="2806629"/>
            <a:ext cx="2971725" cy="6565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3254D"/>
                </a:solidFill>
                <a:latin typeface="Playfair Display"/>
              </a:rPr>
              <a:t>Assess the voice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8A6A24"/>
                </a:solidFill>
                <a:latin typeface="Source Sans 3"/>
              </a:rPr>
              <a:t>Recurrent laryngeal nerve injury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1390" y="1663658"/>
            <a:ext cx="3428914" cy="253993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609984" y="1917652"/>
            <a:ext cx="698482" cy="698482"/>
          </a:xfrm>
          <a:prstGeom prst="ellipse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8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7143" y="2074810"/>
            <a:ext cx="384165" cy="38416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09984" y="2806629"/>
            <a:ext cx="2971725" cy="6565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3254D"/>
                </a:solidFill>
                <a:latin typeface="Playfair Display"/>
              </a:rPr>
              <a:t>Deep breathing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0B6E70"/>
                </a:solidFill>
                <a:latin typeface="Source Sans 3"/>
              </a:rPr>
              <a:t>Encourage regularly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0799" y="1663658"/>
            <a:ext cx="3428914" cy="253993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229394" y="1917652"/>
            <a:ext cx="698482" cy="698482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6552" y="2074810"/>
            <a:ext cx="384165" cy="38416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29394" y="2806629"/>
            <a:ext cx="2971725" cy="6565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3254D"/>
                </a:solidFill>
                <a:latin typeface="Playfair Display"/>
              </a:rPr>
              <a:t>Pain &amp; nausea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B23A48"/>
                </a:solidFill>
                <a:latin typeface="Source Sans 3"/>
              </a:rPr>
              <a:t>Manage promptly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1980" y="4394090"/>
            <a:ext cx="10667733" cy="1714457"/>
          </a:xfrm>
          <a:prstGeom prst="roundRect">
            <a:avLst>
              <a:gd name="adj" fmla="val 8888"/>
            </a:avLst>
          </a:prstGeom>
          <a:solidFill>
            <a:srgbClr val="1325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79473" y="4838579"/>
            <a:ext cx="825479" cy="82547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9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5205" y="5024311"/>
            <a:ext cx="454013" cy="454013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158946" y="4521086"/>
            <a:ext cx="9080272" cy="14604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E7CF96"/>
                </a:solidFill>
                <a:latin typeface="Source Sans 3"/>
              </a:rPr>
              <a:t>DISCHARGE TEACHING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Playfair Display"/>
              </a:rPr>
              <a:t>Lifelong hormone replacement after total thyroidectomy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500" b="0" i="0">
                <a:solidFill>
                  <a:srgbClr val="E7CF96"/>
                </a:solidFill>
                <a:latin typeface="Source Sans 3"/>
              </a:rPr>
              <a:t>Plus the signs of hypo- / hyperthyroidism to report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36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9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407299504228638"/>
                                    </p:val>
                                  </p:tav>
                                  <p:tav tm="100000">
                                    <p:val>
                                      <p:fltVal val="0.427766987459900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4351020705745117"/>
                                    </p:val>
                                  </p:tav>
                                  <p:tav tm="100000">
                                    <p:val>
                                      <p:fltVal val="0.330547244094488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8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435101341498979"/>
                                    </p:val>
                                  </p:tav>
                                  <p:tav tm="100000">
                                    <p:val>
                                      <p:fltVal val="0.330547171186934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2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700810002916302"/>
                                    </p:val>
                                  </p:tav>
                                  <p:tav tm="100000">
                                    <p:val>
                                      <p:fltVal val="0.4571180373286672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5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6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407299504228638"/>
                                    </p:val>
                                  </p:tav>
                                  <p:tav tm="100000">
                                    <p:val>
                                      <p:fltVal val="0.427766987459900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0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4351020705745117"/>
                                    </p:val>
                                  </p:tav>
                                  <p:tav tm="100000">
                                    <p:val>
                                      <p:fltVal val="0.330547244094488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3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4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435101341498979"/>
                                    </p:val>
                                  </p:tav>
                                  <p:tav tm="100000">
                                    <p:val>
                                      <p:fltVal val="0.330547171186934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7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8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700810002916302"/>
                                    </p:val>
                                  </p:tav>
                                  <p:tav tm="100000">
                                    <p:val>
                                      <p:fltVal val="0.4571180373286672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2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407299504228638"/>
                                    </p:val>
                                  </p:tav>
                                  <p:tav tm="100000">
                                    <p:val>
                                      <p:fltVal val="0.427766987459900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5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6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4351020705745117"/>
                                    </p:val>
                                  </p:tav>
                                  <p:tav tm="100000">
                                    <p:val>
                                      <p:fltVal val="0.330547244094488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9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0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435101341498979"/>
                                    </p:val>
                                  </p:tav>
                                  <p:tav tm="100000">
                                    <p:val>
                                      <p:fltVal val="0.330547171186934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3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4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700810002916302"/>
                                    </p:val>
                                  </p:tav>
                                  <p:tav tm="100000">
                                    <p:val>
                                      <p:fltVal val="0.4571180373286672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7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8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786845290172062"/>
                                    </p:val>
                                  </p:tav>
                                  <p:tav tm="100000">
                                    <p:val>
                                      <p:fltVal val="0.765721566054243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9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2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786845290172062"/>
                                    </p:val>
                                  </p:tav>
                                  <p:tav tm="100000">
                                    <p:val>
                                      <p:fltVal val="0.765721566054243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5" dur="90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6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786843832020998"/>
                                    </p:val>
                                  </p:tav>
                                  <p:tav tm="100000">
                                    <p:val>
                                      <p:fltVal val="0.765721420239136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7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7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9" dur="90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0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786843832020998"/>
                                    </p:val>
                                  </p:tav>
                                  <p:tav tm="100000">
                                    <p:val>
                                      <p:fltVal val="0.765721420239136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10  ·  NURSING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High-Yield Nursing Pearls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3467013" cy="4444888"/>
          </a:xfrm>
          <a:prstGeom prst="roundRect">
            <a:avLst>
              <a:gd name="adj" fmla="val 4761"/>
            </a:avLst>
          </a:prstGeom>
          <a:solidFill>
            <a:srgbClr val="FDF6F7"/>
          </a:solidFill>
          <a:ln w="6350">
            <a:solidFill>
              <a:srgbClr val="F0D3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5974" y="1904952"/>
            <a:ext cx="1269968" cy="7823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B8923E"/>
                </a:solidFill>
                <a:latin typeface="Playfair Display"/>
              </a:rPr>
              <a:t>01</a:t>
            </a:r>
          </a:p>
        </p:txBody>
      </p:sp>
      <p:sp>
        <p:nvSpPr>
          <p:cNvPr id="8" name="Oval 7"/>
          <p:cNvSpPr/>
          <p:nvPr/>
        </p:nvSpPr>
        <p:spPr>
          <a:xfrm>
            <a:off x="3301917" y="1968450"/>
            <a:ext cx="698482" cy="698482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9076" y="2125609"/>
            <a:ext cx="384165" cy="38416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15974" y="3174920"/>
            <a:ext cx="2959026" cy="10380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3254D"/>
                </a:solidFill>
                <a:latin typeface="Playfair Display"/>
              </a:rPr>
              <a:t>Airway first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23A48"/>
                </a:solidFill>
                <a:latin typeface="Source Sans 3"/>
              </a:rPr>
              <a:t>Hematoma can obstruct within hours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62340" y="1663658"/>
            <a:ext cx="3467013" cy="4444888"/>
          </a:xfrm>
          <a:prstGeom prst="roundRect">
            <a:avLst>
              <a:gd name="adj" fmla="val 4761"/>
            </a:avLst>
          </a:prstGeom>
          <a:solidFill>
            <a:srgbClr val="FCF9F2"/>
          </a:solidFill>
          <a:ln w="6350">
            <a:solidFill>
              <a:srgbClr val="E9D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6334" y="1904952"/>
            <a:ext cx="1269968" cy="7823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B8923E"/>
                </a:solidFill>
                <a:latin typeface="Playfair Display"/>
              </a:rPr>
              <a:t>02</a:t>
            </a:r>
          </a:p>
        </p:txBody>
      </p:sp>
      <p:sp>
        <p:nvSpPr>
          <p:cNvPr id="13" name="Oval 12"/>
          <p:cNvSpPr/>
          <p:nvPr/>
        </p:nvSpPr>
        <p:spPr>
          <a:xfrm>
            <a:off x="6902277" y="1968450"/>
            <a:ext cx="698482" cy="698482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9436" y="2125609"/>
            <a:ext cx="384165" cy="38416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616334" y="3174920"/>
            <a:ext cx="2959026" cy="10380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3254D"/>
                </a:solidFill>
                <a:latin typeface="Playfair Display"/>
              </a:rPr>
              <a:t>Calcium checks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8A6A24"/>
                </a:solidFill>
                <a:latin typeface="Source Sans 3"/>
              </a:rPr>
              <a:t>Catch hypoparathyroidism early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62700" y="1663658"/>
            <a:ext cx="3467013" cy="4444888"/>
          </a:xfrm>
          <a:prstGeom prst="roundRect">
            <a:avLst>
              <a:gd name="adj" fmla="val 4761"/>
            </a:avLst>
          </a:prstGeom>
          <a:solidFill>
            <a:srgbClr val="F4FAFA"/>
          </a:solidFill>
          <a:ln w="6350">
            <a:solidFill>
              <a:srgbClr val="D4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16694" y="1904952"/>
            <a:ext cx="1269968" cy="7823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B8923E"/>
                </a:solidFill>
                <a:latin typeface="Playfair Display"/>
              </a:rPr>
              <a:t>03</a:t>
            </a:r>
          </a:p>
        </p:txBody>
      </p:sp>
      <p:sp>
        <p:nvSpPr>
          <p:cNvPr id="18" name="Oval 17"/>
          <p:cNvSpPr/>
          <p:nvPr/>
        </p:nvSpPr>
        <p:spPr>
          <a:xfrm>
            <a:off x="10502637" y="1968450"/>
            <a:ext cx="698482" cy="698482"/>
          </a:xfrm>
          <a:prstGeom prst="ellipse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4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59795" y="2125609"/>
            <a:ext cx="384165" cy="384165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216694" y="3174920"/>
            <a:ext cx="2959026" cy="10380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3254D"/>
                </a:solidFill>
                <a:latin typeface="Playfair Display"/>
              </a:rPr>
              <a:t>Levothyroxine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B6E70"/>
                </a:solidFill>
                <a:latin typeface="Source Sans 3"/>
              </a:rPr>
              <a:t>Empty stomach · same time daily · never stop abruptly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37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9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9615339749198"/>
                                    </p:val>
                                  </p:tav>
                                  <p:tav tm="100000">
                                    <p:val>
                                      <p:fltVal val="0.56665237678623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47769320501604"/>
                                    </p:val>
                                  </p:tav>
                                  <p:tav tm="100000">
                                    <p:val>
                                      <p:fltVal val="0.33480635753864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8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5091732283464566"/>
                                    </p:val>
                                  </p:tav>
                                  <p:tav tm="100000">
                                    <p:val>
                                      <p:fltVal val="0.337954359871682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2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509173957421989"/>
                                    </p:val>
                                  </p:tav>
                                  <p:tav tm="100000">
                                    <p:val>
                                      <p:fltVal val="0.337954432779235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5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6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515975503062117"/>
                                    </p:val>
                                  </p:tav>
                                  <p:tav tm="100000">
                                    <p:val>
                                      <p:fltVal val="0.538634587343248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0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9615339749198"/>
                                    </p:val>
                                  </p:tav>
                                  <p:tav tm="100000">
                                    <p:val>
                                      <p:fltVal val="0.56665237678623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3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4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47769320501604"/>
                                    </p:val>
                                  </p:tav>
                                  <p:tav tm="100000">
                                    <p:val>
                                      <p:fltVal val="0.33480635753864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7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8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5091732283464566"/>
                                    </p:val>
                                  </p:tav>
                                  <p:tav tm="100000">
                                    <p:val>
                                      <p:fltVal val="0.337954359871682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2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509173957421989"/>
                                    </p:val>
                                  </p:tav>
                                  <p:tav tm="100000">
                                    <p:val>
                                      <p:fltVal val="0.337954432779235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5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6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515975503062117"/>
                                    </p:val>
                                  </p:tav>
                                  <p:tav tm="100000">
                                    <p:val>
                                      <p:fltVal val="0.538634587343248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9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0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9615339749198"/>
                                    </p:val>
                                  </p:tav>
                                  <p:tav tm="100000">
                                    <p:val>
                                      <p:fltVal val="0.56665237678623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3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4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47769320501604"/>
                                    </p:val>
                                  </p:tav>
                                  <p:tav tm="100000">
                                    <p:val>
                                      <p:fltVal val="0.33480635753864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5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7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8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5091732283464566"/>
                                    </p:val>
                                  </p:tav>
                                  <p:tav tm="100000">
                                    <p:val>
                                      <p:fltVal val="0.337954359871682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7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9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2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509173957421989"/>
                                    </p:val>
                                  </p:tav>
                                  <p:tav tm="100000">
                                    <p:val>
                                      <p:fltVal val="0.337954432779235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5" dur="90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6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515975503062117"/>
                                    </p:val>
                                  </p:tav>
                                  <p:tav tm="100000">
                                    <p:val>
                                      <p:fltVal val="0.538634587343248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11  ·  PREVENTION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Iodine — the First Line of Defense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4444888" cy="4444888"/>
          </a:xfrm>
          <a:prstGeom prst="roundRect">
            <a:avLst>
              <a:gd name="adj" fmla="val 3714"/>
            </a:avLst>
          </a:prstGeom>
          <a:solidFill>
            <a:srgbClr val="1325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42971" y="2044648"/>
            <a:ext cx="888977" cy="88897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9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2991" y="2244668"/>
            <a:ext cx="488937" cy="48893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42971" y="3301917"/>
            <a:ext cx="3809904" cy="162733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00">
                <a:solidFill>
                  <a:srgbClr val="E7CF96"/>
                </a:solidFill>
                <a:latin typeface="Source Sans 3"/>
              </a:rPr>
              <a:t>SINGLE MOST EFFECTIVE MEASURE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FFFFFF"/>
                </a:solidFill>
                <a:latin typeface="Playfair Display"/>
              </a:rPr>
              <a:t>Universal salt iodization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600" b="0" i="0">
                <a:solidFill>
                  <a:srgbClr val="E7CF96"/>
                </a:solidFill>
                <a:latin typeface="Source Sans 3"/>
              </a:rPr>
              <a:t>Use iodized salt in daily cooking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87860" y="1663658"/>
            <a:ext cx="5841853" cy="32384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 spc="200">
                <a:solidFill>
                  <a:srgbClr val="B8923E"/>
                </a:solidFill>
                <a:latin typeface="Source Sans 3"/>
              </a:rPr>
              <a:t>RECOMMENDED DAILY IODINE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87860" y="2019249"/>
            <a:ext cx="2825679" cy="2095447"/>
          </a:xfrm>
          <a:prstGeom prst="roundRect">
            <a:avLst>
              <a:gd name="adj" fmla="val 7272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78355" y="2222444"/>
            <a:ext cx="2444688" cy="143481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 spc="200">
                <a:solidFill>
                  <a:srgbClr val="1F4FA8"/>
                </a:solidFill>
                <a:latin typeface="Source Sans 3"/>
              </a:rPr>
              <a:t>ADULTS</a:t>
            </a:r>
          </a:p>
          <a:p>
            <a:pPr algn="ctr">
              <a:lnSpc>
                <a:spcPct val="118000"/>
              </a:lnSpc>
              <a:spcBef>
                <a:spcPts val="800"/>
              </a:spcBef>
              <a:spcAft>
                <a:spcPts val="0"/>
              </a:spcAft>
            </a:pPr>
            <a:r>
              <a:rPr sz="5000" b="1" i="0">
                <a:solidFill>
                  <a:srgbClr val="13254D"/>
                </a:solidFill>
                <a:latin typeface="Playfair Display"/>
              </a:rPr>
              <a:t>≈ 150</a:t>
            </a:r>
          </a:p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F8B8D"/>
                </a:solidFill>
                <a:latin typeface="Source Sans 3"/>
              </a:rPr>
              <a:t>mcg / day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04034" y="2019249"/>
            <a:ext cx="2825679" cy="2095447"/>
          </a:xfrm>
          <a:prstGeom prst="roundRect">
            <a:avLst>
              <a:gd name="adj" fmla="val 7272"/>
            </a:avLst>
          </a:prstGeom>
          <a:solidFill>
            <a:srgbClr val="FCF9F2"/>
          </a:solidFill>
          <a:ln w="6350">
            <a:solidFill>
              <a:srgbClr val="E9D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94530" y="2222444"/>
            <a:ext cx="2444688" cy="138299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8A6A24"/>
                </a:solidFill>
                <a:latin typeface="Source Sans 3"/>
              </a:rPr>
              <a:t>PREGNANCY / LACTATION</a:t>
            </a:r>
          </a:p>
          <a:p>
            <a:pPr algn="ctr">
              <a:lnSpc>
                <a:spcPct val="118000"/>
              </a:lnSpc>
              <a:spcBef>
                <a:spcPts val="1100"/>
              </a:spcBef>
              <a:spcAft>
                <a:spcPts val="0"/>
              </a:spcAft>
            </a:pPr>
            <a:r>
              <a:rPr sz="4400" b="1" i="0">
                <a:solidFill>
                  <a:srgbClr val="13254D"/>
                </a:solidFill>
                <a:latin typeface="Playfair Display"/>
              </a:rPr>
              <a:t>220–250</a:t>
            </a:r>
          </a:p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8A6A24"/>
                </a:solidFill>
                <a:latin typeface="Source Sans 3"/>
              </a:rPr>
              <a:t>mcg / day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87860" y="4305192"/>
            <a:ext cx="5841853" cy="1803354"/>
          </a:xfrm>
          <a:prstGeom prst="roundRect">
            <a:avLst>
              <a:gd name="adj" fmla="val 8450"/>
            </a:avLst>
          </a:prstGeom>
          <a:solidFill>
            <a:srgbClr val="F4FAFA"/>
          </a:solidFill>
          <a:ln w="6350">
            <a:solidFill>
              <a:srgbClr val="D4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841853" y="4495687"/>
            <a:ext cx="1162274" cy="41273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41853" y="4528706"/>
            <a:ext cx="1162274" cy="34670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13254D"/>
                </a:solidFill>
                <a:latin typeface="Source Sans 3"/>
              </a:rPr>
              <a:t>Seafood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080326" y="4495687"/>
            <a:ext cx="924536" cy="41273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80326" y="4528706"/>
            <a:ext cx="924536" cy="34670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13254D"/>
                </a:solidFill>
                <a:latin typeface="Source Sans 3"/>
              </a:rPr>
              <a:t>Dairy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1061" y="4495687"/>
            <a:ext cx="805667" cy="41273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81061" y="4528706"/>
            <a:ext cx="805667" cy="34670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13254D"/>
                </a:solidFill>
                <a:latin typeface="Source Sans 3"/>
              </a:rPr>
              <a:t>Eggs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2927" y="4495687"/>
            <a:ext cx="1756620" cy="41273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62927" y="4528706"/>
            <a:ext cx="1756620" cy="34670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13254D"/>
                </a:solidFill>
                <a:latin typeface="Source Sans 3"/>
              </a:rPr>
              <a:t>Iodized salt</a:t>
            </a:r>
          </a:p>
        </p:txBody>
      </p:sp>
      <p:pic>
        <p:nvPicPr>
          <p:cNvPr id="24" name="Picture 23" descr="fis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59746" y="4444888"/>
            <a:ext cx="1142971" cy="571485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38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9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9615339749198"/>
                                    </p:val>
                                  </p:tav>
                                  <p:tav tm="100000">
                                    <p:val>
                                      <p:fltVal val="0.56665237678623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759166666666667"/>
                                    </p:val>
                                  </p:tav>
                                  <p:tav tm="100000">
                                    <p:val>
                                      <p:fltVal val="0.36295370370370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8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759166666666667"/>
                                    </p:val>
                                  </p:tav>
                                  <p:tav tm="100000">
                                    <p:val>
                                      <p:fltVal val="0.36295370370370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2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130775007290755"/>
                                    </p:val>
                                  </p:tav>
                                  <p:tav tm="100000">
                                    <p:val>
                                      <p:fltVal val="0.600114537766112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5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6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7915988626421695"/>
                                    </p:val>
                                  </p:tav>
                                  <p:tav tm="100000">
                                    <p:val>
                                      <p:fltVal val="0.26619692330125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0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601738845144357"/>
                                    </p:val>
                                  </p:tav>
                                  <p:tav tm="100000">
                                    <p:val>
                                      <p:fltVal val="0.4472109215514727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3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4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416373578302712"/>
                                    </p:val>
                                  </p:tav>
                                  <p:tav tm="100000">
                                    <p:val>
                                      <p:fltVal val="0.4286743948673082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5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7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8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601738845144357"/>
                                    </p:val>
                                  </p:tav>
                                  <p:tav tm="100000">
                                    <p:val>
                                      <p:fltVal val="0.4472109215514727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2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3785965296004664"/>
                                    </p:val>
                                  </p:tav>
                                  <p:tav tm="100000">
                                    <p:val>
                                      <p:fltVal val="0.42489668999708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5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6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722031204432779"/>
                                    </p:val>
                                  </p:tav>
                                  <p:tav tm="100000">
                                    <p:val>
                                      <p:fltVal val="0.759240157480314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9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0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985938320209973"/>
                                    </p:val>
                                  </p:tav>
                                  <p:tav tm="100000">
                                    <p:val>
                                      <p:fltVal val="0.685630869058034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3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4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985938320209973"/>
                                    </p:val>
                                  </p:tav>
                                  <p:tav tm="100000">
                                    <p:val>
                                      <p:fltVal val="0.685630869058034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5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7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8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985938320209973"/>
                                    </p:val>
                                  </p:tav>
                                  <p:tav tm="100000">
                                    <p:val>
                                      <p:fltVal val="0.685630869058034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9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7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9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2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985938320209973"/>
                                    </p:val>
                                  </p:tav>
                                  <p:tav tm="100000">
                                    <p:val>
                                      <p:fltVal val="0.685630869058034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3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5" dur="90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6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985938320209973"/>
                                    </p:val>
                                  </p:tav>
                                  <p:tav tm="100000">
                                    <p:val>
                                      <p:fltVal val="0.685630869058034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7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7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9" dur="90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0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985938320209973"/>
                                    </p:val>
                                  </p:tav>
                                  <p:tav tm="100000">
                                    <p:val>
                                      <p:fltVal val="0.685630869058034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1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8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3" dur="900" fill="hold"/>
                                  <p:tgtEl>
                                    <p:spTgt spid="2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4" dur="900" fill="hold"/>
                                  <p:tgtEl>
                                    <p:spTgt spid="2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985938320209973"/>
                                    </p:val>
                                  </p:tav>
                                  <p:tav tm="100000">
                                    <p:val>
                                      <p:fltVal val="0.685630869058034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5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8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7" dur="900" fill="hold"/>
                                  <p:tgtEl>
                                    <p:spTgt spid="2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8" dur="900" fill="hold"/>
                                  <p:tgtEl>
                                    <p:spTgt spid="2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985938320209973"/>
                                    </p:val>
                                  </p:tav>
                                  <p:tav tm="100000">
                                    <p:val>
                                      <p:fltVal val="0.685630869058034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9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9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1200" fill="hold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11  ·  PREVENTION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Prevention — Beyond Iodine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5238619" cy="2127196"/>
          </a:xfrm>
          <a:prstGeom prst="roundRect">
            <a:avLst>
              <a:gd name="adj" fmla="val 6567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f-fo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6334" y="1765255"/>
            <a:ext cx="1269968" cy="1924001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965175" y="2419289"/>
            <a:ext cx="609584" cy="609584"/>
          </a:xfrm>
          <a:prstGeom prst="ellipse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2332" y="2556446"/>
            <a:ext cx="335271" cy="33527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752556" y="1752556"/>
            <a:ext cx="3041573" cy="19494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3254D"/>
                </a:solidFill>
                <a:latin typeface="Source Sans 3"/>
              </a:rPr>
              <a:t>Limit goitrogenic foods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0B6E70"/>
                </a:solidFill>
                <a:latin typeface="Source Sans 3"/>
              </a:rPr>
              <a:t>Raw cassava, very large amounts of cruciferous vegetables — especially in iodine-deficient areas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1095" y="1663658"/>
            <a:ext cx="5238619" cy="2127196"/>
          </a:xfrm>
          <a:prstGeom prst="roundRect">
            <a:avLst>
              <a:gd name="adj" fmla="val 6567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394290" y="2419289"/>
            <a:ext cx="609584" cy="609584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1446" y="2556446"/>
            <a:ext cx="335271" cy="33527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181670" y="1752556"/>
            <a:ext cx="4057548" cy="19494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3254D"/>
                </a:solidFill>
                <a:latin typeface="Source Sans 3"/>
              </a:rPr>
              <a:t>Screen high-risk groups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1F4FA8"/>
                </a:solidFill>
                <a:latin typeface="Source Sans 3"/>
              </a:rPr>
              <a:t>Pregnant women · endemic regions · lithium/amiodarone users · family history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1980" y="3981350"/>
            <a:ext cx="5238619" cy="2127196"/>
          </a:xfrm>
          <a:prstGeom prst="roundRect">
            <a:avLst>
              <a:gd name="adj" fmla="val 6567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rf-radia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6829" y="4082947"/>
            <a:ext cx="1079473" cy="1924001"/>
          </a:xfrm>
          <a:prstGeom prst="rect">
            <a:avLst/>
          </a:prstGeom>
        </p:spPr>
      </p:pic>
      <p:sp>
        <p:nvSpPr>
          <p:cNvPr id="17" name="Oval 16"/>
          <p:cNvSpPr/>
          <p:nvPr/>
        </p:nvSpPr>
        <p:spPr>
          <a:xfrm>
            <a:off x="965175" y="4736981"/>
            <a:ext cx="609584" cy="609584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9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2332" y="4874138"/>
            <a:ext cx="335271" cy="33527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752556" y="4070248"/>
            <a:ext cx="3232069" cy="19494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3254D"/>
                </a:solidFill>
                <a:latin typeface="Source Sans 3"/>
              </a:rPr>
              <a:t>Avoid unnecessary neck radiation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8A6A24"/>
                </a:solidFill>
                <a:latin typeface="Source Sans 3"/>
              </a:rPr>
              <a:t>Use thyroid shielding when imaging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1095" y="3981350"/>
            <a:ext cx="5238619" cy="2127196"/>
          </a:xfrm>
          <a:prstGeom prst="roundRect">
            <a:avLst>
              <a:gd name="adj" fmla="val 6567"/>
            </a:avLst>
          </a:prstGeom>
          <a:solidFill>
            <a:srgbClr val="FDF6F7"/>
          </a:solidFill>
          <a:ln w="6350">
            <a:solidFill>
              <a:srgbClr val="F0D3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4290" y="4736981"/>
            <a:ext cx="609584" cy="609584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3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31446" y="4874138"/>
            <a:ext cx="335271" cy="335271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181670" y="4070248"/>
            <a:ext cx="4057548" cy="19494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3254D"/>
                </a:solidFill>
                <a:latin typeface="Source Sans 3"/>
              </a:rPr>
              <a:t>Early medical evaluation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B23A48"/>
                </a:solidFill>
                <a:latin typeface="Source Sans 3"/>
              </a:rPr>
              <a:t>Of any new neck swelling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39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9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1063808690580345"/>
                                    </p:val>
                                  </p:tav>
                                  <p:tav tm="100000">
                                    <p:val>
                                      <p:fltVal val="0.39767512394284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12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7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1017512394284045"/>
                                    </p:val>
                                  </p:tav>
                                  <p:tav tm="100000">
                                    <p:val>
                                      <p:fltVal val="0.397212160979877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8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1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1017519685039366"/>
                                    </p:val>
                                  </p:tav>
                                  <p:tav tm="100000">
                                    <p:val>
                                      <p:fltVal val="0.397212233887430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2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4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5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1063815981335666"/>
                                    </p:val>
                                  </p:tav>
                                  <p:tav tm="100000">
                                    <p:val>
                                      <p:fltVal val="0.3976751968503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6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8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9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1063808690580345"/>
                                    </p:val>
                                  </p:tav>
                                  <p:tav tm="100000">
                                    <p:val>
                                      <p:fltVal val="0.39767512394284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0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2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3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1017512394284045"/>
                                    </p:val>
                                  </p:tav>
                                  <p:tav tm="100000">
                                    <p:val>
                                      <p:fltVal val="0.397212160979877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4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6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7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1017519685039366"/>
                                    </p:val>
                                  </p:tav>
                                  <p:tav tm="100000">
                                    <p:val>
                                      <p:fltVal val="0.397212233887430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8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0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1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1063815981335666"/>
                                    </p:val>
                                  </p:tav>
                                  <p:tav tm="100000">
                                    <p:val>
                                      <p:fltVal val="0.3976751968503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2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4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5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85925925925926"/>
                                    </p:val>
                                  </p:tav>
                                  <p:tav tm="100000">
                                    <p:val>
                                      <p:fltVal val="0.735629629629629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6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8" dur="12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2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81296296296296"/>
                                    </p:val>
                                  </p:tav>
                                  <p:tav tm="100000">
                                    <p:val>
                                      <p:fltVal val="0.735166666666666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5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6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81297025371828"/>
                                    </p:val>
                                  </p:tav>
                                  <p:tav tm="100000">
                                    <p:val>
                                      <p:fltVal val="0.735166739574219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9" dur="9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0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85926655001458"/>
                                    </p:val>
                                  </p:tav>
                                  <p:tav tm="100000">
                                    <p:val>
                                      <p:fltVal val="0.735629702537182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1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3" dur="90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4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85925925925926"/>
                                    </p:val>
                                  </p:tav>
                                  <p:tav tm="100000">
                                    <p:val>
                                      <p:fltVal val="0.735629629629629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7" dur="90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8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81296296296296"/>
                                    </p:val>
                                  </p:tav>
                                  <p:tav tm="100000">
                                    <p:val>
                                      <p:fltVal val="0.735166666666666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8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900" fill="hold"/>
                                  <p:tgtEl>
                                    <p:spTgt spid="2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2" dur="900" fill="hold"/>
                                  <p:tgtEl>
                                    <p:spTgt spid="2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81297025371828"/>
                                    </p:val>
                                  </p:tav>
                                  <p:tav tm="100000">
                                    <p:val>
                                      <p:fltVal val="0.735166739574219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8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5" dur="900" fill="hold"/>
                                  <p:tgtEl>
                                    <p:spTgt spid="2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6" dur="900" fill="hold"/>
                                  <p:tgtEl>
                                    <p:spTgt spid="2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85926655001458"/>
                                    </p:val>
                                  </p:tav>
                                  <p:tav tm="100000">
                                    <p:val>
                                      <p:fltVal val="0.735629702537182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12  ·  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References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38259"/>
            <a:ext cx="10667733" cy="584185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2476" y="1727156"/>
            <a:ext cx="507987" cy="4419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B8923E"/>
                </a:solidFill>
                <a:latin typeface="Playfair Display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87460" y="1689057"/>
            <a:ext cx="9651758" cy="4825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3254D"/>
                </a:solidFill>
                <a:latin typeface="Source Sans 3"/>
              </a:rPr>
              <a:t>World Health Organization (WHO).</a:t>
            </a:r>
            <a:r>
              <a:rPr sz="1350" b="0" i="0">
                <a:latin typeface="Source Sans 3"/>
              </a:rPr>
              <a:t> </a:t>
            </a:r>
            <a:r>
              <a:rPr sz="1350" b="0" i="0">
                <a:solidFill>
                  <a:srgbClr val="1C2A44"/>
                </a:solidFill>
                <a:latin typeface="Source Sans 3"/>
              </a:rPr>
              <a:t>Goiter assessment / Iodine deficiency disorders</a:t>
            </a:r>
            <a:r>
              <a:rPr sz="1350" b="0" i="0">
                <a:latin typeface="Source Sans 3"/>
              </a:rPr>
              <a:t>  </a:t>
            </a:r>
            <a:r>
              <a:rPr sz="1350" b="0" i="0">
                <a:solidFill>
                  <a:srgbClr val="0F8B8D"/>
                </a:solidFill>
                <a:latin typeface="Source Sans 3"/>
              </a:rPr>
              <a:t>(who.int)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1980" y="2298642"/>
            <a:ext cx="10667733" cy="584185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2476" y="2387540"/>
            <a:ext cx="507987" cy="4419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B8923E"/>
                </a:solidFill>
                <a:latin typeface="Playfair Display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87460" y="2349441"/>
            <a:ext cx="9651758" cy="4825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3254D"/>
                </a:solidFill>
                <a:latin typeface="Source Sans 3"/>
              </a:rPr>
              <a:t>American Thyroid Association (ATA).</a:t>
            </a:r>
            <a:r>
              <a:rPr sz="1350" b="0" i="0">
                <a:latin typeface="Source Sans 3"/>
              </a:rPr>
              <a:t> </a:t>
            </a:r>
            <a:r>
              <a:rPr sz="1350" b="0" i="0">
                <a:solidFill>
                  <a:srgbClr val="1C2A44"/>
                </a:solidFill>
                <a:latin typeface="Source Sans 3"/>
              </a:rPr>
              <a:t>Thyroid Nodules &amp; Differentiated Thyroid Cancer Guidelines</a:t>
            </a:r>
            <a:r>
              <a:rPr sz="1350" b="0" i="0">
                <a:latin typeface="Source Sans 3"/>
              </a:rPr>
              <a:t>  </a:t>
            </a:r>
            <a:r>
              <a:rPr sz="1350" b="0" i="0">
                <a:solidFill>
                  <a:srgbClr val="0F8B8D"/>
                </a:solidFill>
                <a:latin typeface="Source Sans 3"/>
              </a:rPr>
              <a:t>(thyroid.org)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1980" y="2959026"/>
            <a:ext cx="10667733" cy="584185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2476" y="3047923"/>
            <a:ext cx="507987" cy="4419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B8923E"/>
                </a:solidFill>
                <a:latin typeface="Playfair Display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87460" y="3009824"/>
            <a:ext cx="9651758" cy="4825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3254D"/>
                </a:solidFill>
                <a:latin typeface="Source Sans 3"/>
              </a:rPr>
              <a:t>Mathew P, Rawla P.</a:t>
            </a:r>
            <a:r>
              <a:rPr sz="1350" b="0" i="0">
                <a:latin typeface="Source Sans 3"/>
              </a:rPr>
              <a:t> </a:t>
            </a:r>
            <a:r>
              <a:rPr sz="1350" b="0" i="0">
                <a:solidFill>
                  <a:srgbClr val="1C2A44"/>
                </a:solidFill>
                <a:latin typeface="Source Sans 3"/>
              </a:rPr>
              <a:t>Hyperthyroidism; Goiter. StatPearls Publishing, NCBI Bookshelf</a:t>
            </a:r>
            <a:r>
              <a:rPr sz="1350" b="0" i="0">
                <a:latin typeface="Source Sans 3"/>
              </a:rPr>
              <a:t>  </a:t>
            </a:r>
            <a:r>
              <a:rPr sz="1350" b="0" i="0">
                <a:solidFill>
                  <a:srgbClr val="0F8B8D"/>
                </a:solidFill>
                <a:latin typeface="Source Sans 3"/>
              </a:rPr>
              <a:t>(ncbi.nlm.nih.gov/books)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1980" y="3619409"/>
            <a:ext cx="10667733" cy="584185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2476" y="3708307"/>
            <a:ext cx="507987" cy="4419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B8923E"/>
                </a:solidFill>
                <a:latin typeface="Playfair Display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87460" y="3670208"/>
            <a:ext cx="9651758" cy="4825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3254D"/>
                </a:solidFill>
                <a:latin typeface="Source Sans 3"/>
              </a:rPr>
              <a:t>Mayo Clinic.</a:t>
            </a:r>
            <a:r>
              <a:rPr sz="1350" b="0" i="0">
                <a:latin typeface="Source Sans 3"/>
              </a:rPr>
              <a:t> </a:t>
            </a:r>
            <a:r>
              <a:rPr sz="1350" b="0" i="0">
                <a:solidFill>
                  <a:srgbClr val="1C2A44"/>
                </a:solidFill>
                <a:latin typeface="Source Sans 3"/>
              </a:rPr>
              <a:t>Goiter — Symptoms and causes; Diagnosis and treatment</a:t>
            </a:r>
            <a:r>
              <a:rPr sz="1350" b="0" i="0">
                <a:latin typeface="Source Sans 3"/>
              </a:rPr>
              <a:t>  </a:t>
            </a:r>
            <a:r>
              <a:rPr sz="1350" b="0" i="0">
                <a:solidFill>
                  <a:srgbClr val="0F8B8D"/>
                </a:solidFill>
                <a:latin typeface="Source Sans 3"/>
              </a:rPr>
              <a:t>(mayoclinic.org)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1980" y="4279793"/>
            <a:ext cx="10667733" cy="584185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2476" y="4368690"/>
            <a:ext cx="507987" cy="4419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B8923E"/>
                </a:solidFill>
                <a:latin typeface="Playfair Display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7460" y="4330591"/>
            <a:ext cx="9651758" cy="4825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3254D"/>
                </a:solidFill>
                <a:latin typeface="Source Sans 3"/>
              </a:rPr>
              <a:t>Medscape (eMedicine).</a:t>
            </a:r>
            <a:r>
              <a:rPr sz="1350" b="0" i="0">
                <a:latin typeface="Source Sans 3"/>
              </a:rPr>
              <a:t> </a:t>
            </a:r>
            <a:r>
              <a:rPr sz="1350" b="0" i="0">
                <a:solidFill>
                  <a:srgbClr val="1C2A44"/>
                </a:solidFill>
                <a:latin typeface="Source Sans 3"/>
              </a:rPr>
              <a:t>Goiter: Practice Essentials, Pathophysiology, Etiology</a:t>
            </a:r>
            <a:r>
              <a:rPr sz="1350" b="0" i="0">
                <a:latin typeface="Source Sans 3"/>
              </a:rPr>
              <a:t>  </a:t>
            </a:r>
            <a:r>
              <a:rPr sz="1350" b="0" i="0">
                <a:solidFill>
                  <a:srgbClr val="0F8B8D"/>
                </a:solidFill>
                <a:latin typeface="Source Sans 3"/>
              </a:rPr>
              <a:t>(emedicine.medscape.com)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61980" y="4940176"/>
            <a:ext cx="10667733" cy="584185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2476" y="5029074"/>
            <a:ext cx="507987" cy="4419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B8923E"/>
                </a:solidFill>
                <a:latin typeface="Playfair Display"/>
              </a:rPr>
              <a:t>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87460" y="4990975"/>
            <a:ext cx="9651758" cy="4825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3254D"/>
                </a:solidFill>
                <a:latin typeface="Source Sans 3"/>
              </a:rPr>
              <a:t>NIDDK.</a:t>
            </a:r>
            <a:r>
              <a:rPr sz="1350" b="0" i="0">
                <a:latin typeface="Source Sans 3"/>
              </a:rPr>
              <a:t> </a:t>
            </a:r>
            <a:r>
              <a:rPr sz="1350" b="0" i="0">
                <a:solidFill>
                  <a:srgbClr val="1C2A44"/>
                </a:solidFill>
                <a:latin typeface="Source Sans 3"/>
              </a:rPr>
              <a:t>Hashimoto’s Disease &amp; Graves’ Disease</a:t>
            </a:r>
            <a:r>
              <a:rPr sz="1350" b="0" i="0">
                <a:latin typeface="Source Sans 3"/>
              </a:rPr>
              <a:t>  </a:t>
            </a:r>
            <a:r>
              <a:rPr sz="1350" b="0" i="0">
                <a:solidFill>
                  <a:srgbClr val="0F8B8D"/>
                </a:solidFill>
                <a:latin typeface="Source Sans 3"/>
              </a:rPr>
              <a:t>(niddk.nih.gov)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1980" y="5600559"/>
            <a:ext cx="10667733" cy="584185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2476" y="5689457"/>
            <a:ext cx="507987" cy="4419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B8923E"/>
                </a:solidFill>
                <a:latin typeface="Playfair Display"/>
              </a:rPr>
              <a:t>07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87460" y="5651358"/>
            <a:ext cx="9651758" cy="4825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3254D"/>
                </a:solidFill>
                <a:latin typeface="Source Sans 3"/>
              </a:rPr>
              <a:t>Hegedüs L, Bonnema SJ, Bennedbæk FN.</a:t>
            </a:r>
            <a:r>
              <a:rPr sz="1350" b="0" i="0">
                <a:latin typeface="Source Sans 3"/>
              </a:rPr>
              <a:t> </a:t>
            </a:r>
            <a:r>
              <a:rPr sz="1350" b="0" i="0">
                <a:solidFill>
                  <a:srgbClr val="1C2A44"/>
                </a:solidFill>
                <a:latin typeface="Source Sans 3"/>
              </a:rPr>
              <a:t>Management of simple nodular goiter: current status and future perspectives. </a:t>
            </a:r>
            <a:r>
              <a:rPr sz="1350" b="0" i="0">
                <a:solidFill>
                  <a:srgbClr val="1C2A44"/>
                </a:solidFill>
                <a:latin typeface="Source Sans 3"/>
              </a:rPr>
              <a:t>Endocrine Reviews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40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9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9443737241178186"/>
                                    </p:val>
                                  </p:tav>
                                  <p:tav tm="100000">
                                    <p:val>
                                      <p:fltVal val="0.28147440944881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970297462817148"/>
                                    </p:val>
                                  </p:tav>
                                  <p:tav tm="100000">
                                    <p:val>
                                      <p:fltVal val="0.2840667833187518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8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944372265966754"/>
                                    </p:val>
                                  </p:tav>
                                  <p:tav tm="100000">
                                    <p:val>
                                      <p:fltVal val="0.281474263633712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2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907311898512686"/>
                                    </p:val>
                                  </p:tav>
                                  <p:tav tm="100000">
                                    <p:val>
                                      <p:fltVal val="0.3777682268883056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5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6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9332370953630796"/>
                                    </p:val>
                                  </p:tav>
                                  <p:tav tm="100000">
                                    <p:val>
                                      <p:fltVal val="0.38036074657334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0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907311898512686"/>
                                    </p:val>
                                  </p:tav>
                                  <p:tav tm="100000">
                                    <p:val>
                                      <p:fltVal val="0.3777682268883056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3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4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8702515310586175"/>
                                    </p:val>
                                  </p:tav>
                                  <p:tav tm="100000">
                                    <p:val>
                                      <p:fltVal val="0.474062190142898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5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7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8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896175269757947"/>
                                    </p:val>
                                  </p:tav>
                                  <p:tav tm="100000">
                                    <p:val>
                                      <p:fltVal val="0.4766545640128317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2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870250072907553"/>
                                    </p:val>
                                  </p:tav>
                                  <p:tav tm="100000">
                                    <p:val>
                                      <p:fltVal val="0.4740620443277923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5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6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833189705453485"/>
                                    </p:val>
                                  </p:tav>
                                  <p:tav tm="100000">
                                    <p:val>
                                      <p:fltVal val="0.570356007582385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9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0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859114902303879"/>
                                    </p:val>
                                  </p:tav>
                                  <p:tav tm="100000">
                                    <p:val>
                                      <p:fltVal val="0.57294852726742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3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4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833189705453485"/>
                                    </p:val>
                                  </p:tav>
                                  <p:tav tm="100000">
                                    <p:val>
                                      <p:fltVal val="0.570356007582385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5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7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8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796129337999417"/>
                                    </p:val>
                                  </p:tav>
                                  <p:tav tm="100000">
                                    <p:val>
                                      <p:fltVal val="0.666649970836978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9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7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9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2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822053076698746"/>
                                    </p:val>
                                  </p:tav>
                                  <p:tav tm="100000">
                                    <p:val>
                                      <p:fltVal val="0.669242344706911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3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5" dur="90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6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796127879848353"/>
                                    </p:val>
                                  </p:tav>
                                  <p:tav tm="100000">
                                    <p:val>
                                      <p:fltVal val="0.666649825021872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7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7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9" dur="90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0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759067512394284"/>
                                    </p:val>
                                  </p:tav>
                                  <p:tav tm="100000">
                                    <p:val>
                                      <p:fltVal val="0.762943788276465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1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8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3" dur="900" fill="hold"/>
                                  <p:tgtEl>
                                    <p:spTgt spid="2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4" dur="900" fill="hold"/>
                                  <p:tgtEl>
                                    <p:spTgt spid="2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784992709244678"/>
                                    </p:val>
                                  </p:tav>
                                  <p:tav tm="100000">
                                    <p:val>
                                      <p:fltVal val="0.765536307961504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5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8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7" dur="900" fill="hold"/>
                                  <p:tgtEl>
                                    <p:spTgt spid="2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8" dur="900" fill="hold"/>
                                  <p:tgtEl>
                                    <p:spTgt spid="2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759067512394284"/>
                                    </p:val>
                                  </p:tav>
                                  <p:tav tm="100000">
                                    <p:val>
                                      <p:fltVal val="0.762943788276465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9" presetID="10" presetClass="entr" presetSubtype="0" fill="hold" grpId="0" nodeType="withEffect">
                            <p:stCondLst>
                              <p:cond delay="840"/>
                            </p:stCondLst>
                            <p:childTnLst>
                              <p:set>
                                <p:cBhvr>
                                  <p:cTn id="9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900" fill="hold"/>
                                  <p:tgtEl>
                                    <p:spTgt spid="2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2" dur="900" fill="hold"/>
                                  <p:tgtEl>
                                    <p:spTgt spid="2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722005686789152"/>
                                    </p:val>
                                  </p:tav>
                                  <p:tav tm="100000">
                                    <p:val>
                                      <p:fltVal val="0.85923760571595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3" presetID="10" presetClass="entr" presetSubtype="0" fill="hold" grpId="0" nodeType="withEffect">
                            <p:stCondLst>
                              <p:cond delay="840"/>
                            </p:stCondLst>
                            <p:childTnLst>
                              <p:set>
                                <p:cBhvr>
                                  <p:cTn id="9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5" dur="900" fill="hold"/>
                                  <p:tgtEl>
                                    <p:spTgt spid="2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6" dur="900" fill="hold"/>
                                  <p:tgtEl>
                                    <p:spTgt spid="2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747930883639545"/>
                                    </p:val>
                                  </p:tav>
                                  <p:tav tm="100000">
                                    <p:val>
                                      <p:fltVal val="0.861830125400991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7" presetID="10" presetClass="entr" presetSubtype="0" fill="hold" grpId="0" nodeType="withEffect">
                            <p:stCondLst>
                              <p:cond delay="840"/>
                            </p:stCondLst>
                            <p:childTnLst>
                              <p:set>
                                <p:cBhvr>
                                  <p:cTn id="9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9" dur="900" fill="hold"/>
                                  <p:tgtEl>
                                    <p:spTgt spid="2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00" dur="900" fill="hold"/>
                                  <p:tgtEl>
                                    <p:spTgt spid="2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722005686789152"/>
                                    </p:val>
                                  </p:tav>
                                  <p:tav tm="100000">
                                    <p:val>
                                      <p:fltVal val="0.85923760571595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53993" y="253993"/>
            <a:ext cx="11683707" cy="6349841"/>
          </a:xfrm>
          <a:prstGeom prst="rect">
            <a:avLst/>
          </a:prstGeom>
          <a:noFill/>
          <a:ln w="9525">
            <a:solidFill>
              <a:srgbClr val="B89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5591" y="355591"/>
            <a:ext cx="11480512" cy="6146646"/>
          </a:xfrm>
          <a:prstGeom prst="rect">
            <a:avLst/>
          </a:prstGeom>
          <a:noFill/>
          <a:ln w="6350">
            <a:solidFill>
              <a:srgbClr val="B89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365815" y="1015974"/>
            <a:ext cx="4825879" cy="482587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556311" y="1206469"/>
            <a:ext cx="4444888" cy="4444888"/>
          </a:xfrm>
          <a:prstGeom prst="ellipse">
            <a:avLst/>
          </a:prstGeom>
          <a:noFill/>
          <a:ln w="12700">
            <a:solidFill>
              <a:srgbClr val="B89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873803" y="1523961"/>
            <a:ext cx="3809904" cy="3809904"/>
          </a:xfrm>
          <a:prstGeom prst="ellipse">
            <a:avLst/>
          </a:prstGeom>
          <a:noFill/>
          <a:ln w="9525">
            <a:solidFill>
              <a:srgbClr val="1F4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21806" y="3340016"/>
            <a:ext cx="177795" cy="177795"/>
          </a:xfrm>
          <a:prstGeom prst="ellipse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778555" y="2095447"/>
            <a:ext cx="114297" cy="114297"/>
          </a:xfrm>
          <a:prstGeom prst="ellipse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hyroid-gl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5288" y="2285942"/>
            <a:ext cx="2666933" cy="251453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79473" y="1587460"/>
            <a:ext cx="5714857" cy="257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 spc="450">
                <a:solidFill>
                  <a:srgbClr val="0F8B8D"/>
                </a:solidFill>
                <a:latin typeface="Source Sans 3"/>
              </a:rPr>
              <a:t>WITH GRATITUDE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476" y="1904952"/>
            <a:ext cx="6667333" cy="386070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0" b="0" i="0">
                <a:solidFill>
                  <a:srgbClr val="13254D"/>
                </a:solidFill>
                <a:latin typeface="Source Sans 3"/>
              </a:rPr>
              <a:t>Thank you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9473" y="3936901"/>
            <a:ext cx="4444888" cy="126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079473" y="4292492"/>
            <a:ext cx="6095847" cy="4800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1">
                <a:solidFill>
                  <a:srgbClr val="1F4FA8"/>
                </a:solidFill>
                <a:latin typeface="Playfair Display"/>
              </a:rPr>
              <a:t>for listening — and for caring.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9473" y="5321166"/>
            <a:ext cx="5714857" cy="28891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 spc="100">
                <a:solidFill>
                  <a:srgbClr val="FFFFFF"/>
                </a:solidFill>
                <a:latin typeface="Source Sans 3"/>
              </a:rPr>
              <a:t>Questions are welcome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12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" dur="12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" dur="12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" dur="12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0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296165791776027"/>
                                    </p:val>
                                  </p:tav>
                                  <p:tav tm="100000">
                                    <p:val>
                                      <p:fltVal val="0.516653616214639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4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631881014873141"/>
                                    </p:val>
                                  </p:tav>
                                  <p:tav tm="100000">
                                    <p:val>
                                      <p:fltVal val="0.2502251385243511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8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22081510644502"/>
                                    </p:val>
                                  </p:tav>
                                  <p:tav tm="100000">
                                    <p:val>
                                      <p:fltVal val="0.559245188101487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2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962815689705453"/>
                                    </p:val>
                                  </p:tav>
                                  <p:tav tm="100000">
                                    <p:val>
                                      <p:fltVal val="0.583318606007582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5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6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738721930592009"/>
                                    </p:val>
                                  </p:tav>
                                  <p:tav tm="100000">
                                    <p:val>
                                      <p:fltVal val="0.660909230096237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0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099335812190143"/>
                                    </p:val>
                                  </p:tav>
                                  <p:tav tm="100000">
                                    <p:val>
                                      <p:fltVal val="0.796970618256051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Goiter — Complete Medical Presentation</dc:title>
  <dc:subject>Full academic deck built from Goiter_Medical_Presentation.pdf for nursing &amp; medical students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