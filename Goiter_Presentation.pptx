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1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3.png"/><Relationship Id="rId4" Type="http://schemas.openxmlformats.org/officeDocument/2006/relationships/image" Target="../media/image12.png"/><Relationship Id="rId5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55.png"/><Relationship Id="rId5" Type="http://schemas.openxmlformats.org/officeDocument/2006/relationships/image" Target="../media/image18.png"/><Relationship Id="rId6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41.png"/><Relationship Id="rId6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9.png"/><Relationship Id="rId4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41.png"/><Relationship Id="rId5" Type="http://schemas.openxmlformats.org/officeDocument/2006/relationships/image" Target="../media/image31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0.png"/><Relationship Id="rId4" Type="http://schemas.openxmlformats.org/officeDocument/2006/relationships/image" Target="../media/image68.png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41.png"/><Relationship Id="rId5" Type="http://schemas.openxmlformats.org/officeDocument/2006/relationships/image" Target="../media/image75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77.png"/><Relationship Id="rId4" Type="http://schemas.openxmlformats.org/officeDocument/2006/relationships/image" Target="../media/image45.png"/><Relationship Id="rId5" Type="http://schemas.openxmlformats.org/officeDocument/2006/relationships/image" Target="../media/image7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24.png"/><Relationship Id="rId6" Type="http://schemas.openxmlformats.org/officeDocument/2006/relationships/image" Target="../media/image83.png"/><Relationship Id="rId7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03834" y="0"/>
            <a:ext cx="5587860" cy="6857828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8323" y="952476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7828" y="761980"/>
            <a:ext cx="5067173" cy="5067173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1587460"/>
            <a:ext cx="3555911" cy="3359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523961"/>
            <a:ext cx="5460863" cy="27304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400">
                <a:solidFill>
                  <a:srgbClr val="0F8B8D"/>
                </a:solidFill>
                <a:latin typeface="Source Sans 3"/>
              </a:rPr>
              <a:t>MEDICAL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677" y="1841453"/>
            <a:ext cx="5587860" cy="172715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 i="0">
                <a:solidFill>
                  <a:srgbClr val="13254D"/>
                </a:solidFill>
                <a:latin typeface="Playfair Display"/>
              </a:rPr>
              <a:t>Goiter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52476" y="3682907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3911502"/>
            <a:ext cx="5460863" cy="41591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4FA8"/>
                </a:solidFill>
                <a:latin typeface="Source Sans 3"/>
              </a:rPr>
              <a:t>Enlargement of the Thyroid Gland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476" y="4444888"/>
            <a:ext cx="1015974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470288"/>
            <a:ext cx="1015974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4648" y="4444888"/>
            <a:ext cx="800079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4648" y="4470288"/>
            <a:ext cx="80007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0926" y="4444888"/>
            <a:ext cx="1244568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0926" y="4470288"/>
            <a:ext cx="1244568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1693" y="4444888"/>
            <a:ext cx="1885902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1693" y="4470288"/>
            <a:ext cx="188590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Clinical Manifestations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2476" y="4838579"/>
            <a:ext cx="984225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2476" y="4863978"/>
            <a:ext cx="98422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2899" y="4838579"/>
            <a:ext cx="1225519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2899" y="4863978"/>
            <a:ext cx="122551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14617" y="4838579"/>
            <a:ext cx="1098522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4617" y="4863978"/>
            <a:ext cx="109852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76" y="5714857"/>
            <a:ext cx="5460863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spc="50">
                <a:solidFill>
                  <a:srgbClr val="13254D"/>
                </a:solidFill>
                <a:latin typeface="Source Sans 3"/>
              </a:rPr>
              <a:t>Prepared for Nursing &amp; Medical Students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33989501312336"/>
                                    </p:val>
                                  </p:tav>
                                  <p:tav tm="100000">
                                    <p:val>
                                      <p:fltVal val="0.47637693205016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1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5508639545056866"/>
                                    </p:val>
                                  </p:tav>
                                  <p:tav tm="100000">
                                    <p:val>
                                      <p:fltVal val="0.24212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73973461650627"/>
                                    </p:val>
                                  </p:tav>
                                  <p:tav tm="100000">
                                    <p:val>
                                      <p:fltVal val="0.3944343832020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8382181393993"/>
                                    </p:val>
                                  </p:tav>
                                  <p:tav tm="100000">
                                    <p:val>
                                      <p:fltVal val="0.53887525517643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423155438904"/>
                                    </p:val>
                                  </p:tav>
                                  <p:tav tm="100000">
                                    <p:val>
                                      <p:fltVal val="0.6006793525809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8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6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0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8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0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2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673396762904637"/>
                                    </p:val>
                                  </p:tav>
                                  <p:tav tm="100000">
                                    <p:val>
                                      <p:fltVal val="0.8543767133275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958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58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958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Risk Factors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0958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839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6334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4817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Classification / Stages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839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6334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817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Signs and Symptoms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839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6334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4817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Complications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839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334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817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9697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192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8675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Medical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9697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2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CF96"/>
                </a:solidFill>
                <a:latin typeface="Playfair Display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675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Nursing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89697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2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8675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9697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0192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8675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References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Thyroid Gland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Butterfly-shaped thyroid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7556" y="203194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13" y="2169105"/>
            <a:ext cx="335271" cy="3352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4937" y="1752556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LOCATION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Anterior neck — just below the larynx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Wraps around the trachea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206669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27556" y="3574960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713" y="3712117"/>
            <a:ext cx="335271" cy="3352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4937" y="3295567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HORMONES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T4 (thyroxine) &amp; T3 (triiodothyronine)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Regulate metabolism, growth &amp;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4361" y="4749681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7556" y="51179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13" y="5255128"/>
            <a:ext cx="335271" cy="3352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14937" y="4838579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ALSO SECRETES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Contributes to calcium homeostasis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10061242343"/>
                                    </p:val>
                                  </p:tav>
                                  <p:tav tm="100000">
                                    <p:val>
                                      <p:fltVal val="0.34073213764946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0277048702"/>
                                    </p:val>
                                  </p:tav>
                                  <p:tav tm="100000">
                                    <p:val>
                                      <p:fltVal val="0.34073206474190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A Global Health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41453"/>
            <a:ext cx="596885" cy="596885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273" y="1975753"/>
            <a:ext cx="328286" cy="32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One of the oldest documented human diseases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1F4FA8"/>
                </a:solidFill>
                <a:latin typeface="Source Sans 3"/>
              </a:rPr>
              <a:t>Still a major global health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7875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ayfair Display"/>
              </a:rPr>
              <a:t>1.5–2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BILLION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People at risk of iodine deficiency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663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58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~200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People living with a goiter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346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240" y="3124121"/>
            <a:ext cx="2139896" cy="13032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4–10×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MORE COMMON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In women than in 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8028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3923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WITH 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Prevalence rises as age increases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35231116943715"/>
                                    </p:val>
                                  </p:tav>
                                  <p:tav tm="100000">
                                    <p:val>
                                      <p:fltVal val="0.55056014873140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Why It Matters Clinically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KEY POINT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Most goiters are benign &amp; asymptomatic — but not all are harmless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251118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08277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Can press on the airway &amp; esophagus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251118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408277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May reflect hypo- or hyperthyroidism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251118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408277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140096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Hidden malignancy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In a small % of nodular goiters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251118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408277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140096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The nurse’s role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Early detection · perioperative care · patient education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62418343540391"/>
                                    </p:val>
                                  </p:tav>
                                  <p:tav tm="100000">
                                    <p:val>
                                      <p:fltVal val="0.69327887139107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28339895013123"/>
                                    </p:val>
                                  </p:tav>
                                  <p:tav tm="100000">
                                    <p:val>
                                      <p:fltVal val="0.70987102653834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What Is a Goiter?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Enlarged thyroid in the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460463"/>
          </a:xfrm>
          <a:prstGeom prst="roundRect">
            <a:avLst>
              <a:gd name="adj" fmla="val 1043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16054"/>
            <a:ext cx="5905352" cy="9832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LATIN · 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GUTTUR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 = “THROAT”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Enlargement of the thyroid gland — regardless of cause or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6374" y="3314617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WHEN IS THE THYROID ENLARGED?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374" y="3632109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9569" y="390515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404230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06949" y="3721006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ON EXAMINATION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Each lobe &gt; terminal phalanx of the patient’s thumb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374" y="4946526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19569" y="521956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56726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06949" y="5035424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ON ULTRASOUND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Total volume &gt; ~18 mL (women) · &gt; 25 mL (men)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20282152230971"/>
                                    </p:val>
                                  </p:tav>
                                  <p:tav tm="100000">
                                    <p:val>
                                      <p:fltVal val="0.349065252260134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45443277923594"/>
                                    </p:val>
                                  </p:tav>
                                  <p:tav tm="100000">
                                    <p:val>
                                      <p:fltVal val="0.336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98946485855934"/>
                                    </p:val>
                                  </p:tav>
                                  <p:tav tm="100000">
                                    <p:val>
                                      <p:fltVal val="0.50693168562263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3584135317"/>
                                    </p:val>
                                  </p:tav>
                                  <p:tav tm="100000">
                                    <p:val>
                                      <p:fltVal val="0.61433639545056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954505687"/>
                                    </p:val>
                                  </p:tav>
                                  <p:tav tm="100000">
                                    <p:val>
                                      <p:fltVal val="0.61387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225430155"/>
                                    </p:val>
                                  </p:tav>
                                  <p:tav tm="100000">
                                    <p:val>
                                      <p:fltVal val="0.61387335958005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2855059785"/>
                                    </p:val>
                                  </p:tav>
                                  <p:tav tm="100000">
                                    <p:val>
                                      <p:fltVal val="0.61433632254301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131816856"/>
                                    </p:val>
                                  </p:tav>
                                  <p:tav tm="100000">
                                    <p:val>
                                      <p:fltVal val="0.80599825021872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2502187227"/>
                                    </p:val>
                                  </p:tav>
                                  <p:tav tm="100000">
                                    <p:val>
                                      <p:fltVal val="0.8055352872557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3231262759"/>
                                    </p:val>
                                  </p:tav>
                                  <p:tav tm="100000">
                                    <p:val>
                                      <p:fltVal val="0.805535360163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860892388"/>
                                    </p:val>
                                  </p:tav>
                                  <p:tav tm="100000">
                                    <p:val>
                                      <p:fltVal val="0.80599832312627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27236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Diffuse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Uniform, symmetrical enlargement of the whole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ultinodular-go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91" y="1765255"/>
            <a:ext cx="146046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6351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Nodular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One (uninodular) or multiple (multinodular) palpable nodules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52556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Simple (non-toxic)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No hyper- or hypothyroidism · no inflammation or neoplasia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Toxic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Excess hormone production — e.g., Graves’, toxic MNG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Endemic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Affects &gt; 10% of a population — usually regional iodine deficiency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Sporadic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Individual cases — genetic, dietary, drug-related or autoimmune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Retrosternal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(Substernal) — extends below the sternum into the superior mediastinum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839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3613059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#1 WORLDWIDE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Leading risk factor worldwide — mountainous &amp; inland regions far from the sea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19689" y="1752556"/>
            <a:ext cx="3994050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Female gender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Women affected 4–10× more often than 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826" y="4082947"/>
            <a:ext cx="952476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575" y="4070248"/>
            <a:ext cx="4121046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Age over 40 years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Prevalence increases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ami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448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Family history / genetics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Inherited defects of hormone synthesis (dyshormonogenesis)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pregn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20" y="1765255"/>
            <a:ext cx="888977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2374840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Hormonal changes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Puberty, pregnancy &amp; menopause ↑ hormone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39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ra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31" y="1765255"/>
            <a:ext cx="952476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9984" y="1752556"/>
            <a:ext cx="2311342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Radiation exposure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Prior head/neck irradiation or nuclear fallout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9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dru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394" y="1752556"/>
            <a:ext cx="2184345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Medications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Lithium · amiodarone · immunosuppressants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oo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334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0575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Dietary goitrogens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Excess cassava, cabbage, broccoli, soy — worse with iodine deficiency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f-smo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8452" y="4082947"/>
            <a:ext cx="1396965" cy="192400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9689" y="4070248"/>
            <a:ext cx="367655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Smoking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Thiocyanate in smoke interferes with iodine uptake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12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How Iodine Deficiency Builds a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MOST COMMON CAUSE WORLDWIDE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Iodine deficiency → endemic goiter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0958" y="3809904"/>
            <a:ext cx="8889777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1980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9209" y="3301917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55" y="3473363"/>
            <a:ext cx="419089" cy="41908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01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412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49641" y="3301917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086" y="3473363"/>
            <a:ext cx="419089" cy="4190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82907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02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↓ Hormone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844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0072" y="3301917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518" y="3473363"/>
            <a:ext cx="419089" cy="4190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13339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03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↑ 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276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10504" y="3301917"/>
            <a:ext cx="761980" cy="761980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950" y="3473363"/>
            <a:ext cx="419089" cy="41908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771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04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Glandular hyperplasia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749681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521085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Hashimoto's 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Autoimmune destruction ·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most common cause in iodine-sufficient regions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· leads to hypothyroidism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Graves' disease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TSH-receptor stimulating antibodies → diffuse toxic goiter with hyperthyroidism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Multinodular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Multiple adenomatous nodules · may become autonomously functioning (toxic)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Solitary thyroid nodule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Adenoma, cyst or carcinoma —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≈ 5% of palpable nodules are malignant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Subacute (De Quervain), postpartum or silent — often painful or transient dysfunction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18369058034412"/>
                                    </p:val>
                                  </p:tav>
                                  <p:tav tm="100000">
                                    <p:val>
                                      <p:fltVal val="0.58887394284047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6226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394089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 cancer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Papillary (most common) · follicular · medullary · anaplastic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Drugs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Lithium · amiodarone (iodine-rich) · interferon-alpha · tyrosine kinase inhibitors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Pregnancy / HCG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HCG weakly stimulates TSH receptors → mild physiological enlargement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Iodine excess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Paradoxically</a:t>
                      </a:r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, chronic excess iodine can also induce goiter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Clinical Grading of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241693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7" cy="4013098"/>
        </p:xfrm>
        <a:graphic>
          <a:graphicData uri="http://schemas.openxmlformats.org/drawingml/2006/table">
            <a:tbl>
              <a:tblPr firstRow="0" bandRow="0"/>
              <a:tblGrid>
                <a:gridCol w="1650958"/>
                <a:gridCol w="1587460"/>
                <a:gridCol w="1587460"/>
                <a:gridCol w="5613259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GRADE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PALPABLE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VISIBLE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FINDING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0B6E70"/>
                          </a:solidFill>
                          <a:latin typeface="Playfair Display"/>
                        </a:rPr>
                        <a:t>0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No palpable or visible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1F4FA8"/>
                          </a:solidFill>
                          <a:latin typeface="Playfair Display"/>
                        </a:rPr>
                        <a:t>1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Palpable — not visible with neck in normal position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F4FA8"/>
                          </a:solidFill>
                          <a:latin typeface="Source Sans 3"/>
                        </a:rPr>
                        <a:t>1a · palpable only</a:t>
                      </a:r>
                      <a:r>
                        <a:rPr sz="1200" b="1">
                          <a:solidFill>
                            <a:srgbClr val="8A6A24"/>
                          </a:solidFill>
                          <a:latin typeface="Source Sans 3"/>
                        </a:rPr>
                        <a:t>1b · visible with neck extended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E7CF96"/>
                          </a:solidFill>
                          <a:latin typeface="Playfair Display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Clearly visible with neck in normal position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48008165645961"/>
                                    </p:val>
                                  </p:tav>
                                  <p:tav tm="100000">
                                    <p:val>
                                      <p:fltVal val="0.55183785360163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Classification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90655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Morphology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5415" y="1663658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9409" y="1790655"/>
            <a:ext cx="965175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09" y="1821134"/>
            <a:ext cx="96517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Diffuse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0783" y="1790655"/>
            <a:ext cx="1339816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0783" y="1821134"/>
            <a:ext cx="133981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Uninodular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6798" y="1790655"/>
            <a:ext cx="1498562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6798" y="1821134"/>
            <a:ext cx="149856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Multinodular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200319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327316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5415" y="3200319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9409" y="3327316"/>
            <a:ext cx="2273243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409" y="3357796"/>
            <a:ext cx="227324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Non-toxic (euthyroid)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8850" y="3327316"/>
            <a:ext cx="2184345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850" y="3357796"/>
            <a:ext cx="218434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Toxic (hyperthyroid)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409" y="3784505"/>
            <a:ext cx="3232069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9409" y="3814984"/>
            <a:ext cx="323206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Hypothyroid (e.g., Hashimoto’s)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4736981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4863978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7E7C2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Epidemiology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5415" y="4736981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19409" y="4863978"/>
            <a:ext cx="5244968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409" y="4894457"/>
            <a:ext cx="524496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Endemic — &gt; 10% of population (iodine-deficient areas)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409" y="5321166"/>
            <a:ext cx="2914577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409" y="5351646"/>
            <a:ext cx="2914577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Sporadic — individual causes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9524642753"/>
                                    </p:val>
                                  </p:tav>
                                  <p:tav tm="100000">
                                    <p:val>
                                      <p:fltVal val="0.34258398950131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80110819481"/>
                                    </p:val>
                                  </p:tav>
                                  <p:tav tm="100000">
                                    <p:val>
                                      <p:fltVal val="0.57961504811898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814814815"/>
                                    </p:val>
                                  </p:tav>
                                  <p:tav tm="100000">
                                    <p:val>
                                      <p:fltVal val="0.737018518518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085739283"/>
                                    </p:val>
                                  </p:tav>
                                  <p:tav tm="100000">
                                    <p:val>
                                      <p:fltVal val="0.7370184456109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3983668708"/>
                                    </p:val>
                                  </p:tav>
                                  <p:tav tm="100000">
                                    <p:val>
                                      <p:fltVal val="0.8036834354039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471274424"/>
                                    </p:val>
                                  </p:tav>
                                  <p:tav tm="100000">
                                    <p:val>
                                      <p:fltVal val="0.80368350831146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(Mass)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Anterior neck swelling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587460"/>
          </a:xfrm>
          <a:prstGeom prst="roundRect">
            <a:avLst>
              <a:gd name="adj" fmla="val 960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41453"/>
            <a:ext cx="5905352" cy="95857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LOCAL (MASS) EFFECT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fair Display"/>
              </a:rPr>
              <a:t>Visible or palpable anterior neck swelling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Symmetrical or nodular · </a:t>
            </a:r>
            <a:r>
              <a:rPr sz="1500" b="0" i="0">
                <a:solidFill>
                  <a:srgbClr val="E7CF96"/>
                </a:solidFill>
                <a:latin typeface="Source Sans 3"/>
              </a:rPr>
              <a:t>moves upward on swallowing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74" y="3441613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9569" y="376545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3902612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06949" y="3530511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Dysphagia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Esophageal compression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6374" y="4851278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9569" y="517512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12277"/>
            <a:ext cx="335271" cy="3352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06949" y="4940176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Dyspnea / stridor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Tracheal compression or deviation — worse when lying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2557596967"/>
                                    </p:val>
                                  </p:tav>
                                  <p:tav tm="100000">
                                    <p:val>
                                      <p:fltVal val="0.35832429279673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136176727909013"/>
                                    </p:val>
                                  </p:tav>
                                  <p:tav tm="100000">
                                    <p:val>
                                      <p:fltVal val="0.3383988043161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Effects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247843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38500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Hoarseness of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compression — a red flag for malignancy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4290" y="224784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46" y="2385000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1670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Persistent cough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With a sensation of throat tightness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632109"/>
            <a:ext cx="10667733" cy="2476438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063898"/>
            <a:ext cx="825479" cy="825479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249631"/>
            <a:ext cx="454013" cy="4540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58946" y="3809904"/>
            <a:ext cx="9016774" cy="209544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PEMBERTON'S SIGN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Arms raised overhead → facial flushing, congestion &amp; venous engorgement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 i="0">
                <a:solidFill>
                  <a:srgbClr val="B23A48"/>
                </a:solidFill>
                <a:latin typeface="Source Sans 3"/>
              </a:rPr>
              <a:t>Thoracic inlet obstruction by a retrosternal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31303587051618"/>
                                    </p:val>
                                  </p:tav>
                                  <p:tav tm="100000">
                                    <p:val>
                                      <p:fltVal val="0.71016739574219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12784339457567"/>
                                    </p:val>
                                  </p:tav>
                                  <p:tav tm="100000">
                                    <p:val>
                                      <p:fltVal val="0.70831547098279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If Thyroid Dysfunction Coexists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43061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9553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Hashimoto’s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0575" y="3174920"/>
            <a:ext cx="100327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575" y="3205399"/>
            <a:ext cx="100327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Fatigue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0048" y="3174920"/>
            <a:ext cx="138426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0048" y="3205399"/>
            <a:ext cx="138426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Weight gain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0511" y="3174920"/>
            <a:ext cx="179700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511" y="3205399"/>
            <a:ext cx="17970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Cold intolerance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575" y="3632109"/>
            <a:ext cx="149856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575" y="3662588"/>
            <a:ext cx="149856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Constipation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5335" y="3632109"/>
            <a:ext cx="142871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5335" y="3662588"/>
            <a:ext cx="142871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Bradycardia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70248" y="3632109"/>
            <a:ext cx="1066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0248" y="3662588"/>
            <a:ext cx="1066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Dry skin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575" y="4089297"/>
            <a:ext cx="1333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575" y="4119777"/>
            <a:ext cx="1333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Depression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00239" y="4089297"/>
            <a:ext cx="246373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00239" y="4119777"/>
            <a:ext cx="246373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Menstrual irregularities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689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43061"/>
            <a:ext cx="384165" cy="38416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08667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Hyperthyroidism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Graves’, toxic MNG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1095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19689" y="3174920"/>
            <a:ext cx="13588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689" y="3205399"/>
            <a:ext cx="13588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Weight loss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4753" y="3174920"/>
            <a:ext cx="182240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54753" y="3205399"/>
            <a:ext cx="182240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Heat intolerance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53356" y="3174920"/>
            <a:ext cx="144141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53356" y="3205399"/>
            <a:ext cx="144141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Palpitations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9689" y="3632109"/>
            <a:ext cx="99692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689" y="3662588"/>
            <a:ext cx="99692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Tremor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2812" y="3632109"/>
            <a:ext cx="1174720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2812" y="3662588"/>
            <a:ext cx="1174720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Sweating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3731" y="3632109"/>
            <a:ext cx="100962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43731" y="3662588"/>
            <a:ext cx="100962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Anxiety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29554" y="3632109"/>
            <a:ext cx="1162020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29554" y="3662588"/>
            <a:ext cx="1162020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Insomnia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19689" y="4089297"/>
            <a:ext cx="111122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19689" y="4119777"/>
            <a:ext cx="111122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Diarrhea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109" y="4089297"/>
            <a:ext cx="2489137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07109" y="4119777"/>
            <a:ext cx="2489137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Exophthalmos (Graves’)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4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8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2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5" dur="9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6" dur="900" fill="hold"/>
                                  <p:tgtEl>
                                    <p:spTgt spid="4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9" dur="900" fill="hold"/>
                                  <p:tgtEl>
                                    <p:spTgt spid="4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0" dur="900" fill="hold"/>
                                  <p:tgtEl>
                                    <p:spTgt spid="4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3" dur="900" fill="hold"/>
                                  <p:tgtEl>
                                    <p:spTgt spid="4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4" dur="900" fill="hold"/>
                                  <p:tgtEl>
                                    <p:spTgt spid="4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7" dur="9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8" dur="900" fill="hold"/>
                                  <p:tgtEl>
                                    <p:spTgt spid="4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900" fill="hold"/>
                                  <p:tgtEl>
                                    <p:spTgt spid="4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2" dur="900" fill="hold"/>
                                  <p:tgtEl>
                                    <p:spTgt spid="4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⚠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143706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Rapid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8458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741" y="2143706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196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Firm / fixed hard mass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3994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151" y="214370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9137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Hoarseness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3635919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Cervical lymphadenopathy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39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458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741" y="3635919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7196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Age &lt; 20 or &gt;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799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3994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151" y="3635919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37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Prior neck irradiation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1980" y="4648083"/>
            <a:ext cx="10667733" cy="1460463"/>
          </a:xfrm>
          <a:prstGeom prst="roundRect">
            <a:avLst>
              <a:gd name="adj" fmla="val 10434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73" y="4990975"/>
            <a:ext cx="761980" cy="7619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918" y="5162420"/>
            <a:ext cx="419089" cy="4190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95447" y="4775080"/>
            <a:ext cx="9143771" cy="120646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ACTION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Suspect malignancy — refer promptly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6112569262"/>
                                    </p:val>
                                  </p:tav>
                                  <p:tav tm="100000">
                                    <p:val>
                                      <p:fltVal val="0.78331364829396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538349373"/>
                                    </p:val>
                                  </p:tav>
                                  <p:tav tm="100000">
                                    <p:val>
                                      <p:fltVal val="0.78331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4642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9473" y="2044648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05" y="2230381"/>
            <a:ext cx="454013" cy="4540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9473" y="3174920"/>
            <a:ext cx="2984425" cy="2077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6D9DD"/>
                </a:solidFill>
                <a:latin typeface="Source Sans 3"/>
              </a:rPr>
              <a:t>MOST SERIOUS ACUTE COMPLICATION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Airway obstruction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500" b="0" i="0">
                <a:solidFill>
                  <a:srgbClr val="F6D9DD"/>
                </a:solidFill>
                <a:latin typeface="Source Sans 3"/>
              </a:rPr>
              <a:t>Tracheal compression — an emergency if severe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663658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04464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35" y="2181805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25959" y="1752556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Esophageal 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→ Progressive dysphagia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3193970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357496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735" y="3712117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5959" y="3282867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Superior vena cava syndrome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large retrosternal goiters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4724281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51052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5735" y="5242428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5959" y="4813179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Recurrent laryngeal nerve palsy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Hoarseness / vocal cord paralysis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3549139690872"/>
                                    </p:val>
                                  </p:tav>
                                  <p:tav tm="100000">
                                    <p:val>
                                      <p:fltVal val="0.61439195100612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066491688"/>
                                    </p:val>
                                  </p:tav>
                                  <p:tav tm="100000">
                                    <p:val>
                                      <p:fltVal val="0.342583843686205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4496937883"/>
                                    </p:val>
                                  </p:tav>
                                  <p:tav tm="100000">
                                    <p:val>
                                      <p:fltVal val="0.5661894867308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038786818"/>
                                    </p:val>
                                  </p:tav>
                                  <p:tav tm="100000">
                                    <p:val>
                                      <p:fltVal val="0.56618934091571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20209973753"/>
                                    </p:val>
                                  </p:tav>
                                  <p:tav tm="100000">
                                    <p:val>
                                      <p:fltVal val="0.78886905803441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1948089822"/>
                                    </p:val>
                                  </p:tav>
                                  <p:tav tm="100000">
                                    <p:val>
                                      <p:fltVal val="0.7888689851268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063698" cy="135429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Thyrotoxicosis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Autonomous nodules secrete hormone (secondary hyperthyroidism)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3363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1957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116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1957" y="3505112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End-stage autoimmune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4745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3339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98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339" y="3505112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Malignant transformation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A small proportion of nodular goiters harbor carcinoma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6127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24721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880" y="2773293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24721" y="3505112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Cosmetic &amp; psychosocial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Anxiety · body-image disturbance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27995042286381"/>
                                    </p:val>
                                  </p:tav>
                                  <p:tav tm="100000">
                                    <p:val>
                                      <p:fltVal val="0.60983654126567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96151210265383"/>
                                    </p:val>
                                  </p:tav>
                                  <p:tav tm="100000">
                                    <p:val>
                                      <p:fltVal val="0.57665215806357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02437299504229"/>
                                    </p:val>
                                  </p:tav>
                                  <p:tav tm="100000">
                                    <p:val>
                                      <p:fltVal val="0.61728076698745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515748031496"/>
                                    </p:val>
                                  </p:tav>
                                  <p:tav tm="100000">
                                    <p:val>
                                      <p:fltVal val="0.6006886118401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After Surgery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AFTER THYROIDECTOMY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Post-surgical complications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18762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344778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Hemorrhage / hematoma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airway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18762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344778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Hypocalcemia / tetany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From hypoparathyroidism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187620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344778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076598"/>
            <a:ext cx="2063698" cy="128596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Recurrent laryngeal nerve injury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Voice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18762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344778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076598"/>
            <a:ext cx="2063698" cy="88415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Requiring lifelong replacement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11493875765529"/>
                                    </p:val>
                                  </p:tav>
                                  <p:tav tm="100000">
                                    <p:val>
                                      <p:fltVal val="0.68818642461358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18538203557889"/>
                                    </p:val>
                                  </p:tav>
                                  <p:tav tm="100000">
                                    <p:val>
                                      <p:fltVal val="0.65889085739282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Diagnostic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0463" y="2222444"/>
            <a:ext cx="9270768" cy="19049"/>
          </a:xfrm>
          <a:prstGeom prst="rect">
            <a:avLst/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156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3658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104" y="3282867"/>
            <a:ext cx="419089" cy="4190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52476" y="4127396"/>
            <a:ext cx="673083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152796"/>
            <a:ext cx="67308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Neck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01757" y="4127396"/>
            <a:ext cx="1244568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1757" y="4152796"/>
            <a:ext cx="1244568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Lymph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476" y="4521086"/>
            <a:ext cx="121916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4546486"/>
            <a:ext cx="121916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Pemberton’s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839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0663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62340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86" y="3282867"/>
            <a:ext cx="419089" cy="41908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1158" y="4127396"/>
            <a:ext cx="603234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1158" y="4152796"/>
            <a:ext cx="603234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0591" y="4127396"/>
            <a:ext cx="952476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0591" y="4152796"/>
            <a:ext cx="952476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FT4 / FT3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1158" y="4521086"/>
            <a:ext cx="1073123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1158" y="4546486"/>
            <a:ext cx="1073123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Antibodies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4521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346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1023" y="3111422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469" y="3282867"/>
            <a:ext cx="419089" cy="41908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49841" y="4127396"/>
            <a:ext cx="1092172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4152796"/>
            <a:ext cx="109217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Ultrasound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8212" y="4127396"/>
            <a:ext cx="89532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18212" y="4152796"/>
            <a:ext cx="89532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RAI 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1" y="4521086"/>
            <a:ext cx="88262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841" y="4546486"/>
            <a:ext cx="88262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CT / MRI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08667" y="4521086"/>
            <a:ext cx="692132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08667" y="4546486"/>
            <a:ext cx="69213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3204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8028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59706" y="3111422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151" y="3282867"/>
            <a:ext cx="419089" cy="41908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9048523" y="4127396"/>
            <a:ext cx="698482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8523" y="4152796"/>
            <a:ext cx="698482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FNAB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6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0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8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2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0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History &amp; Physical Examination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Inspect &amp; palpate the 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6374" y="1663658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STEP 1 · HISTORY &amp; PHYSICAL EXAMINATION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6374" y="198115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9569" y="2139896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2277053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06949" y="207004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Neck inspection &amp; palpation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Size · symmetry · consistency · nodules · movement with swallowing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374" y="3041573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19569" y="320031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333747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06949" y="3130471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Lymph nodes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Check for cervical lymphadenopathy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6374" y="4101997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9569" y="4260743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726" y="4397900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06949" y="4190895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Pemberton’s sign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6374" y="516242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9569" y="532116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6726" y="545832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06949" y="525131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Signs of thyroid 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Hypo- or hyperthyroid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3668708078"/>
                                    </p:val>
                                  </p:tav>
                                  <p:tav tm="100000">
                                    <p:val>
                                      <p:fltVal val="0.356935403907844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0390784485"/>
                                    </p:val>
                                  </p:tav>
                                  <p:tav tm="100000">
                                    <p:val>
                                      <p:fltVal val="0.35647244094488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7681539807"/>
                                    </p:val>
                                  </p:tav>
                                  <p:tav tm="100000">
                                    <p:val>
                                      <p:fltVal val="0.35647251385243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439778361"/>
                                    </p:val>
                                  </p:tav>
                                  <p:tav tm="100000">
                                    <p:val>
                                      <p:fltVal val="0.35693547681539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0594925634"/>
                                    </p:val>
                                  </p:tav>
                                  <p:tav tm="100000">
                                    <p:val>
                                      <p:fltVal val="0.5115610965296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0965296004"/>
                                    </p:val>
                                  </p:tav>
                                  <p:tav tm="100000">
                                    <p:val>
                                      <p:fltVal val="0.51109813356663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1694371536"/>
                                    </p:val>
                                  </p:tav>
                                  <p:tav tm="100000">
                                    <p:val>
                                      <p:fltVal val="0.51109820647419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1324001166"/>
                                    </p:val>
                                  </p:tav>
                                  <p:tav tm="100000">
                                    <p:val>
                                      <p:fltVal val="0.51156116943715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8979294255"/>
                                    </p:val>
                                  </p:tav>
                                  <p:tav tm="100000">
                                    <p:val>
                                      <p:fltVal val="0.6661869349664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9708369787"/>
                                    </p:val>
                                  </p:tav>
                                  <p:tav tm="100000">
                                    <p:val>
                                      <p:fltVal val="0.6661870078740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5905511811"/>
                                    </p:val>
                                  </p:tav>
                                  <p:tav tm="100000">
                                    <p:val>
                                      <p:fltVal val="0.82081262758821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6275882181"/>
                                    </p:val>
                                  </p:tav>
                                  <p:tav tm="100000">
                                    <p:val>
                                      <p:fltVal val="0.82034966462525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7004957713"/>
                                    </p:val>
                                  </p:tav>
                                  <p:tav tm="100000">
                                    <p:val>
                                      <p:fltVal val="0.82034973753280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6634587343"/>
                                    </p:val>
                                  </p:tav>
                                  <p:tav tm="100000">
                                    <p:val>
                                      <p:fltVal val="0.820812700495771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Laboratory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06869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854153"/>
            <a:ext cx="4698882" cy="14589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2 · FIRST-LINE SCREENING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i="0">
                <a:solidFill>
                  <a:srgbClr val="FFFFFF"/>
                </a:solidFill>
                <a:latin typeface="Playfair Display"/>
              </a:rPr>
              <a:t>TSH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Then free T4 / free T3 to classify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3949601"/>
            <a:ext cx="5206869" cy="2158946"/>
          </a:xfrm>
          <a:prstGeom prst="roundRect">
            <a:avLst>
              <a:gd name="adj" fmla="val 8235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ood-t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4140096"/>
            <a:ext cx="4825879" cy="1777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342" y="1663658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89537" y="186685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94" y="2004009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76918" y="1752556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Anti-TPO / anti-thyroglobulin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→ Hashimoto’s thyroiditis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342" y="2806629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9537" y="3009824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694" y="31469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6918" y="2895527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TSH-receptor antibodies (TRAb)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Graves’ disease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342" y="3949601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89537" y="4152796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694" y="4289952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76918" y="4038499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SPECIAL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If medullary carcinoma is suspected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5092572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537" y="5295767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694" y="5432924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76918" y="5181470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AFTER SURGERY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calcium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Post-op follow-up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969415281423153"/>
                                    </p:val>
                                  </p:tav>
                                  <p:tav tm="100000">
                                    <p:val>
                                      <p:fltVal val="0.37673118985126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12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5368912219"/>
                                    </p:val>
                                  </p:tav>
                                  <p:tav tm="100000">
                                    <p:val>
                                      <p:fltVal val="0.316658573928258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8270632836"/>
                                    </p:val>
                                  </p:tav>
                                  <p:tav tm="100000">
                                    <p:val>
                                      <p:fltVal val="0.31665871974336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7045785943"/>
                                    </p:val>
                                  </p:tav>
                                  <p:tav tm="100000">
                                    <p:val>
                                      <p:fltVal val="0.6499837416156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Ultrasound &amp; Scintigraphy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460863" cy="3301917"/>
          </a:xfrm>
          <a:prstGeom prst="roundRect">
            <a:avLst>
              <a:gd name="adj" fmla="val 5384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-multin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5079873" cy="2476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4406789"/>
            <a:ext cx="5206869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Ultrasound — multinodular goiter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0336" y="1663658"/>
            <a:ext cx="4889377" cy="3301917"/>
          </a:xfrm>
          <a:prstGeom prst="roundRect">
            <a:avLst>
              <a:gd name="adj" fmla="val 461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94330" y="1879553"/>
            <a:ext cx="660383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4330" y="1907492"/>
            <a:ext cx="660383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0911" y="1879553"/>
            <a:ext cx="92707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0911" y="1907492"/>
            <a:ext cx="92707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34186" y="1879553"/>
            <a:ext cx="2235144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4186" y="1907492"/>
            <a:ext cx="2235144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Nodule characterization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4330" y="2304992"/>
            <a:ext cx="2387540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4330" y="2332931"/>
            <a:ext cx="2387540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TI-RADS risk stratification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5156071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5974" y="532751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31" y="5464673"/>
            <a:ext cx="335271" cy="33527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841453" y="5219569"/>
            <a:ext cx="1447763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1453" y="5248778"/>
            <a:ext cx="1447763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“Hot” = toxic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5415" y="5219569"/>
            <a:ext cx="1974800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65415" y="5248778"/>
            <a:ext cx="1974800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“Cold” = suspicious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42888597258676"/>
                                    </p:val>
                                  </p:tav>
                                  <p:tav tm="100000">
                                    <p:val>
                                      <p:fltVal val="0.66132589676290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9235928842"/>
                                    </p:val>
                                  </p:tav>
                                  <p:tav tm="100000">
                                    <p:val>
                                      <p:fltVal val="0.36156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850685331"/>
                                    </p:val>
                                  </p:tav>
                                  <p:tav tm="100000">
                                    <p:val>
                                      <p:fltVal val="0.36156488772236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993292505"/>
                                    </p:val>
                                  </p:tav>
                                  <p:tav tm="100000">
                                    <p:val>
                                      <p:fltVal val="0.82127573636628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5535141441"/>
                                    </p:val>
                                  </p:tav>
                                  <p:tav tm="100000">
                                    <p:val>
                                      <p:fltVal val="0.82127559055118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264216973"/>
                                    </p:val>
                                  </p:tav>
                                  <p:tav tm="100000">
                                    <p:val>
                                      <p:fltVal val="0.8212756634587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CT, MRI &amp; X-ray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t-goi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CT — enlarged nodular thyroid (arrow)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52956" y="1917652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14" y="2074810"/>
            <a:ext cx="384165" cy="3841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52956" y="2806629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CROSS-SECTIONAL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CT / MRI of neck &amp; chest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Retrosternal extension · airway &amp; esophageal compression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962300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52956" y="42162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114" y="4373453"/>
            <a:ext cx="384165" cy="3841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2956" y="5105272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PLAIN FILM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Chest X-ray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Tracheal deviation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02697579469233"/>
                                    </p:val>
                                  </p:tav>
                                  <p:tav tm="100000">
                                    <p:val>
                                      <p:fltVal val="0.39906401283172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953776611257"/>
                                    </p:val>
                                  </p:tav>
                                  <p:tav tm="100000">
                                    <p:val>
                                      <p:fltVal val="0.47593241469816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72037037037037"/>
                                    </p:val>
                                  </p:tav>
                                  <p:tav tm="100000">
                                    <p:val>
                                      <p:fltVal val="0.73424074074074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40722513852435"/>
                                    </p:val>
                                  </p:tav>
                                  <p:tav tm="100000">
                                    <p:val>
                                      <p:fltVal val="0.8111092884222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Tissue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2095447"/>
          </a:xfrm>
          <a:prstGeom prst="roundRect">
            <a:avLst>
              <a:gd name="adj" fmla="val 787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273243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473263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49441" y="1854153"/>
            <a:ext cx="8889777" cy="171445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4 · TISSUE DIAGNOSIS — GOLD STANDARD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Fine-needle aspiration biopsy (FNAB)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 i="0">
                <a:solidFill>
                  <a:srgbClr val="E7CF96"/>
                </a:solidFill>
                <a:latin typeface="Source Sans 3"/>
              </a:rPr>
              <a:t>For evaluating suspicious nodules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42035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436075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Gold standard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tissue diagnosis of suspicious nodules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095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689" y="420359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48" y="436075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Bethesda classification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Used to report FNAB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Medical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Observation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Small, asymptomatic, euthyroid goiters → periodic clinical &amp; ultrasound follow-up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19689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689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Iodine supplementation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For iodine-deficiency goiter — e.g., potassium iodide; dietary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013099"/>
            <a:ext cx="10667733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521086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706819"/>
            <a:ext cx="454013" cy="4540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158946" y="4140096"/>
            <a:ext cx="3308267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8946" y="4166765"/>
            <a:ext cx="3308267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TSH suppression — simple diffuse goiter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43411" y="4140096"/>
            <a:ext cx="3105072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3411" y="4166765"/>
            <a:ext cx="3105072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Mandatory after total thyroidectomy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24681" y="4140096"/>
            <a:ext cx="203829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4681" y="4166765"/>
            <a:ext cx="203829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Treats hypothyroidism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09073344998541"/>
                                    </p:val>
                                  </p:tav>
                                  <p:tav tm="100000">
                                    <p:val>
                                      <p:fltVal val="0.73794437153689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Treating Thyroid Overactivity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1412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Antithyroid drugs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Methimazole or propylthiouracil (PTU) — toxic goiter / Graves’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6865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Beta-blockers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Propranolol — symptom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4170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Radioactive iodine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RAI, I-131 · ablates hyperfunctioning tissue · shrinks toxic MNG &amp; Graves’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07077136191309"/>
                                    </p:val>
                                  </p:tav>
                                  <p:tav tm="100000">
                                    <p:val>
                                      <p:fltVal val="0.57774475065616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41154855643045"/>
                                    </p:val>
                                  </p:tav>
                                  <p:tav tm="100000">
                                    <p:val>
                                      <p:fltVal val="0.56115252260134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72998687664042"/>
                                    </p:val>
                                  </p:tav>
                                  <p:tav tm="100000">
                                    <p:val>
                                      <p:fltVal val="0.59433690580344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Surgery — Thyroidectomy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Large nodular goiter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384" y="1663658"/>
            <a:ext cx="6794330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SURGERY · THYROIDECTOMY — INDICATIONS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981150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120846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870" y="2175138"/>
            <a:ext cx="132711" cy="1327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668" y="2070048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Compressive symptoms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2590735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2730431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870" y="2784722"/>
            <a:ext cx="132711" cy="132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57668" y="2679633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Suspected / proven malignancy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320031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3340016"/>
            <a:ext cx="241293" cy="241293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870" y="3394307"/>
            <a:ext cx="132711" cy="1327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57668" y="328921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5384" y="3809904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8579" y="3949601"/>
            <a:ext cx="241293" cy="241293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870" y="4003892"/>
            <a:ext cx="132711" cy="1327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57668" y="3898802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Cosmetic concern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5384" y="441948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579" y="4559186"/>
            <a:ext cx="241293" cy="241293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870" y="4613477"/>
            <a:ext cx="132711" cy="1327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668" y="450838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Failed medical therapy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5384" y="5092572"/>
            <a:ext cx="6794330" cy="1015974"/>
          </a:xfrm>
          <a:prstGeom prst="roundRect">
            <a:avLst>
              <a:gd name="adj" fmla="val 1375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89377" y="5219569"/>
            <a:ext cx="781030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9377" y="5248778"/>
            <a:ext cx="781030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Total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46606" y="5219569"/>
            <a:ext cx="120646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6606" y="5248778"/>
            <a:ext cx="120646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Near-total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29274" y="5219569"/>
            <a:ext cx="1269968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9274" y="5248778"/>
            <a:ext cx="1269968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Lobectomy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0335374746"/>
                                    </p:val>
                                  </p:tav>
                                  <p:tav tm="100000">
                                    <p:val>
                                      <p:fltVal val="0.32684354039078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43044619424"/>
                                    </p:val>
                                  </p:tav>
                                  <p:tav tm="100000">
                                    <p:val>
                                      <p:fltVal val="0.3268434674832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0501603964"/>
                                    </p:val>
                                  </p:tav>
                                  <p:tav tm="100000">
                                    <p:val>
                                      <p:fltVal val="0.41573024205307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7792359285"/>
                                    </p:val>
                                  </p:tav>
                                  <p:tav tm="100000">
                                    <p:val>
                                      <p:fltVal val="0.41573031496062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7608632254"/>
                                    </p:val>
                                  </p:tav>
                                  <p:tav tm="100000">
                                    <p:val>
                                      <p:fltVal val="0.5046167979002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7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3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7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3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5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7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9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7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2812" y="1079473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1587460"/>
            <a:ext cx="2793930" cy="36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904952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350">
                <a:solidFill>
                  <a:srgbClr val="0F8B8D"/>
                </a:solidFill>
                <a:latin typeface="Source Sans 3"/>
              </a:rPr>
              <a:t>SECTION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076" y="2260543"/>
            <a:ext cx="6349841" cy="77140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934" b="1" i="0">
                <a:solidFill>
                  <a:srgbClr val="13254D"/>
                </a:solidFill>
                <a:latin typeface="Playfair Display"/>
              </a:rPr>
              <a:t>Nursing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476" y="4254393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476" y="4546486"/>
            <a:ext cx="1898602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476" y="4573155"/>
            <a:ext cx="1898602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Pre-op / Non-surgical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7276" y="4546486"/>
            <a:ext cx="1454113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7276" y="4573155"/>
            <a:ext cx="1454113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Post-op Airway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7588" y="4546486"/>
            <a:ext cx="1371565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7588" y="4573155"/>
            <a:ext cx="1371565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Hypocalcemia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5352" y="4546486"/>
            <a:ext cx="1015974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352" y="4573155"/>
            <a:ext cx="1015974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Recovery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476" y="4956051"/>
            <a:ext cx="1422364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476" y="4982720"/>
            <a:ext cx="1422364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Nursing Pearls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38762758821814"/>
                                    </p:val>
                                  </p:tav>
                                  <p:tav tm="100000">
                                    <p:val>
                                      <p:fltVal val="0.5009133129192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17979731700204"/>
                                    </p:val>
                                  </p:tav>
                                  <p:tav tm="100000">
                                    <p:val>
                                      <p:fltVal val="0.298835010207057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882538641003207"/>
                                    </p:val>
                                  </p:tav>
                                  <p:tav tm="100000">
                                    <p:val>
                                      <p:fltVal val="0.38586242344706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51695100612423"/>
                                    </p:val>
                                  </p:tav>
                                  <p:tav tm="100000">
                                    <p:val>
                                      <p:fltVal val="0.62220654709827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Preoperative / Non-surgical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206469"/>
          </a:xfrm>
          <a:prstGeom prst="roundRect">
            <a:avLst>
              <a:gd name="adj" fmla="val 12631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62100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99257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9524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AT EVERY ENCOUNTER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Assess airway, breathing pattern, voice &amp; swallowing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1" i="0">
                <a:solidFill>
                  <a:srgbClr val="F6D9DD"/>
                </a:solidFill>
                <a:latin typeface="Source Sans 3"/>
              </a:rPr>
              <a:t>Report stridor immediately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314617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71775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203594"/>
            <a:ext cx="2971725" cy="8691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Medication adherence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Levothyroxine on an empty stomach · separate from calcium / iron by 4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39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9984" y="3314617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143" y="3471775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9984" y="4203594"/>
            <a:ext cx="2971725" cy="8691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Nutritional counseling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Adequate iodine — iodized salt, seafood, dairy · avoid excess goitrogens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799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394" y="3314617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6552" y="3471775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394" y="4203594"/>
            <a:ext cx="2971725" cy="64158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Psychosocial support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body-image concerns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0612423447"/>
                                    </p:val>
                                  </p:tav>
                                  <p:tav tm="100000">
                                    <p:val>
                                      <p:fltVal val="0.33054709827938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92792359288422"/>
                                    </p:val>
                                  </p:tav>
                                  <p:tav tm="100000">
                                    <p:val>
                                      <p:fltVal val="0.67631627296587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92792359288422"/>
                                    </p:val>
                                  </p:tav>
                                  <p:tav tm="100000">
                                    <p:val>
                                      <p:fltVal val="0.67631627296587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6870078740157"/>
                                    </p:val>
                                  </p:tav>
                                  <p:tav tm="100000">
                                    <p:val>
                                      <p:fltVal val="0.659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Postoperative Care — Airway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POST-THYROIDECTOMY · PRIORITY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AIRWAY — monitor continuously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5175" y="298442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3121581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2556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Tracheostomy set + suction at the bedside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045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5240" y="2984425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2397" y="31215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62620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Watch for neck swelling / hematoma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4108347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4245503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Semi-Fowler's 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045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5240" y="4108347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97" y="424550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2620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Support the neck when moving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5054473"/>
            <a:ext cx="10667733" cy="1054073"/>
          </a:xfrm>
          <a:prstGeom prst="roundRect">
            <a:avLst>
              <a:gd name="adj" fmla="val 132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974" y="527671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3131" y="5413874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41453" y="5117972"/>
            <a:ext cx="9397765" cy="9270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CHECK THE DRESSING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Front </a:t>
            </a:r>
            <a:r>
              <a:rPr sz="2200" b="1" i="0">
                <a:solidFill>
                  <a:srgbClr val="13254D"/>
                </a:solidFill>
                <a:latin typeface="Source Sans 3"/>
              </a:rPr>
              <a:t>and</a:t>
            </a:r>
            <a:r>
              <a:rPr sz="2200" b="1" i="0">
                <a:solidFill>
                  <a:srgbClr val="13254D"/>
                </a:solidFill>
                <a:latin typeface="Playfair Display"/>
              </a:rPr>
              <a:t> back of the neck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Hypocalcemia 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Parathyroid injury → hypocalcemia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5384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9377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Chvostek's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CE6F7"/>
                </a:solidFill>
                <a:latin typeface="Source Sans 3"/>
              </a:rPr>
              <a:t>Tap the facial nerve → facial twitching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0" y="1854153"/>
            <a:ext cx="2793930" cy="106118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Trousseau's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DF1F1"/>
                </a:solidFill>
                <a:latin typeface="Source Sans 3"/>
              </a:rPr>
              <a:t>BP cuff inflated → carpal spasm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5384" y="3949601"/>
            <a:ext cx="6794330" cy="2158946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9377" y="4127396"/>
            <a:ext cx="6286342" cy="153386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ASSESS &amp; ACT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Perioral tingling · muscle cramps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Monitor serum calcium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Keep IV calcium gluconate available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06948818897638"/>
                                    </p:val>
                                  </p:tav>
                                  <p:tav tm="100000">
                                    <p:val>
                                      <p:fltVal val="0.3477319189268008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66301399825021"/>
                                    </p:val>
                                  </p:tav>
                                  <p:tav tm="100000">
                                    <p:val>
                                      <p:fltVal val="0.71366717701953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Recovery &amp; Teaching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Assess the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injury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Deep breathing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Encourage regularly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1917652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074810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Pain &amp; nausea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Manage promptly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394090"/>
            <a:ext cx="10667733" cy="1714457"/>
          </a:xfrm>
          <a:prstGeom prst="roundRect">
            <a:avLst>
              <a:gd name="adj" fmla="val 888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9473" y="4838579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205" y="5024311"/>
            <a:ext cx="454013" cy="4540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58946" y="4521086"/>
            <a:ext cx="9080272" cy="1460463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DISCHARGE TEACHING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Lifelong hormone replacement after total thyroidectomy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Plus the signs of hypo- / hyperthyroidism to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High-Yield Nursing Pearls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3301917" y="196845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76" y="2125609"/>
            <a:ext cx="384165" cy="384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7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Airway first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23A48"/>
                </a:solidFill>
                <a:latin typeface="Source Sans 3"/>
              </a:rPr>
              <a:t>Hematoma can obstruct within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34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633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6902277" y="196845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6" y="2125609"/>
            <a:ext cx="384165" cy="38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633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Calcium checks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6A24"/>
                </a:solidFill>
                <a:latin typeface="Source Sans 3"/>
              </a:rPr>
              <a:t>Catch hypoparathyroidism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70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69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8" name="Oval 17"/>
          <p:cNvSpPr/>
          <p:nvPr/>
        </p:nvSpPr>
        <p:spPr>
          <a:xfrm>
            <a:off x="10502637" y="196845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795" y="2125609"/>
            <a:ext cx="384165" cy="3841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669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Levothyroxine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6E70"/>
                </a:solidFill>
                <a:latin typeface="Source Sans 3"/>
              </a:rPr>
              <a:t>Empty stomach · same time daily · never stop abruptly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Iodine — the First Line of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371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044648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244668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2971" y="3301917"/>
            <a:ext cx="3809904" cy="16273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SINGLE MOST EFFECTIVE MEASURE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Universal salt iodization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Use iodized salt in daily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7860" y="1663658"/>
            <a:ext cx="5841853" cy="3238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B8923E"/>
                </a:solidFill>
                <a:latin typeface="Source Sans 3"/>
              </a:rPr>
              <a:t>RECOMMENDED DAILY IODINE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860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355" y="2222444"/>
            <a:ext cx="2444688" cy="143481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1F4FA8"/>
                </a:solidFill>
                <a:latin typeface="Source Sans 3"/>
              </a:rPr>
              <a:t>ADULTS</a:t>
            </a:r>
          </a:p>
          <a:p>
            <a:pPr algn="ctr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</a:pPr>
            <a:r>
              <a:rPr sz="5000" b="1" i="0">
                <a:solidFill>
                  <a:srgbClr val="13254D"/>
                </a:solidFill>
                <a:latin typeface="Playfair Display"/>
              </a:rPr>
              <a:t>≈ 150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8B8D"/>
                </a:solidFill>
                <a:latin typeface="Source Sans 3"/>
              </a:rPr>
              <a:t>mcg /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034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530" y="2222444"/>
            <a:ext cx="2444688" cy="160523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8A6A24"/>
                </a:solidFill>
                <a:latin typeface="Source Sans 3"/>
              </a:rPr>
              <a:t>PREGNANCY / LACTATION</a:t>
            </a:r>
          </a:p>
          <a:p>
            <a:pPr algn="ctr">
              <a:lnSpc>
                <a:spcPct val="118000"/>
              </a:lnSpc>
              <a:spcBef>
                <a:spcPts val="1100"/>
              </a:spcBef>
              <a:spcAft>
                <a:spcPts val="0"/>
              </a:spcAft>
            </a:pPr>
            <a:r>
              <a:rPr sz="4400" b="1" i="0">
                <a:solidFill>
                  <a:srgbClr val="13254D"/>
                </a:solidFill>
                <a:latin typeface="Playfair Display"/>
              </a:rPr>
              <a:t>220–250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6A24"/>
                </a:solidFill>
                <a:latin typeface="Source Sans 3"/>
              </a:rPr>
              <a:t>mcg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60" y="4305192"/>
            <a:ext cx="5841853" cy="1803354"/>
          </a:xfrm>
          <a:prstGeom prst="roundRect">
            <a:avLst>
              <a:gd name="adj" fmla="val 845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41853" y="4495687"/>
            <a:ext cx="1155671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1853" y="4528706"/>
            <a:ext cx="1155671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Seafood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73723" y="4495687"/>
            <a:ext cx="876278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723" y="4528706"/>
            <a:ext cx="876278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Dairy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6199" y="4495687"/>
            <a:ext cx="800079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6199" y="4528706"/>
            <a:ext cx="800079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Eggs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2477" y="4495687"/>
            <a:ext cx="1485862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2477" y="4528706"/>
            <a:ext cx="1485862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Iodized salt</a:t>
            </a:r>
          </a:p>
        </p:txBody>
      </p:sp>
      <p:pic>
        <p:nvPicPr>
          <p:cNvPr id="24" name="Picture 23" descr="f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746" y="4444888"/>
            <a:ext cx="1142971" cy="57148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0775007290755"/>
                                    </p:val>
                                  </p:tav>
                                  <p:tav tm="100000">
                                    <p:val>
                                      <p:fltVal val="0.60011453776611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16373578302712"/>
                                    </p:val>
                                  </p:tav>
                                  <p:tav tm="100000">
                                    <p:val>
                                      <p:fltVal val="0.428674394867308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54062919218431"/>
                                    </p:val>
                                  </p:tav>
                                  <p:tav tm="100000">
                                    <p:val>
                                      <p:fltVal val="0.44109995625546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22031204432779"/>
                                    </p:val>
                                  </p:tav>
                                  <p:tav tm="100000">
                                    <p:val>
                                      <p:fltVal val="0.75924015748031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12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Prevention — Beyond Iodine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334" y="1765255"/>
            <a:ext cx="1269968" cy="192400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65175" y="241928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2556446"/>
            <a:ext cx="335271" cy="335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556" y="1752556"/>
            <a:ext cx="3041573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Limit goitrogenic foods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Raw cassava, very large amounts of cruciferous vegetables — especially in iodine-deficient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94290" y="2419289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46" y="2556446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81670" y="1752556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Screen high-risk groups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Pregnant women · endemic regions · lithium/amiodarone users · family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radi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829" y="4082947"/>
            <a:ext cx="1079473" cy="192400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2556" y="4070248"/>
            <a:ext cx="3232069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Avoid unnecessary neck radiation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 thyroid shielding when imaging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Early medical evaluation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Of any new neck swelling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12  · 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382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27156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7460" y="1689057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World Health Organization (WHO).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assessment / Iodine deficiency disorders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(who.int)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298642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38754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7460" y="234944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American Thyroid Association (ATA).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Thyroid Nodules &amp; Differentiated Thyroid Cancer Guidelines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(thyroid.org)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295902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3047923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7460" y="3009824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Mathew P, Rawla P.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Hyperthyroidism; Goiter. StatPearls Publishing, NCBI Bookshelf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(ncbi.nlm.nih.gov/books)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61940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70830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7460" y="367020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Mayo Clinic.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— Symptoms and causes; Diagnosis and treatment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(mayoclinic.org)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279793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6869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460" y="433059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Medscape (eMedicine).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Goiter: Practice Essentials, Pathophysiology, Etiology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(emedicine.medscape.com)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494017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029074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460" y="4990975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NIDDK.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Hashimoto’s Disease &amp; Graves’ Disease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(niddk.nih.gov)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56005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568945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7460" y="565135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Hegedüs L, Bonnema SJ, Bennedbæk FN.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Management of simple nodular goiter: current status and future perspectives.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Endocrine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40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37241178186"/>
                                    </p:val>
                                  </p:tav>
                                  <p:tav tm="100000">
                                    <p:val>
                                      <p:fltVal val="0.28147440944881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70297462817148"/>
                                    </p:val>
                                  </p:tav>
                                  <p:tav tm="100000">
                                    <p:val>
                                      <p:fltVal val="0.2840667833187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2265966754"/>
                                    </p:val>
                                  </p:tav>
                                  <p:tav tm="100000">
                                    <p:val>
                                      <p:fltVal val="0.28147426363371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332370953630796"/>
                                    </p:val>
                                  </p:tav>
                                  <p:tav tm="100000">
                                    <p:val>
                                      <p:fltVal val="0.3803607465733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15310586175"/>
                                    </p:val>
                                  </p:tav>
                                  <p:tav tm="100000">
                                    <p:val>
                                      <p:fltVal val="0.47406219014289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6175269757947"/>
                                    </p:val>
                                  </p:tav>
                                  <p:tav tm="100000">
                                    <p:val>
                                      <p:fltVal val="0.476654564012831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0072907553"/>
                                    </p:val>
                                  </p:tav>
                                  <p:tav tm="100000">
                                    <p:val>
                                      <p:fltVal val="0.47406204432779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59114902303879"/>
                                    </p:val>
                                  </p:tav>
                                  <p:tav tm="100000">
                                    <p:val>
                                      <p:fltVal val="0.5729485272674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9337999417"/>
                                    </p:val>
                                  </p:tav>
                                  <p:tav tm="100000">
                                    <p:val>
                                      <p:fltVal val="0.66664997083697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076698746"/>
                                    </p:val>
                                  </p:tav>
                                  <p:tav tm="100000">
                                    <p:val>
                                      <p:fltVal val="0.66924234470691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7879848353"/>
                                    </p:val>
                                  </p:tav>
                                  <p:tav tm="100000">
                                    <p:val>
                                      <p:fltVal val="0.66664982502187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4992709244678"/>
                                    </p:val>
                                  </p:tav>
                                  <p:tav tm="100000">
                                    <p:val>
                                      <p:fltVal val="0.76553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47930883639545"/>
                                    </p:val>
                                  </p:tav>
                                  <p:tav tm="100000">
                                    <p:val>
                                      <p:fltVal val="0.86183012540099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591" y="355591"/>
            <a:ext cx="11480512" cy="6146646"/>
          </a:xfrm>
          <a:prstGeom prst="rect">
            <a:avLst/>
          </a:prstGeom>
          <a:noFill/>
          <a:ln w="635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5815" y="1015974"/>
            <a:ext cx="4825879" cy="48258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56311" y="1206469"/>
            <a:ext cx="4444888" cy="4444888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3803" y="1523961"/>
            <a:ext cx="3809904" cy="3809904"/>
          </a:xfrm>
          <a:prstGeom prst="ellipse">
            <a:avLst/>
          </a:prstGeom>
          <a:noFill/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1806" y="3340016"/>
            <a:ext cx="177795" cy="177795"/>
          </a:xfrm>
          <a:prstGeom prst="ellipse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8555" y="2095447"/>
            <a:ext cx="114297" cy="114297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2285942"/>
            <a:ext cx="2666933" cy="25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473" y="1587460"/>
            <a:ext cx="5714857" cy="257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450">
                <a:solidFill>
                  <a:srgbClr val="0F8B8D"/>
                </a:solidFill>
                <a:latin typeface="Source Sans 3"/>
              </a:rPr>
              <a:t>WITH GRATITUDE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1904952"/>
            <a:ext cx="6667333" cy="185919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66" b="0" i="0">
                <a:solidFill>
                  <a:srgbClr val="13254D"/>
                </a:solidFill>
                <a:latin typeface="Source Sans 3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73" y="3936901"/>
            <a:ext cx="4444888" cy="1269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9473" y="4292492"/>
            <a:ext cx="6095847" cy="4800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F4FA8"/>
                </a:solidFill>
                <a:latin typeface="Playfair Display"/>
              </a:rPr>
              <a:t>for listening — and for caring.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73" y="5321166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FFFFFF"/>
                </a:solidFill>
                <a:latin typeface="Source Sans 3"/>
              </a:rPr>
              <a:t>Questions are welcome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96165791776027"/>
                                    </p:val>
                                  </p:tav>
                                  <p:tav tm="100000">
                                    <p:val>
                                      <p:fltVal val="0.516653616214639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631881014873141"/>
                                    </p:val>
                                  </p:tav>
                                  <p:tav tm="100000">
                                    <p:val>
                                      <p:fltVal val="0.250225138524351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62833187518227"/>
                                    </p:val>
                                  </p:tav>
                                  <p:tav tm="100000">
                                    <p:val>
                                      <p:fltVal val="0.413320355788859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62815689705453"/>
                                    </p:val>
                                  </p:tav>
                                  <p:tav tm="100000">
                                    <p:val>
                                      <p:fltVal val="0.58331860600758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38721930592009"/>
                                    </p:val>
                                  </p:tav>
                                  <p:tav tm="100000">
                                    <p:val>
                                      <p:fltVal val="0.6609092300962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99335812190143"/>
                                    </p:val>
                                  </p:tav>
                                  <p:tav tm="100000">
                                    <p:val>
                                      <p:fltVal val="0.79697061825605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