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31.png"/><Relationship Id="rId4" Type="http://schemas.openxmlformats.org/officeDocument/2006/relationships/image" Target="../media/image45.png"/><Relationship Id="rId5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1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3.png"/><Relationship Id="rId4" Type="http://schemas.openxmlformats.org/officeDocument/2006/relationships/image" Target="../media/image12.png"/><Relationship Id="rId5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55.png"/><Relationship Id="rId5" Type="http://schemas.openxmlformats.org/officeDocument/2006/relationships/image" Target="../media/image18.png"/><Relationship Id="rId6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41.png"/><Relationship Id="rId6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png"/><Relationship Id="rId4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9.png"/><Relationship Id="rId4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41.png"/><Relationship Id="rId5" Type="http://schemas.openxmlformats.org/officeDocument/2006/relationships/image" Target="../media/image31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0.png"/><Relationship Id="rId4" Type="http://schemas.openxmlformats.org/officeDocument/2006/relationships/image" Target="../media/image68.png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41.png"/><Relationship Id="rId5" Type="http://schemas.openxmlformats.org/officeDocument/2006/relationships/image" Target="../media/image75.png"/><Relationship Id="rId6" Type="http://schemas.openxmlformats.org/officeDocument/2006/relationships/image" Target="../media/image11.png"/><Relationship Id="rId7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77.png"/><Relationship Id="rId4" Type="http://schemas.openxmlformats.org/officeDocument/2006/relationships/image" Target="../media/image45.png"/><Relationship Id="rId5" Type="http://schemas.openxmlformats.org/officeDocument/2006/relationships/image" Target="../media/image7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24.png"/><Relationship Id="rId6" Type="http://schemas.openxmlformats.org/officeDocument/2006/relationships/image" Target="../media/image83.png"/><Relationship Id="rId7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03834" y="0"/>
            <a:ext cx="5587860" cy="6857828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8323" y="952476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7828" y="761980"/>
            <a:ext cx="5067173" cy="5067173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09" y="1587460"/>
            <a:ext cx="3555911" cy="33590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523961"/>
            <a:ext cx="5460863" cy="2730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400">
                <a:solidFill>
                  <a:srgbClr val="0F8B8D"/>
                </a:solidFill>
                <a:latin typeface="Source Sans 3"/>
              </a:rPr>
              <a:t>MEDICAL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677" y="1841453"/>
            <a:ext cx="5587860" cy="17271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 i="0">
                <a:solidFill>
                  <a:srgbClr val="13254D"/>
                </a:solidFill>
                <a:latin typeface="Playfair Display"/>
              </a:rPr>
              <a:t>Goiter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52476" y="3682907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3911502"/>
            <a:ext cx="5460863" cy="4159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4FA8"/>
                </a:solidFill>
                <a:latin typeface="Source Sans 3"/>
              </a:rPr>
              <a:t>Enlargement of the Thyroid Gland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476" y="4444888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47028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1326" y="4444888"/>
            <a:ext cx="805667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51326" y="4470288"/>
            <a:ext cx="80566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3192" y="4444888"/>
            <a:ext cx="1439636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3192" y="4470288"/>
            <a:ext cx="1439636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476" y="4838579"/>
            <a:ext cx="2152850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476" y="4863978"/>
            <a:ext cx="2152850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Clinical Manifestations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81524" y="4838579"/>
            <a:ext cx="1043405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81524" y="4863978"/>
            <a:ext cx="104340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1128" y="4838579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128" y="486397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2476" y="5232269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476" y="525766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476" y="5714857"/>
            <a:ext cx="5460863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spc="50">
                <a:solidFill>
                  <a:srgbClr val="13254D"/>
                </a:solidFill>
                <a:latin typeface="Source Sans 3"/>
              </a:rPr>
              <a:t>Prepared for Nursing &amp; Medical Students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1200" fill="hold"/>
                                  <p:tgtEl>
                                    <p:spTgt spid="2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" dur="1200" fill="hold"/>
                                  <p:tgtEl>
                                    <p:spTgt spid="3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" dur="1200" fill="hold"/>
                                  <p:tgtEl>
                                    <p:spTgt spid="4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7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33989501312336"/>
                                    </p:val>
                                  </p:tav>
                                  <p:tav tm="100000">
                                    <p:val>
                                      <p:fltVal val="0.47637693205016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0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1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5508639545056866"/>
                                    </p:val>
                                  </p:tav>
                                  <p:tav tm="100000">
                                    <p:val>
                                      <p:fltVal val="0.24212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4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73973461650627"/>
                                    </p:val>
                                  </p:tav>
                                  <p:tav tm="100000">
                                    <p:val>
                                      <p:fltVal val="0.3944343832020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8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518382181393993"/>
                                    </p:val>
                                  </p:tav>
                                  <p:tav tm="100000">
                                    <p:val>
                                      <p:fltVal val="0.53887525517643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2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136423155438904"/>
                                    </p:val>
                                  </p:tav>
                                  <p:tav tm="100000">
                                    <p:val>
                                      <p:fltVal val="0.6006793525809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6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0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4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8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2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6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0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4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8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2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6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7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0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1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4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5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990543890347039"/>
                                    </p:val>
                                  </p:tav>
                                  <p:tav tm="100000">
                                    <p:val>
                                      <p:fltVal val="0.7860914260717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8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9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990543161271507"/>
                                    </p:val>
                                  </p:tav>
                                  <p:tav tm="100000">
                                    <p:val>
                                      <p:fltVal val="0.78609135316418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0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2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3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673396762904637"/>
                                    </p:val>
                                  </p:tav>
                                  <p:tav tm="100000">
                                    <p:val>
                                      <p:fltVal val="0.8543767133275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958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958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958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Risk Factors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0958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839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6334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4817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Classification / Stages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839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6334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817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Signs and Symptoms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839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6334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4817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Complications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839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334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4817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9697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0192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8675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Medical Management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9697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2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CF96"/>
                </a:solidFill>
                <a:latin typeface="Playfair Display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8675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Nursing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89697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192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8675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89697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0192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8675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References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02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3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7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1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5" dur="900" fill="hold"/>
                                  <p:tgtEl>
                                    <p:spTgt spid="3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9" dur="900" fill="hold"/>
                                  <p:tgtEl>
                                    <p:spTgt spid="3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3" dur="900" fill="hold"/>
                                  <p:tgtEl>
                                    <p:spTgt spid="3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7" dur="900" fill="hold"/>
                                  <p:tgtEl>
                                    <p:spTgt spid="3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1" dur="900" fill="hold"/>
                                  <p:tgtEl>
                                    <p:spTgt spid="3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5" dur="900" fill="hold"/>
                                  <p:tgtEl>
                                    <p:spTgt spid="3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9" dur="900" fill="hold"/>
                                  <p:tgtEl>
                                    <p:spTgt spid="3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3" dur="900" fill="hold"/>
                                  <p:tgtEl>
                                    <p:spTgt spid="3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7" dur="900" fill="hold"/>
                                  <p:tgtEl>
                                    <p:spTgt spid="3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1" dur="900" fill="hold"/>
                                  <p:tgtEl>
                                    <p:spTgt spid="3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5" dur="900" fill="hold"/>
                                  <p:tgtEl>
                                    <p:spTgt spid="4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9" dur="900" fill="hold"/>
                                  <p:tgtEl>
                                    <p:spTgt spid="4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Thyroid Gland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Butterfly-shaped thyroid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7556" y="203194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713" y="2169105"/>
            <a:ext cx="335271" cy="3352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14937" y="1752556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LOCATION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Anterior neck — just below the larynx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Wraps around the trachea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206669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27556" y="3574960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713" y="3712117"/>
            <a:ext cx="335271" cy="3352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4937" y="3295567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HORMONES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T4 (thyroxine) &amp; T3 (triiodothyronine)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Regulate metabolism, growth &amp; development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4361" y="4749681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7556" y="51179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13" y="5255128"/>
            <a:ext cx="335271" cy="3352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14937" y="4838579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ALSO SECRETES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Contributes to calcium homeostasis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03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369510061242343"/>
                                    </p:val>
                                  </p:tav>
                                  <p:tav tm="100000">
                                    <p:val>
                                      <p:fltVal val="0.34073213764946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36950277048702"/>
                                    </p:val>
                                  </p:tav>
                                  <p:tav tm="100000">
                                    <p:val>
                                      <p:fltVal val="0.34073206474190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A Global Health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41453"/>
            <a:ext cx="596885" cy="596885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273" y="1975753"/>
            <a:ext cx="328286" cy="32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One of the oldest documented human diseases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0" i="0">
                <a:solidFill>
                  <a:srgbClr val="1F4FA8"/>
                </a:solidFill>
                <a:latin typeface="Source Sans 3"/>
              </a:rPr>
              <a:t>Still a major global health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7875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Playfair Display"/>
              </a:rPr>
              <a:t>1.5–2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BILLION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People at risk of iodine deficiency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663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58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~200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People living with a goiter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346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240" y="3124121"/>
            <a:ext cx="2139896" cy="1303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4–10×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MORE COMMON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In women than in 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8028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3923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WITH 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Prevalence rises as age increases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04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35231116943715"/>
                                    </p:val>
                                  </p:tav>
                                  <p:tav tm="100000">
                                    <p:val>
                                      <p:fltVal val="0.55056014873140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Why It Matters Clinically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KEY POINT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Most goiters are benign &amp; asymptomatic — but not all are harmless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251118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08277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Can press on the airway &amp; esophagus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251118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408277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May reflect hypo- or hyperthyroidism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251118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408277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140096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Hidden malignancy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In a small % of nodular goiters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251118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408277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140096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The nurse’s role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Early detection · perioperative care · patient education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05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62418343540391"/>
                                    </p:val>
                                  </p:tav>
                                  <p:tav tm="100000">
                                    <p:val>
                                      <p:fltVal val="0.69327887139107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228339895013123"/>
                                    </p:val>
                                  </p:tav>
                                  <p:tav tm="100000">
                                    <p:val>
                                      <p:fltVal val="0.70987102653834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What Is a Goiter?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Enlarged thyroid in the neck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460463"/>
          </a:xfrm>
          <a:prstGeom prst="roundRect">
            <a:avLst>
              <a:gd name="adj" fmla="val 1043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16054"/>
            <a:ext cx="5905352" cy="9832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LATIN · 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GUTTUR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 = “THROAT”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Enlargement of the thyroid gland — regardless of cause or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6374" y="3314617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WHEN IS THE THYROID ENLARGED?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374" y="3632109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9569" y="390515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404230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06949" y="3721006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ON EXAMINATION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Each lobe &gt; terminal phalanx of the patient’s thumb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374" y="4946526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19569" y="521956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56726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06949" y="5035424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ON ULTRASOUND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Total volume &gt; ~18 mL (women) · &gt; 25 mL (men)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06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620282152230971"/>
                                    </p:val>
                                  </p:tav>
                                  <p:tav tm="100000">
                                    <p:val>
                                      <p:fltVal val="0.349065252260134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45443277923594"/>
                                    </p:val>
                                  </p:tav>
                                  <p:tav tm="100000">
                                    <p:val>
                                      <p:fltVal val="0.336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198946485855934"/>
                                    </p:val>
                                  </p:tav>
                                  <p:tav tm="100000">
                                    <p:val>
                                      <p:fltVal val="0.50693168562263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272993584135317"/>
                                    </p:val>
                                  </p:tav>
                                  <p:tav tm="100000">
                                    <p:val>
                                      <p:fltVal val="0.61433639545056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268363954505687"/>
                                    </p:val>
                                  </p:tav>
                                  <p:tav tm="100000">
                                    <p:val>
                                      <p:fltVal val="0.61387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268363225430155"/>
                                    </p:val>
                                  </p:tav>
                                  <p:tav tm="100000">
                                    <p:val>
                                      <p:fltVal val="0.61387335958005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272992855059785"/>
                                    </p:val>
                                  </p:tav>
                                  <p:tav tm="100000">
                                    <p:val>
                                      <p:fltVal val="0.61433632254301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89612131816856"/>
                                    </p:val>
                                  </p:tav>
                                  <p:tav tm="100000">
                                    <p:val>
                                      <p:fltVal val="0.80599825021872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84982502187227"/>
                                    </p:val>
                                  </p:tav>
                                  <p:tav tm="100000">
                                    <p:val>
                                      <p:fltVal val="0.8055352872557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84983231262759"/>
                                    </p:val>
                                  </p:tav>
                                  <p:tav tm="100000">
                                    <p:val>
                                      <p:fltVal val="0.805535360163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89612860892388"/>
                                    </p:val>
                                  </p:tav>
                                  <p:tav tm="100000">
                                    <p:val>
                                      <p:fltVal val="0.80599832312627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27236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Diffuse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Uniform, symmetrical enlargement of the whole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ultinodular-goi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91" y="1765255"/>
            <a:ext cx="146046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6351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Nodular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One (uninodular) or multiple (multinodular) palpable nodules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52556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Simple (non-toxic)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No hyper- or hypothyroidism · no inflammation or neoplasia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Toxic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Excess hormone production — e.g., Graves’, toxic MNG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07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4" dur="12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Endemic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Affects &gt; 10% of a population — usually regional iodine deficiency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Sporadic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Individual cases — genetic, dietary, drug-related or autoimmune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86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Retrosternal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(Substernal) — extends below the sternum into the superior mediastinum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08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105775736366288"/>
                                    </p:val>
                                  </p:tav>
                                  <p:tav tm="100000">
                                    <p:val>
                                      <p:fltVal val="0.59761461067366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839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3613059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#1 WORLDWIDE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Leading risk factor worldwide — mountainous &amp; inland regions far from the sea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fem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19689" y="1752556"/>
            <a:ext cx="3994050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Female gender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Women affected 4–10× more often than 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826" y="4082947"/>
            <a:ext cx="952476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575" y="4070248"/>
            <a:ext cx="4121046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Age over 40 years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Prevalence increases with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ami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448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Family history / genetics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Inherited defects of hormone synthesis (dyshormonogenesis)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09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4" dur="12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12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8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2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6" dur="12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pregn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20" y="1765255"/>
            <a:ext cx="888977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2374840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Hormonal changes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Puberty, pregnancy &amp; menopause ↑ hormone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39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ra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531" y="1765255"/>
            <a:ext cx="952476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09984" y="1752556"/>
            <a:ext cx="2311342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Radiation exposure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Prior head/neck irradiation or nuclear fallout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799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dru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394" y="1752556"/>
            <a:ext cx="2184345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Medications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Lithium · amiodarone · immunosuppressants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oo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334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90575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Dietary goitrogens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Excess cassava, cabbage, broccoli, soy — worse with iodine deficiency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f-smo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8452" y="4082947"/>
            <a:ext cx="1396965" cy="192400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9689" y="4070248"/>
            <a:ext cx="367655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Smoking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Thiocyanate in smoke interferes with iodine uptake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10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4" dur="12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12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8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2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6" dur="12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12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0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1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How Iodine Deficiency Builds a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MOST COMMON CAUSE WORLDWIDE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Iodine deficiency → endemic goiter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0958" y="3809904"/>
            <a:ext cx="8889777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1980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9209" y="3301917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655" y="3473363"/>
            <a:ext cx="419089" cy="41908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2476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01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2412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49641" y="3301917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086" y="3473363"/>
            <a:ext cx="419089" cy="4190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82907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02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↓ Hormone synthesis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844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0072" y="3301917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518" y="3473363"/>
            <a:ext cx="419089" cy="41908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13339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03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↑ 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276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10504" y="3301917"/>
            <a:ext cx="761980" cy="761980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1950" y="3473363"/>
            <a:ext cx="419089" cy="41908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43771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04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Glandular hyperplasia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11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12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0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4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8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749681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521085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Hashimoto's 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Autoimmune destruction ·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most common cause in iodine-sufficient regions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· leads to hypothyroidism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Graves' disease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TSH-receptor stimulating antibodies → diffuse toxic goiter with hyperthyroidism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Multinodular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Multiple adenomatous nodules · may become autonomously functioning (toxic)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Solitary thyroid nodule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Adenoma, cyst or carcinoma —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≈ 5% of palpable nodules are malignant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Subacute (De Quervain), postpartum or silent — often painful or transient dysfunction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12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18369058034412"/>
                                    </p:val>
                                  </p:tav>
                                  <p:tav tm="100000">
                                    <p:val>
                                      <p:fltVal val="0.58887394284047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6226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394089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 cancer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Papillary (most common) · follicular · medullary · anaplastic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Drugs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Lithium · amiodarone (iodine-rich) · interferon-alpha · tyrosine kinase inhibitors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Pregnancy / HCG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HCG weakly stimulates TSH receptors → mild physiological enlargement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Iodine excess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Paradoxically</a:t>
                      </a:r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, chronic excess iodine can also induce goiter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13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Clinical Grading of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241693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7" cy="4013098"/>
        </p:xfrm>
        <a:graphic>
          <a:graphicData uri="http://schemas.openxmlformats.org/drawingml/2006/table">
            <a:tbl>
              <a:tblPr firstRow="0" bandRow="0"/>
              <a:tblGrid>
                <a:gridCol w="1650958"/>
                <a:gridCol w="1587460"/>
                <a:gridCol w="1587460"/>
                <a:gridCol w="5613259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GRADE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PALPABLE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VISIBLE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FINDING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0B6E70"/>
                          </a:solidFill>
                          <a:latin typeface="Playfair Display"/>
                        </a:rPr>
                        <a:t>0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No palpable or visible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1F4FA8"/>
                          </a:solidFill>
                          <a:latin typeface="Playfair Display"/>
                        </a:rPr>
                        <a:t>1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Palpable — not visible with neck in normal position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F4FA8"/>
                          </a:solidFill>
                          <a:latin typeface="Source Sans 3"/>
                        </a:rPr>
                        <a:t>1a · palpable only</a:t>
                      </a:r>
                      <a:r>
                        <a:rPr sz="1200" b="1">
                          <a:solidFill>
                            <a:srgbClr val="8A6A24"/>
                          </a:solidFill>
                          <a:latin typeface="Source Sans 3"/>
                        </a:rPr>
                        <a:t>1b · visible with neck extended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E7CF96"/>
                          </a:solidFill>
                          <a:latin typeface="Playfair Display"/>
                        </a:rPr>
                        <a:t>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Clearly visible with neck in normal position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14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48008165645961"/>
                                    </p:val>
                                  </p:tav>
                                  <p:tav tm="100000">
                                    <p:val>
                                      <p:fltVal val="0.55183785360163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Classification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90655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Morphology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5415" y="1663658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9409" y="1790655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409" y="1821134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Diffuse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65428" y="1790655"/>
            <a:ext cx="1386805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65428" y="1821134"/>
            <a:ext cx="13868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Uninodular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432" y="1790655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8432" y="1821134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Multinodular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200319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327316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Function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5415" y="3200319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19409" y="3327316"/>
            <a:ext cx="2549080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409" y="3357796"/>
            <a:ext cx="2549080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Non-toxic (euthyroid)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4687" y="3327316"/>
            <a:ext cx="2443418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4687" y="3357796"/>
            <a:ext cx="244341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Toxic (hyperthyroid)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409" y="3784505"/>
            <a:ext cx="3605693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9409" y="3814984"/>
            <a:ext cx="360569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Hypothyroid (e.g., Hashimoto’s)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4736981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4863978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7E7C2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Epidemiology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5415" y="4736981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19409" y="4863978"/>
            <a:ext cx="6035905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409" y="4894457"/>
            <a:ext cx="60359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Endemic — &gt; 10% of population (iodine-deficient areas)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409" y="5321166"/>
            <a:ext cx="3288709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409" y="5351646"/>
            <a:ext cx="328870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Sporadic — individual causes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15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55469524642753"/>
                                    </p:val>
                                  </p:tav>
                                  <p:tav tm="100000">
                                    <p:val>
                                      <p:fltVal val="0.34258398950131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25780110819481"/>
                                    </p:val>
                                  </p:tav>
                                  <p:tav tm="100000">
                                    <p:val>
                                      <p:fltVal val="0.57961504811898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3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99814814814815"/>
                                    </p:val>
                                  </p:tav>
                                  <p:tav tm="100000">
                                    <p:val>
                                      <p:fltVal val="0.737018518518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7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99814085739283"/>
                                    </p:val>
                                  </p:tav>
                                  <p:tav tm="100000">
                                    <p:val>
                                      <p:fltVal val="0.7370184456109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1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66463983668708"/>
                                    </p:val>
                                  </p:tav>
                                  <p:tav tm="100000">
                                    <p:val>
                                      <p:fltVal val="0.8036834354039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5" dur="900" fill="hold"/>
                                  <p:tgtEl>
                                    <p:spTgt spid="3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6646471274424"/>
                                    </p:val>
                                  </p:tav>
                                  <p:tav tm="100000">
                                    <p:val>
                                      <p:fltVal val="0.80368350831146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(Mass)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Anterior neck swelling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587460"/>
          </a:xfrm>
          <a:prstGeom prst="roundRect">
            <a:avLst>
              <a:gd name="adj" fmla="val 960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41453"/>
            <a:ext cx="5905352" cy="9585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LOCAL (MASS) EFFECT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fair Display"/>
              </a:rPr>
              <a:t>Visible or palpable anterior neck swelling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Symmetrical or nodular · </a:t>
            </a:r>
            <a:r>
              <a:rPr sz="1500" b="0" i="0">
                <a:solidFill>
                  <a:srgbClr val="E7CF96"/>
                </a:solidFill>
                <a:latin typeface="Source Sans 3"/>
              </a:rPr>
              <a:t>moves upward on swallowing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16374" y="3441613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9569" y="376545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3902612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06949" y="3530511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Dysphagia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Esophageal compression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6374" y="4851278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19569" y="517512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12277"/>
            <a:ext cx="335271" cy="3352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06949" y="4940176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Dyspnea / stridor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Tracheal compression or deviation — worse when lying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16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12872557596967"/>
                                    </p:val>
                                  </p:tav>
                                  <p:tav tm="100000">
                                    <p:val>
                                      <p:fltVal val="0.35832429279673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136176727909013"/>
                                    </p:val>
                                  </p:tav>
                                  <p:tav tm="100000">
                                    <p:val>
                                      <p:fltVal val="0.3383988043161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Effects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247843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38500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Hoarseness of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compression — a red flag for malignancy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4290" y="224784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46" y="2385000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1670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Persistent cough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With a sensation of throat tightness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3632109"/>
            <a:ext cx="10667733" cy="2476438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063898"/>
            <a:ext cx="825479" cy="825479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249631"/>
            <a:ext cx="454013" cy="4540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58946" y="3809904"/>
            <a:ext cx="9016774" cy="20954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PEMBERTON'S SIGN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Arms raised overhead → facial flushing, congestion &amp; venous engorgement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 i="0">
                <a:solidFill>
                  <a:srgbClr val="B23A48"/>
                </a:solidFill>
                <a:latin typeface="Source Sans 3"/>
              </a:rPr>
              <a:t>Thoracic inlet obstruction by a retrosternal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17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231303587051618"/>
                                    </p:val>
                                  </p:tav>
                                  <p:tav tm="100000">
                                    <p:val>
                                      <p:fltVal val="0.71016739574219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212784339457567"/>
                                    </p:val>
                                  </p:tav>
                                  <p:tav tm="100000">
                                    <p:val>
                                      <p:fltVal val="0.70831547098279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If Thyroid Dysfunction Coexists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43061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9553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Hashimoto’s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0575" y="3174920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575" y="3205399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Fatigue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6594" y="3174920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6594" y="3205399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Weight gain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5259" y="3174920"/>
            <a:ext cx="2020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5259" y="3205399"/>
            <a:ext cx="2020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Cold intolerance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575" y="3632109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575" y="3662588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Constipation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4901" y="3632109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4901" y="3662588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Bradycardia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566" y="3632109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33566" y="3662588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Dry skin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575" y="4089297"/>
            <a:ext cx="138680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575" y="4119777"/>
            <a:ext cx="13868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Depression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53578" y="4089297"/>
            <a:ext cx="286606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3578" y="4119777"/>
            <a:ext cx="286606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Menstrual irregularities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19689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43061"/>
            <a:ext cx="384165" cy="38416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08667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Hyperthyroidism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Graves’, toxic MNG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1095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19689" y="3174920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689" y="3205399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Weight loss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354" y="3174920"/>
            <a:ext cx="2020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88354" y="3205399"/>
            <a:ext cx="2020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Heat intolerance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19689" y="3632109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689" y="3662588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Palpitations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4015" y="3632109"/>
            <a:ext cx="964159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4015" y="3662588"/>
            <a:ext cx="96415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Tremor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4373" y="3632109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4373" y="3662588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Sweating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19689" y="4089297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689" y="4119777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Anxiety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65708" y="4089297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65708" y="4119777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Insomnia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17389" y="4089297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17389" y="4119777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Diarrhea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19689" y="4546486"/>
            <a:ext cx="265474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689" y="4576965"/>
            <a:ext cx="265474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Exophthalmos (Graves’)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18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3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7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1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5" dur="900" fill="hold"/>
                                  <p:tgtEl>
                                    <p:spTgt spid="3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9" dur="900" fill="hold"/>
                                  <p:tgtEl>
                                    <p:spTgt spid="3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3" dur="900" fill="hold"/>
                                  <p:tgtEl>
                                    <p:spTgt spid="3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7" dur="900" fill="hold"/>
                                  <p:tgtEl>
                                    <p:spTgt spid="3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1" dur="900" fill="hold"/>
                                  <p:tgtEl>
                                    <p:spTgt spid="3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5" dur="900" fill="hold"/>
                                  <p:tgtEl>
                                    <p:spTgt spid="3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9" dur="900" fill="hold"/>
                                  <p:tgtEl>
                                    <p:spTgt spid="3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3" dur="900" fill="hold"/>
                                  <p:tgtEl>
                                    <p:spTgt spid="3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7" dur="900" fill="hold"/>
                                  <p:tgtEl>
                                    <p:spTgt spid="3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1" dur="900" fill="hold"/>
                                  <p:tgtEl>
                                    <p:spTgt spid="3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5" dur="900" fill="hold"/>
                                  <p:tgtEl>
                                    <p:spTgt spid="4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9" dur="900" fill="hold"/>
                                  <p:tgtEl>
                                    <p:spTgt spid="4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63" dur="900" fill="hold"/>
                                  <p:tgtEl>
                                    <p:spTgt spid="4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4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67" dur="900" fill="hold"/>
                                  <p:tgtEl>
                                    <p:spTgt spid="4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8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71" dur="900" fill="hold"/>
                                  <p:tgtEl>
                                    <p:spTgt spid="4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72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75" dur="900" fill="hold"/>
                                  <p:tgtEl>
                                    <p:spTgt spid="4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76" dur="900" fill="hold"/>
                                  <p:tgtEl>
                                    <p:spTgt spid="4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79" dur="900" fill="hold"/>
                                  <p:tgtEl>
                                    <p:spTgt spid="4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80" dur="900" fill="hold"/>
                                  <p:tgtEl>
                                    <p:spTgt spid="4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83" dur="900" fill="hold"/>
                                  <p:tgtEl>
                                    <p:spTgt spid="4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84" dur="900" fill="hold"/>
                                  <p:tgtEl>
                                    <p:spTgt spid="4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87" dur="900" fill="hold"/>
                                  <p:tgtEl>
                                    <p:spTgt spid="4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88" dur="900" fill="hold"/>
                                  <p:tgtEl>
                                    <p:spTgt spid="4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36863517060368"/>
                                    </p:val>
                                  </p:tav>
                                  <p:tav tm="100000">
                                    <p:val>
                                      <p:fltVal val="0.69072338874307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1" dur="900" fill="hold"/>
                                  <p:tgtEl>
                                    <p:spTgt spid="4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92" dur="900" fill="hold"/>
                                  <p:tgtEl>
                                    <p:spTgt spid="4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36862787984836"/>
                                    </p:val>
                                  </p:tav>
                                  <p:tav tm="100000">
                                    <p:val>
                                      <p:fltVal val="0.6907233158355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⚠ Red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143706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Rapid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8458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741" y="2143706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196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Firm / fixed hard mass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3994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151" y="214370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9137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Hoarseness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3635919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Cervical lymphadenopathy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39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458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1741" y="3635919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7196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Age &lt; 20 or &gt;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0799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3994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151" y="3635919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37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Prior neck irradiation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1980" y="4648083"/>
            <a:ext cx="10667733" cy="1460463"/>
          </a:xfrm>
          <a:prstGeom prst="roundRect">
            <a:avLst>
              <a:gd name="adj" fmla="val 10434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73" y="4990975"/>
            <a:ext cx="761980" cy="7619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918" y="5162420"/>
            <a:ext cx="419089" cy="4190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95447" y="4775080"/>
            <a:ext cx="9143771" cy="12064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ACTION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Playfair Display"/>
              </a:rPr>
              <a:t>Suspect malignancy — refer promptly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19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3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7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1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5" dur="900" fill="hold"/>
                                  <p:tgtEl>
                                    <p:spTgt spid="3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9" dur="900" fill="hold"/>
                                  <p:tgtEl>
                                    <p:spTgt spid="3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962766112569262"/>
                                    </p:val>
                                  </p:tav>
                                  <p:tav tm="100000">
                                    <p:val>
                                      <p:fltVal val="0.78331364829396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3" dur="900" fill="hold"/>
                                  <p:tgtEl>
                                    <p:spTgt spid="3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96276538349373"/>
                                    </p:val>
                                  </p:tav>
                                  <p:tav tm="100000">
                                    <p:val>
                                      <p:fltVal val="0.78331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7" dur="900" fill="hold"/>
                                  <p:tgtEl>
                                    <p:spTgt spid="3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4642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9473" y="2044648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05" y="2230381"/>
            <a:ext cx="454013" cy="4540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9473" y="3174920"/>
            <a:ext cx="2984425" cy="18549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6D9DD"/>
                </a:solidFill>
                <a:latin typeface="Source Sans 3"/>
              </a:rPr>
              <a:t>MOST SERIOUS ACUTE COMPLICATION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Airway obstruction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500" b="0" i="0">
                <a:solidFill>
                  <a:srgbClr val="F6D9DD"/>
                </a:solidFill>
                <a:latin typeface="Source Sans 3"/>
              </a:rPr>
              <a:t>Tracheal compression — an emergency if severe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663658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04464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35" y="2181805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25959" y="1752556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Esophageal 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→ Progressive dysphagia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3193970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357496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735" y="3712117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5959" y="3282867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Superior vena cava syndrome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large retrosternal goiters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4724281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51052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5735" y="5242428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5959" y="4813179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Recurrent laryngeal nerve palsy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Hoarseness / vocal cord paralysis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20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111515748031496"/>
                                    </p:val>
                                  </p:tav>
                                  <p:tav tm="100000">
                                    <p:val>
                                      <p:fltVal val="0.59818861184018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55468066491688"/>
                                    </p:val>
                                  </p:tav>
                                  <p:tav tm="100000">
                                    <p:val>
                                      <p:fltVal val="0.342583843686205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1524496937883"/>
                                    </p:val>
                                  </p:tav>
                                  <p:tav tm="100000">
                                    <p:val>
                                      <p:fltVal val="0.5661894867308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1523038786818"/>
                                    </p:val>
                                  </p:tav>
                                  <p:tav tm="100000">
                                    <p:val>
                                      <p:fltVal val="0.56618934091571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18320209973753"/>
                                    </p:val>
                                  </p:tav>
                                  <p:tav tm="100000">
                                    <p:val>
                                      <p:fltVal val="0.78886905803441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1831948089822"/>
                                    </p:val>
                                  </p:tav>
                                  <p:tav tm="100000">
                                    <p:val>
                                      <p:fltVal val="0.7888689851268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063698" cy="11267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Thyrotoxicosis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Autonomous nodules secrete hormone (secondary hyperthyroidism)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3363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1957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116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1957" y="3505112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End-stage autoimmune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4745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3339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98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3339" y="3505112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Malignant transformation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A small proportion of nodular goiters harbor carcinoma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6127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24721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880" y="2773293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24721" y="3505112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Cosmetic &amp; psychosocial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Anxiety · body-image disturbance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21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2072761738116"/>
                                    </p:val>
                                  </p:tav>
                                  <p:tav tm="100000">
                                    <p:val>
                                      <p:fltVal val="0.59324431321084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96151210265383"/>
                                    </p:val>
                                  </p:tav>
                                  <p:tav tm="100000">
                                    <p:val>
                                      <p:fltVal val="0.57665215806357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02437299504229"/>
                                    </p:val>
                                  </p:tav>
                                  <p:tav tm="100000">
                                    <p:val>
                                      <p:fltVal val="0.61728076698745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136515748031496"/>
                                    </p:val>
                                  </p:tav>
                                  <p:tav tm="100000">
                                    <p:val>
                                      <p:fltVal val="0.6006886118401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After Surgery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AFTER THYROIDECTOMY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Post-surgical complications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18762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344778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Hemorrhage / hematoma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airway compromise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18762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344778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Hypocalcemia / tetany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From hypoparathyroidism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187620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344778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076598"/>
            <a:ext cx="2063698" cy="12859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Recurrent laryngeal nerve injury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Voice 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18762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344778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076598"/>
            <a:ext cx="2063698" cy="884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Requiring lifelong replacement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22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11493875765529"/>
                                    </p:val>
                                  </p:tav>
                                  <p:tav tm="100000">
                                    <p:val>
                                      <p:fltVal val="0.68818642461358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18538203557889"/>
                                    </p:val>
                                  </p:tav>
                                  <p:tav tm="100000">
                                    <p:val>
                                      <p:fltVal val="0.65889085739282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Diagnostic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0463" y="2222444"/>
            <a:ext cx="9270768" cy="19049"/>
          </a:xfrm>
          <a:prstGeom prst="rect">
            <a:avLst/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156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3658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104" y="3282867"/>
            <a:ext cx="419089" cy="4190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52476" y="4127396"/>
            <a:ext cx="64717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152796"/>
            <a:ext cx="64717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Neck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5850" y="4127396"/>
            <a:ext cx="120189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75850" y="4152796"/>
            <a:ext cx="120189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Lymph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476" y="4521086"/>
            <a:ext cx="120189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4546486"/>
            <a:ext cx="120189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Pemberton’s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839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0663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62340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786" y="3282867"/>
            <a:ext cx="419089" cy="41908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1158" y="4127396"/>
            <a:ext cx="56792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1158" y="4152796"/>
            <a:ext cx="56792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5286" y="4127396"/>
            <a:ext cx="104340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5286" y="4152796"/>
            <a:ext cx="104340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FT4 / FT3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1158" y="4521086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1158" y="4546486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Antibodies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4521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346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1023" y="3111422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469" y="3282867"/>
            <a:ext cx="419089" cy="419089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49841" y="4127396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4152796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Ultrasound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8691" y="4127396"/>
            <a:ext cx="96415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8691" y="4152796"/>
            <a:ext cx="96415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RAI scan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1" y="4521086"/>
            <a:ext cx="96415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9841" y="4546486"/>
            <a:ext cx="96415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CT / MRI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0199" y="4521086"/>
            <a:ext cx="72642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0199" y="4546486"/>
            <a:ext cx="72642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3204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8028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59706" y="3111422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1151" y="3282867"/>
            <a:ext cx="419089" cy="419089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9048523" y="4127396"/>
            <a:ext cx="64717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8523" y="4152796"/>
            <a:ext cx="64717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FNAB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23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0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4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8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2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3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6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7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0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1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4" dur="900" fill="hold"/>
                                  <p:tgtEl>
                                    <p:spTgt spid="3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5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8" dur="900" fill="hold"/>
                                  <p:tgtEl>
                                    <p:spTgt spid="3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9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2" dur="900" fill="hold"/>
                                  <p:tgtEl>
                                    <p:spTgt spid="3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3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6" dur="900" fill="hold"/>
                                  <p:tgtEl>
                                    <p:spTgt spid="3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7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0" dur="900" fill="hold"/>
                                  <p:tgtEl>
                                    <p:spTgt spid="3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1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4" dur="900" fill="hold"/>
                                  <p:tgtEl>
                                    <p:spTgt spid="3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5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8" dur="900" fill="hold"/>
                                  <p:tgtEl>
                                    <p:spTgt spid="3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9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2" dur="900" fill="hold"/>
                                  <p:tgtEl>
                                    <p:spTgt spid="3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3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6" dur="900" fill="hold"/>
                                  <p:tgtEl>
                                    <p:spTgt spid="3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47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0" dur="900" fill="hold"/>
                                  <p:tgtEl>
                                    <p:spTgt spid="3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1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4" dur="900" fill="hold"/>
                                  <p:tgtEl>
                                    <p:spTgt spid="4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5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8" dur="900" fill="hold"/>
                                  <p:tgtEl>
                                    <p:spTgt spid="4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9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62" dur="900" fill="hold"/>
                                  <p:tgtEl>
                                    <p:spTgt spid="4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3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66" dur="900" fill="hold"/>
                                  <p:tgtEl>
                                    <p:spTgt spid="4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7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1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70" dur="900" fill="hold"/>
                                  <p:tgtEl>
                                    <p:spTgt spid="4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71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History &amp; Physical Examination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Inspect &amp; palpate the neck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6374" y="1663658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STEP 1 · HISTORY &amp; PHYSICAL EXAMINATION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6374" y="198115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9569" y="2139896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2277053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06949" y="207004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Neck inspection &amp; palpation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Size · symmetry · consistency · nodules · movement with swallowing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6374" y="3041573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19569" y="320031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333747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06949" y="3130471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Lymph nodes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Check for cervical lymphadenopathy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6374" y="4101997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9569" y="4260743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726" y="4397900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06949" y="4190895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Pemberton’s sign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6374" y="516242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19569" y="532116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6726" y="545832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06949" y="525131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Signs of thyroid 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Hypo- or hyperthyroid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24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698983668708078"/>
                                    </p:val>
                                  </p:tav>
                                  <p:tav tm="100000">
                                    <p:val>
                                      <p:fltVal val="0.356935403907844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6943540390784485"/>
                                    </p:val>
                                  </p:tav>
                                  <p:tav tm="100000">
                                    <p:val>
                                      <p:fltVal val="0.35647244094488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6943547681539807"/>
                                    </p:val>
                                  </p:tav>
                                  <p:tav tm="100000">
                                    <p:val>
                                      <p:fltVal val="0.35647251385243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69898439778361"/>
                                    </p:val>
                                  </p:tav>
                                  <p:tav tm="100000">
                                    <p:val>
                                      <p:fltVal val="0.35693547681539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45240594925634"/>
                                    </p:val>
                                  </p:tav>
                                  <p:tav tm="100000">
                                    <p:val>
                                      <p:fltVal val="0.5115610965296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40610965296004"/>
                                    </p:val>
                                  </p:tav>
                                  <p:tav tm="100000">
                                    <p:val>
                                      <p:fltVal val="0.51109813356663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40611694371536"/>
                                    </p:val>
                                  </p:tav>
                                  <p:tav tm="100000">
                                    <p:val>
                                      <p:fltVal val="0.51109820647419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45241324001166"/>
                                    </p:val>
                                  </p:tav>
                                  <p:tav tm="100000">
                                    <p:val>
                                      <p:fltVal val="0.51156116943715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91498979294255"/>
                                    </p:val>
                                  </p:tav>
                                  <p:tav tm="100000">
                                    <p:val>
                                      <p:fltVal val="0.6661869349664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7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91499708369787"/>
                                    </p:val>
                                  </p:tav>
                                  <p:tav tm="100000">
                                    <p:val>
                                      <p:fltVal val="0.6661870078740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1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37755905511811"/>
                                    </p:val>
                                  </p:tav>
                                  <p:tav tm="100000">
                                    <p:val>
                                      <p:fltVal val="0.82081262758821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5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33126275882181"/>
                                    </p:val>
                                  </p:tav>
                                  <p:tav tm="100000">
                                    <p:val>
                                      <p:fltVal val="0.82034966462525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9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33127004957713"/>
                                    </p:val>
                                  </p:tav>
                                  <p:tav tm="100000">
                                    <p:val>
                                      <p:fltVal val="0.82034973753280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3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37756634587343"/>
                                    </p:val>
                                  </p:tav>
                                  <p:tav tm="100000">
                                    <p:val>
                                      <p:fltVal val="0.820812700495771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Laboratory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06869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854153"/>
            <a:ext cx="4698882" cy="1458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2 · FIRST-LINE SCREENING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i="0">
                <a:solidFill>
                  <a:srgbClr val="FFFFFF"/>
                </a:solidFill>
                <a:latin typeface="Playfair Display"/>
              </a:rPr>
              <a:t>TSH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Then free T4 / free T3 to classify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3949601"/>
            <a:ext cx="5206869" cy="2158946"/>
          </a:xfrm>
          <a:prstGeom prst="roundRect">
            <a:avLst>
              <a:gd name="adj" fmla="val 8235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ood-t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4140096"/>
            <a:ext cx="4825879" cy="1777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342" y="1663658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89537" y="186685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694" y="2004009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76918" y="1752556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Anti-TPO / anti-thyroglobulin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→ Hashimoto’s thyroiditis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342" y="2806629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9537" y="3009824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694" y="31469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6918" y="2895527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TSH-receptor antibodies (TRAb)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Graves’ disease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342" y="3949601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89537" y="4152796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6694" y="4289952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76918" y="4038499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SPECIAL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If medullary carcinoma is suspected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5092572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9537" y="5295767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6694" y="5432924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76918" y="5181470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AFTER SURGERY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calcium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Post-op follow-up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25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8969415281423153"/>
                                    </p:val>
                                  </p:tav>
                                  <p:tav tm="100000">
                                    <p:val>
                                      <p:fltVal val="0.37673118985126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1200" fill="hold"/>
                                  <p:tgtEl>
                                    <p:spTgt spid="8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1200" fill="hold"/>
                                  <p:tgtEl>
                                    <p:spTgt spid="9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96215368912219"/>
                                    </p:val>
                                  </p:tav>
                                  <p:tav tm="100000">
                                    <p:val>
                                      <p:fltVal val="0.316658573928258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962168270632836"/>
                                    </p:val>
                                  </p:tav>
                                  <p:tav tm="100000">
                                    <p:val>
                                      <p:fltVal val="0.31665871974336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7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629467045785943"/>
                                    </p:val>
                                  </p:tav>
                                  <p:tav tm="100000">
                                    <p:val>
                                      <p:fltVal val="0.6499837416156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1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5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9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3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Ultrasound &amp; Scintigraphy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460863" cy="3301917"/>
          </a:xfrm>
          <a:prstGeom prst="roundRect">
            <a:avLst>
              <a:gd name="adj" fmla="val 5384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-multinod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5079873" cy="24764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4406789"/>
            <a:ext cx="5206869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Ultrasound — multinodular goiter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0336" y="1663658"/>
            <a:ext cx="4889377" cy="3301917"/>
          </a:xfrm>
          <a:prstGeom prst="roundRect">
            <a:avLst>
              <a:gd name="adj" fmla="val 461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94330" y="1879553"/>
            <a:ext cx="70000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4330" y="1907492"/>
            <a:ext cx="70000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70534" y="1879553"/>
            <a:ext cx="884913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0534" y="1907492"/>
            <a:ext cx="884913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31646" y="1879553"/>
            <a:ext cx="245662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646" y="1907492"/>
            <a:ext cx="245662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Nodule characterization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94330" y="2304992"/>
            <a:ext cx="2826441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4330" y="2332931"/>
            <a:ext cx="2826441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TI-RADS risk stratification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5156071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5974" y="532751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31" y="5464673"/>
            <a:ext cx="335271" cy="33527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841453" y="5219569"/>
            <a:ext cx="161793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1453" y="5248778"/>
            <a:ext cx="161793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“Hot” = toxic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5591" y="5219569"/>
            <a:ext cx="2212284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5248778"/>
            <a:ext cx="2212284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“Cold” = suspicious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26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42888597258676"/>
                                    </p:val>
                                  </p:tav>
                                  <p:tav tm="100000">
                                    <p:val>
                                      <p:fltVal val="0.66132589676290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45279235928842"/>
                                    </p:val>
                                  </p:tav>
                                  <p:tav tm="100000">
                                    <p:val>
                                      <p:fltVal val="0.36156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4527850685331"/>
                                    </p:val>
                                  </p:tav>
                                  <p:tav tm="100000">
                                    <p:val>
                                      <p:fltVal val="0.36156488772236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42386993292505"/>
                                    </p:val>
                                  </p:tav>
                                  <p:tav tm="100000">
                                    <p:val>
                                      <p:fltVal val="0.82127573636628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42385535141441"/>
                                    </p:val>
                                  </p:tav>
                                  <p:tav tm="100000">
                                    <p:val>
                                      <p:fltVal val="0.82127559055118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342386264216973"/>
                                    </p:val>
                                  </p:tav>
                                  <p:tav tm="100000">
                                    <p:val>
                                      <p:fltVal val="0.8212756634587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7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1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5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9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CT, MRI &amp; X-ray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t-goi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CT — enlarged nodular thyroid (arrow)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52956" y="1917652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14" y="2074810"/>
            <a:ext cx="384165" cy="3841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52956" y="2806629"/>
            <a:ext cx="5448163" cy="11422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CROSS-SECTIONAL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CT / MRI of neck &amp; chest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Retrosternal extension · airway &amp; esophageal compression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962300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52956" y="42162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114" y="4373453"/>
            <a:ext cx="384165" cy="38416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2956" y="5105272"/>
            <a:ext cx="5448163" cy="91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PLAIN FILM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Chest X-ray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Tracheal deviation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27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202697579469233"/>
                                    </p:val>
                                  </p:tav>
                                  <p:tav tm="100000">
                                    <p:val>
                                      <p:fltVal val="0.39906401283172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05487532808399"/>
                                    </p:val>
                                  </p:tav>
                                  <p:tav tm="100000">
                                    <p:val>
                                      <p:fltVal val="0.49252456984543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72037037037037"/>
                                    </p:val>
                                  </p:tav>
                                  <p:tav tm="100000">
                                    <p:val>
                                      <p:fltVal val="0.73424074074074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40722513852435"/>
                                    </p:val>
                                  </p:tav>
                                  <p:tav tm="100000">
                                    <p:val>
                                      <p:fltVal val="0.8111092884222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Tissue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2095447"/>
          </a:xfrm>
          <a:prstGeom prst="roundRect">
            <a:avLst>
              <a:gd name="adj" fmla="val 787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273243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473263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49441" y="1854153"/>
            <a:ext cx="8889777" cy="1714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4 · TISSUE DIAGNOSIS — GOLD STANDARD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Fine-needle aspiration biopsy (FNAB)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 i="0">
                <a:solidFill>
                  <a:srgbClr val="E7CF96"/>
                </a:solidFill>
                <a:latin typeface="Source Sans 3"/>
              </a:rPr>
              <a:t>For evaluating suspicious nodules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42035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436075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Gold standard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tissue diagnosis of suspicious nodules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095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689" y="420359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48" y="436075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Bethesda classification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Used to report FNAB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28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Medical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Observation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Small, asymptomatic, euthyroid goiters → periodic clinical &amp; ultrasound follow-up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19689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9689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Iodine supplementation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For iodine-deficiency goiter — e.g., potassium iodide; dietary correction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013099"/>
            <a:ext cx="10667733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521086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706819"/>
            <a:ext cx="454013" cy="4540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158946" y="4140096"/>
            <a:ext cx="367833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8946" y="4166765"/>
            <a:ext cx="367833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TSH suppression — simple diffuse goiter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13480" y="4140096"/>
            <a:ext cx="333493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13480" y="4166765"/>
            <a:ext cx="333493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Mandatory after total thyroidectomy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58946" y="4549661"/>
            <a:ext cx="2133038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8946" y="4576330"/>
            <a:ext cx="2133038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Treats hypothyroidism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29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509073344998541"/>
                                    </p:val>
                                  </p:tav>
                                  <p:tav tm="100000">
                                    <p:val>
                                      <p:fltVal val="0.73794437153689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6771653543307"/>
                                    </p:val>
                                  </p:tav>
                                  <p:tav tm="100000">
                                    <p:val>
                                      <p:fltVal val="0.6877142023913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6770924467774"/>
                                    </p:val>
                                  </p:tav>
                                  <p:tav tm="100000">
                                    <p:val>
                                      <p:fltVal val="0.68771412948381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Treating Thyroid Overactivity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Antithyroid drugs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Methimazole or propylthiouracil (PTU) — toxic goiter / Graves’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Beta-blockers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Propranolol — symptom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41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Radioactive iodine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RAI, I-131 · ablates hyperfunctioning tissue · shrinks toxic MNG &amp; Graves’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30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07077136191309"/>
                                    </p:val>
                                  </p:tav>
                                  <p:tav tm="100000">
                                    <p:val>
                                      <p:fltVal val="0.57774475065616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41154855643045"/>
                                    </p:val>
                                  </p:tav>
                                  <p:tav tm="100000">
                                    <p:val>
                                      <p:fltVal val="0.56115252260134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72998687664042"/>
                                    </p:val>
                                  </p:tav>
                                  <p:tav tm="100000">
                                    <p:val>
                                      <p:fltVal val="0.59433690580344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Surgery — Thyroidectomy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Large nodular goiter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5384" y="1663658"/>
            <a:ext cx="6794330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SURGERY · THYROIDECTOMY — INDICATIONS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981150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120846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870" y="2175138"/>
            <a:ext cx="132711" cy="1327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668" y="2070048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Compressive symptoms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2590735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2730431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870" y="2784722"/>
            <a:ext cx="132711" cy="1327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57668" y="2679633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Suspected / proven malignancy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320031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3340016"/>
            <a:ext cx="241293" cy="241293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870" y="3394307"/>
            <a:ext cx="132711" cy="1327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57668" y="328921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5384" y="3809904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8579" y="3949601"/>
            <a:ext cx="241293" cy="241293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870" y="4003892"/>
            <a:ext cx="132711" cy="1327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57668" y="3898802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Cosmetic concern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5384" y="441948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38579" y="4559186"/>
            <a:ext cx="241293" cy="241293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7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870" y="4613477"/>
            <a:ext cx="132711" cy="1327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668" y="450838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Failed medical therapy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35384" y="5092572"/>
            <a:ext cx="6794330" cy="1015974"/>
          </a:xfrm>
          <a:prstGeom prst="roundRect">
            <a:avLst>
              <a:gd name="adj" fmla="val 1375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89377" y="5219569"/>
            <a:ext cx="82547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89377" y="5248778"/>
            <a:ext cx="82547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Total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91055" y="5219569"/>
            <a:ext cx="1320766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055" y="5248778"/>
            <a:ext cx="1320766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Near-total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88020" y="5219569"/>
            <a:ext cx="122170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8020" y="5248778"/>
            <a:ext cx="122170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Lobectomy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31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980650335374746"/>
                                    </p:val>
                                  </p:tav>
                                  <p:tav tm="100000">
                                    <p:val>
                                      <p:fltVal val="0.32684354039078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980643044619424"/>
                                    </p:val>
                                  </p:tav>
                                  <p:tav tm="100000">
                                    <p:val>
                                      <p:fltVal val="0.3268434674832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2869320501603964"/>
                                    </p:val>
                                  </p:tav>
                                  <p:tav tm="100000">
                                    <p:val>
                                      <p:fltVal val="0.41573024205307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3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7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2869327792359285"/>
                                    </p:val>
                                  </p:tav>
                                  <p:tav tm="100000">
                                    <p:val>
                                      <p:fltVal val="0.41573031496062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175797608632254"/>
                                    </p:val>
                                  </p:tav>
                                  <p:tav tm="100000">
                                    <p:val>
                                      <p:fltVal val="0.5046167979002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7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1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5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9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3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7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8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1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2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5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6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9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0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1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3" dur="900" fill="hold"/>
                                  <p:tgtEl>
                                    <p:spTgt spid="3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4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7" dur="900" fill="hold"/>
                                  <p:tgtEl>
                                    <p:spTgt spid="3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8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1" dur="900" fill="hold"/>
                                  <p:tgtEl>
                                    <p:spTgt spid="3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2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3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5" dur="900" fill="hold"/>
                                  <p:tgtEl>
                                    <p:spTgt spid="3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6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7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29" dur="900" fill="hold"/>
                                  <p:tgtEl>
                                    <p:spTgt spid="3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0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3" dur="900" fill="hold"/>
                                  <p:tgtEl>
                                    <p:spTgt spid="3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4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>
                                  <p:cTn id="1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7" dur="900" fill="hold"/>
                                  <p:tgtEl>
                                    <p:spTgt spid="3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38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2812" y="1079473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1587460"/>
            <a:ext cx="2793930" cy="36956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904952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350">
                <a:solidFill>
                  <a:srgbClr val="0F8B8D"/>
                </a:solidFill>
                <a:latin typeface="Source Sans 3"/>
              </a:rPr>
              <a:t>SECTION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076" y="2260543"/>
            <a:ext cx="6349841" cy="18617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13254D"/>
                </a:solidFill>
                <a:latin typeface="Playfair Display"/>
              </a:rPr>
              <a:t>Nursing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476" y="4254393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476" y="4546486"/>
            <a:ext cx="2133038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476" y="4573155"/>
            <a:ext cx="2133038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Pre-op / Non-surgical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1712" y="4546486"/>
            <a:ext cx="15320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1712" y="4573155"/>
            <a:ext cx="15320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Post-op Airway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0000" y="4546486"/>
            <a:ext cx="13603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0000" y="4573155"/>
            <a:ext cx="13603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Hypocalcemia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6588" y="4546486"/>
            <a:ext cx="1016990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6588" y="4573155"/>
            <a:ext cx="1016990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Recovery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476" y="4956051"/>
            <a:ext cx="15320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476" y="4982720"/>
            <a:ext cx="15320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Nursing Pearls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1200" fill="hold"/>
                                  <p:tgtEl>
                                    <p:spTgt spid="3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138762758821814"/>
                                    </p:val>
                                  </p:tav>
                                  <p:tav tm="100000">
                                    <p:val>
                                      <p:fltVal val="0.5009133129192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4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117979731700204"/>
                                    </p:val>
                                  </p:tav>
                                  <p:tav tm="100000">
                                    <p:val>
                                      <p:fltVal val="0.298835010207057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8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783215952172645"/>
                                    </p:val>
                                  </p:tav>
                                  <p:tav tm="100000">
                                    <p:val>
                                      <p:fltVal val="0.46535863225430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351695100612423"/>
                                    </p:val>
                                  </p:tav>
                                  <p:tav tm="100000">
                                    <p:val>
                                      <p:fltVal val="0.62220654709827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8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599349664625256"/>
                                    </p:val>
                                  </p:tav>
                                  <p:tav tm="100000">
                                    <p:val>
                                      <p:fltVal val="0.74697200349956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599348935549722"/>
                                    </p:val>
                                  </p:tav>
                                  <p:tav tm="100000">
                                    <p:val>
                                      <p:fltVal val="0.74697193059200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Preoperative / Non-surgical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206469"/>
          </a:xfrm>
          <a:prstGeom prst="roundRect">
            <a:avLst>
              <a:gd name="adj" fmla="val 12631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62100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99257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9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AT EVERY ENCOUNTER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Assess airway, breathing pattern, voice &amp; swallowing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1" i="0">
                <a:solidFill>
                  <a:srgbClr val="F6D9DD"/>
                </a:solidFill>
                <a:latin typeface="Source Sans 3"/>
              </a:rPr>
              <a:t>Report stridor immediately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314617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71775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203594"/>
            <a:ext cx="2971725" cy="109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Medication adherence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Levothyroxine on an empty stomach · separate from calcium / iron by 4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39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9984" y="3314617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143" y="3471775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9984" y="4203594"/>
            <a:ext cx="2971725" cy="109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Nutritional counseling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Adequate iodine — iodized salt, seafood, dairy · avoid excess goitrogens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799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394" y="3314617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6552" y="3471775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394" y="4203594"/>
            <a:ext cx="2971725" cy="6415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Psychosocial support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body-image concerns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33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0612423447"/>
                                    </p:val>
                                  </p:tav>
                                  <p:tav tm="100000">
                                    <p:val>
                                      <p:fltVal val="0.33054709827938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58713910761155"/>
                                    </p:val>
                                  </p:tav>
                                  <p:tav tm="100000">
                                    <p:val>
                                      <p:fltVal val="0.69290842811315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058713910761155"/>
                                    </p:val>
                                  </p:tav>
                                  <p:tav tm="100000">
                                    <p:val>
                                      <p:fltVal val="0.69290842811315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26870078740157"/>
                                    </p:val>
                                  </p:tav>
                                  <p:tav tm="100000">
                                    <p:val>
                                      <p:fltVal val="0.659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Postoperative Care — Airway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POST-THYROIDECTOMY · PRIORITY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AIRWAY — monitor continuously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5175" y="298442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3121581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2556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Tracheostomy set + suction at the bedside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045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5240" y="2984425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2397" y="31215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62620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Watch for neck swelling / hematoma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4108347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4245503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Semi-Fowler's position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045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5240" y="4108347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97" y="424550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2620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Support the neck when moving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5054473"/>
            <a:ext cx="10667733" cy="1054073"/>
          </a:xfrm>
          <a:prstGeom prst="roundRect">
            <a:avLst>
              <a:gd name="adj" fmla="val 132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974" y="527671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3131" y="5413874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41453" y="5117972"/>
            <a:ext cx="9397765" cy="9270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CHECK THE DRESSING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Front </a:t>
            </a:r>
            <a:r>
              <a:rPr sz="2200" b="1" i="0">
                <a:solidFill>
                  <a:srgbClr val="13254D"/>
                </a:solidFill>
                <a:latin typeface="Source Sans 3"/>
              </a:rPr>
              <a:t>and</a:t>
            </a:r>
            <a:r>
              <a:rPr sz="2200" b="1" i="0">
                <a:solidFill>
                  <a:srgbClr val="13254D"/>
                </a:solidFill>
                <a:latin typeface="Playfair Display"/>
              </a:rPr>
              <a:t> back of the neck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34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3" dur="900" fill="hold"/>
                                  <p:tgtEl>
                                    <p:spTgt spid="2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7" dur="900" fill="hold"/>
                                  <p:tgtEl>
                                    <p:spTgt spid="2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1" dur="900" fill="hold"/>
                                  <p:tgtEl>
                                    <p:spTgt spid="2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Hypocalcemia 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Parathyroid injury → hypocalcemia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5384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9377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Chvostek's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CE6F7"/>
                </a:solidFill>
                <a:latin typeface="Source Sans 3"/>
              </a:rPr>
              <a:t>Tap the facial nerve → facial twitching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0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Trousseau's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DF1F1"/>
                </a:solidFill>
                <a:latin typeface="Source Sans 3"/>
              </a:rPr>
              <a:t>BP cuff inflated → carpal spasm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35384" y="3949601"/>
            <a:ext cx="6794330" cy="2158946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9377" y="4127396"/>
            <a:ext cx="6286342" cy="1533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ASSESS &amp; ACT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Perioral tingling · muscle cramps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Monitor serum calcium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Keep IV calcium gluconate available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35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2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5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266301399825021"/>
                                    </p:val>
                                  </p:tav>
                                  <p:tav tm="100000">
                                    <p:val>
                                      <p:fltVal val="0.71366717701953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Recovery &amp; Teaching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Assess the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injury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Deep breathing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Encourage regularly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1917652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074810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Pain &amp; nausea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Manage promptly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394090"/>
            <a:ext cx="10667733" cy="1714457"/>
          </a:xfrm>
          <a:prstGeom prst="roundRect">
            <a:avLst>
              <a:gd name="adj" fmla="val 888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9473" y="4838579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205" y="5024311"/>
            <a:ext cx="454013" cy="45401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58946" y="4521086"/>
            <a:ext cx="9080272" cy="1460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DISCHARGE TEACHING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Lifelong hormone replacement after total thyroidectomy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Plus the signs of hypo- / hyperthyroidism to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36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High-Yield Nursing Pearls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3301917" y="196845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76" y="2125609"/>
            <a:ext cx="384165" cy="384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7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Airway first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23A48"/>
                </a:solidFill>
                <a:latin typeface="Source Sans 3"/>
              </a:rPr>
              <a:t>Hematoma can obstruct within hours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34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633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6902277" y="196845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436" y="2125609"/>
            <a:ext cx="384165" cy="38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633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Calcium checks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6A24"/>
                </a:solidFill>
                <a:latin typeface="Source Sans 3"/>
              </a:rPr>
              <a:t>Catch hypoparathyroidism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70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69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8" name="Oval 17"/>
          <p:cNvSpPr/>
          <p:nvPr/>
        </p:nvSpPr>
        <p:spPr>
          <a:xfrm>
            <a:off x="10502637" y="196845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9795" y="2125609"/>
            <a:ext cx="384165" cy="3841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669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Levothyroxine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6E70"/>
                </a:solidFill>
                <a:latin typeface="Source Sans 3"/>
              </a:rPr>
              <a:t>Empty stomach · same time daily · never stop abruptly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37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Iodine — the First Line of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371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044648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244668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2971" y="3301917"/>
            <a:ext cx="3809904" cy="16273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SINGLE MOST EFFECTIVE MEASURE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Universal salt iodization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Use iodized salt in daily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7860" y="1663658"/>
            <a:ext cx="5841853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B8923E"/>
                </a:solidFill>
                <a:latin typeface="Source Sans 3"/>
              </a:rPr>
              <a:t>RECOMMENDED DAILY IODINE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860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355" y="2222444"/>
            <a:ext cx="2444688" cy="14348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1F4FA8"/>
                </a:solidFill>
                <a:latin typeface="Source Sans 3"/>
              </a:rPr>
              <a:t>ADULTS</a:t>
            </a:r>
          </a:p>
          <a:p>
            <a:pPr algn="ctr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</a:pPr>
            <a:r>
              <a:rPr sz="5000" b="1" i="0">
                <a:solidFill>
                  <a:srgbClr val="13254D"/>
                </a:solidFill>
                <a:latin typeface="Playfair Display"/>
              </a:rPr>
              <a:t>≈ 150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8B8D"/>
                </a:solidFill>
                <a:latin typeface="Source Sans 3"/>
              </a:rPr>
              <a:t>mcg /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034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4530" y="2222444"/>
            <a:ext cx="2444688" cy="1382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8A6A24"/>
                </a:solidFill>
                <a:latin typeface="Source Sans 3"/>
              </a:rPr>
              <a:t>PREGNANCY / LACTATION</a:t>
            </a:r>
          </a:p>
          <a:p>
            <a:pPr algn="ctr">
              <a:lnSpc>
                <a:spcPct val="118000"/>
              </a:lnSpc>
              <a:spcBef>
                <a:spcPts val="1100"/>
              </a:spcBef>
              <a:spcAft>
                <a:spcPts val="0"/>
              </a:spcAft>
            </a:pPr>
            <a:r>
              <a:rPr sz="4400" b="1" i="0">
                <a:solidFill>
                  <a:srgbClr val="13254D"/>
                </a:solidFill>
                <a:latin typeface="Playfair Display"/>
              </a:rPr>
              <a:t>220–250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A6A24"/>
                </a:solidFill>
                <a:latin typeface="Source Sans 3"/>
              </a:rPr>
              <a:t>mcg / 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7860" y="4305192"/>
            <a:ext cx="5841853" cy="1803354"/>
          </a:xfrm>
          <a:prstGeom prst="roundRect">
            <a:avLst>
              <a:gd name="adj" fmla="val 845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41853" y="4495687"/>
            <a:ext cx="1162274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1853" y="4528706"/>
            <a:ext cx="1162274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Seafood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0326" y="4495687"/>
            <a:ext cx="924536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0326" y="4528706"/>
            <a:ext cx="924536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Dairy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1061" y="4495687"/>
            <a:ext cx="805667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1061" y="4528706"/>
            <a:ext cx="805667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Eggs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2927" y="4495687"/>
            <a:ext cx="1756620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2927" y="4528706"/>
            <a:ext cx="1756620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Iodized salt</a:t>
            </a:r>
          </a:p>
        </p:txBody>
      </p:sp>
      <p:pic>
        <p:nvPicPr>
          <p:cNvPr id="24" name="Picture 23" descr="f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746" y="4444888"/>
            <a:ext cx="1142971" cy="57148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38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130775007290755"/>
                                    </p:val>
                                  </p:tav>
                                  <p:tav tm="100000">
                                    <p:val>
                                      <p:fltVal val="0.60011453776611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416373578302712"/>
                                    </p:val>
                                  </p:tav>
                                  <p:tav tm="100000">
                                    <p:val>
                                      <p:fltVal val="0.428674394867308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3785965296004664"/>
                                    </p:val>
                                  </p:tav>
                                  <p:tav tm="100000">
                                    <p:val>
                                      <p:fltVal val="0.42489668999708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22031204432779"/>
                                    </p:val>
                                  </p:tav>
                                  <p:tav tm="100000">
                                    <p:val>
                                      <p:fltVal val="0.75924015748031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12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Prevention — Beyond Iodine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334" y="1765255"/>
            <a:ext cx="1269968" cy="192400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65175" y="241928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2556446"/>
            <a:ext cx="335271" cy="335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556" y="1752556"/>
            <a:ext cx="3041573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Limit goitrogenic foods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Raw cassava, very large amounts of cruciferous vegetables — especially in iodine-deficient areas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94290" y="2419289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46" y="2556446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81670" y="1752556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Screen high-risk groups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Pregnant women · endemic regions · lithium/amiodarone users · family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radi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829" y="4082947"/>
            <a:ext cx="1079473" cy="1924001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2556" y="4070248"/>
            <a:ext cx="3232069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Avoid unnecessary neck radiation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 thyroid shielding when imaging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Early medical evaluation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Of any new neck swelling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39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6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0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4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8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2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6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0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4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8" dur="12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1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5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9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3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7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1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5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12  · 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382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27156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7460" y="1689057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World Health Organization (WHO).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assessment / Iodine deficiency disorders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(who.int)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298642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38754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7460" y="234944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American Thyroid Association (ATA).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Thyroid Nodules &amp; Differentiated Thyroid Cancer Guidelines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(thyroid.org)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295902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3047923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7460" y="3009824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Mathew P, Rawla P.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Hyperthyroidism; Goiter. StatPearls Publishing, NCBI Bookshelf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(ncbi.nlm.nih.gov/books)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61940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70830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7460" y="367020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Mayo Clinic.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— Symptoms and causes; Diagnosis and treatment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(mayoclinic.org)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279793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6869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460" y="433059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Medscape (eMedicine).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Goiter: Practice Essentials, Pathophysiology, Etiology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(emedicine.medscape.com)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494017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029074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460" y="4990975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NIDDK.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Hashimoto’s Disease &amp; Graves’ Disease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(niddk.nih.gov)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56005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568945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7460" y="565135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Hegedüs L, Bonnema SJ, Bennedbæk FN.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Management of simple nodular goiter: current status and future perspectives.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Endocrine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40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900" fill="hold"/>
                                  <p:tgtEl>
                                    <p:spTgt spid="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1" dur="900" fill="hold"/>
                                  <p:tgtEl>
                                    <p:spTgt spid="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5" dur="900" fill="hold"/>
                                  <p:tgtEl>
                                    <p:spTgt spid="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9443737241178186"/>
                                    </p:val>
                                  </p:tav>
                                  <p:tav tm="100000">
                                    <p:val>
                                      <p:fltVal val="0.28147440944881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970297462817148"/>
                                    </p:val>
                                  </p:tav>
                                  <p:tav tm="100000">
                                    <p:val>
                                      <p:fltVal val="0.2840667833187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944372265966754"/>
                                    </p:val>
                                  </p:tav>
                                  <p:tav tm="100000">
                                    <p:val>
                                      <p:fltVal val="0.28147426363371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9332370953630796"/>
                                    </p:val>
                                  </p:tav>
                                  <p:tav tm="100000">
                                    <p:val>
                                      <p:fltVal val="0.3803607465733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3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702515310586175"/>
                                    </p:val>
                                  </p:tav>
                                  <p:tav tm="100000">
                                    <p:val>
                                      <p:fltVal val="0.47406219014289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47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96175269757947"/>
                                    </p:val>
                                  </p:tav>
                                  <p:tav tm="100000">
                                    <p:val>
                                      <p:fltVal val="0.476654564012831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1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4870250072907553"/>
                                    </p:val>
                                  </p:tav>
                                  <p:tav tm="100000">
                                    <p:val>
                                      <p:fltVal val="0.47406204432779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5" dur="900" fill="hold"/>
                                  <p:tgtEl>
                                    <p:spTgt spid="1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59" dur="900" fill="hold"/>
                                  <p:tgtEl>
                                    <p:spTgt spid="1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59114902303879"/>
                                    </p:val>
                                  </p:tav>
                                  <p:tav tm="100000">
                                    <p:val>
                                      <p:fltVal val="0.5729485272674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3" dur="900" fill="hold"/>
                                  <p:tgtEl>
                                    <p:spTgt spid="17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67" dur="900" fill="hold"/>
                                  <p:tgtEl>
                                    <p:spTgt spid="18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96129337999417"/>
                                    </p:val>
                                  </p:tav>
                                  <p:tav tm="100000">
                                    <p:val>
                                      <p:fltVal val="0.66664997083697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1" dur="900" fill="hold"/>
                                  <p:tgtEl>
                                    <p:spTgt spid="1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822053076698746"/>
                                    </p:val>
                                  </p:tav>
                                  <p:tav tm="100000">
                                    <p:val>
                                      <p:fltVal val="0.66924234470691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5" dur="900" fill="hold"/>
                                  <p:tgtEl>
                                    <p:spTgt spid="2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96127879848353"/>
                                    </p:val>
                                  </p:tav>
                                  <p:tav tm="100000">
                                    <p:val>
                                      <p:fltVal val="0.66664982502187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9" dur="900" fill="hold"/>
                                  <p:tgtEl>
                                    <p:spTgt spid="2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3" dur="900" fill="hold"/>
                                  <p:tgtEl>
                                    <p:spTgt spid="2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84992709244678"/>
                                    </p:val>
                                  </p:tav>
                                  <p:tav tm="100000">
                                    <p:val>
                                      <p:fltVal val="0.76553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87" dur="900" fill="hold"/>
                                  <p:tgtEl>
                                    <p:spTgt spid="2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1" dur="900" fill="hold"/>
                                  <p:tgtEl>
                                    <p:spTgt spid="2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5" dur="900" fill="hold"/>
                                  <p:tgtEl>
                                    <p:spTgt spid="25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747930883639545"/>
                                    </p:val>
                                  </p:tav>
                                  <p:tav tm="100000">
                                    <p:val>
                                      <p:fltVal val="0.86183012540099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99" dur="900" fill="hold"/>
                                  <p:tgtEl>
                                    <p:spTgt spid="26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591" y="355591"/>
            <a:ext cx="11480512" cy="6146646"/>
          </a:xfrm>
          <a:prstGeom prst="rect">
            <a:avLst/>
          </a:prstGeom>
          <a:noFill/>
          <a:ln w="635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5815" y="1015974"/>
            <a:ext cx="4825879" cy="48258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56311" y="1206469"/>
            <a:ext cx="4444888" cy="4444888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3803" y="1523961"/>
            <a:ext cx="3809904" cy="3809904"/>
          </a:xfrm>
          <a:prstGeom prst="ellipse">
            <a:avLst/>
          </a:prstGeom>
          <a:noFill/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1806" y="3340016"/>
            <a:ext cx="177795" cy="177795"/>
          </a:xfrm>
          <a:prstGeom prst="ellipse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8555" y="2095447"/>
            <a:ext cx="114297" cy="114297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2285942"/>
            <a:ext cx="2666933" cy="25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9473" y="1587460"/>
            <a:ext cx="571485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450">
                <a:solidFill>
                  <a:srgbClr val="0F8B8D"/>
                </a:solidFill>
                <a:latin typeface="Source Sans 3"/>
              </a:rPr>
              <a:t>WITH GRATITUDE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1904952"/>
            <a:ext cx="6667333" cy="38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0" b="0" i="0">
                <a:solidFill>
                  <a:srgbClr val="13254D"/>
                </a:solidFill>
                <a:latin typeface="Source Sans 3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73" y="3936901"/>
            <a:ext cx="4444888" cy="126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79473" y="4292492"/>
            <a:ext cx="6095847" cy="480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1F4FA8"/>
                </a:solidFill>
                <a:latin typeface="Playfair Display"/>
              </a:rPr>
              <a:t>for listening — and for caring.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73" y="5321166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FFFFFF"/>
                </a:solidFill>
                <a:latin typeface="Source Sans 3"/>
              </a:rPr>
              <a:t>Questions are welcome</a:t>
            </a:r>
          </a:p>
        </p:txBody>
      </p:sp>
    </p:spTree>
  </p:cSld>
  <p:transition spd="med" dur="600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7" dur="1200" fill="hold"/>
                                  <p:tgtEl>
                                    <p:spTgt spid="4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0" dur="1200" fill="hold"/>
                                  <p:tgtEl>
                                    <p:spTgt spid="6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3" dur="1200" fill="hold"/>
                                  <p:tgtEl>
                                    <p:spTgt spid="7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6" dur="1200" fill="hold"/>
                                  <p:tgtEl>
                                    <p:spTgt spid="8"/>
                                  </p:tgtEl>
                                </p:cBhv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19" dur="900" fill="hold"/>
                                  <p:tgtEl>
                                    <p:spTgt spid="9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296165791776027"/>
                                    </p:val>
                                  </p:tav>
                                  <p:tav tm="100000">
                                    <p:val>
                                      <p:fltVal val="0.516653616214639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3" dur="900" fill="hold"/>
                                  <p:tgtEl>
                                    <p:spTgt spid="10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2631881014873141"/>
                                    </p:val>
                                  </p:tav>
                                  <p:tav tm="100000">
                                    <p:val>
                                      <p:fltVal val="0.250225138524351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27" dur="900" fill="hold"/>
                                  <p:tgtEl>
                                    <p:spTgt spid="11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2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722081510644502"/>
                                    </p:val>
                                  </p:tav>
                                  <p:tav tm="100000">
                                    <p:val>
                                      <p:fltVal val="0.55924518810148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1" dur="900" fill="hold"/>
                                  <p:tgtEl>
                                    <p:spTgt spid="12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5962815689705453"/>
                                    </p:val>
                                  </p:tav>
                                  <p:tav tm="100000">
                                    <p:val>
                                      <p:fltVal val="0.58331860600758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5" dur="900" fill="hold"/>
                                  <p:tgtEl>
                                    <p:spTgt spid="13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3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6738721930592009"/>
                                    </p:val>
                                  </p:tav>
                                  <p:tav tm="100000">
                                    <p:val>
                                      <p:fltVal val="0.6609092300962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>
                                  <p:cTn id="39" dur="900" fill="hold"/>
                                  <p:tgtEl>
                                    <p:spTgt spid="14"/>
                                  </p:tgtEl>
                                </p:cBhv>
                              </p:animEffect>
                              <p:anim calcmode="lin" valueType="num">
                                <p:cBhv>
                                  <p:cTn id="4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>
                                <p:tavLst>
                                  <p:tav tm="0">
                                    <p:val>
                                      <p:fltVal val="0.8099335812190143"/>
                                    </p:val>
                                  </p:tav>
                                  <p:tav tm="100000">
                                    <p:val>
                                      <p:fltVal val="0.79697061825605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Goiter — Complete Medical Presentation</dc:title>
  <dc:subject>Full academic deck built from Goiter_Medical_Presentation.pdf for nursing &amp; medical students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