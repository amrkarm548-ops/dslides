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31.png"/><Relationship Id="rId4" Type="http://schemas.openxmlformats.org/officeDocument/2006/relationships/image" Target="../media/image45.png"/><Relationship Id="rId5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1.png"/><Relationship Id="rId5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53.png"/><Relationship Id="rId4" Type="http://schemas.openxmlformats.org/officeDocument/2006/relationships/image" Target="../media/image12.png"/><Relationship Id="rId5" Type="http://schemas.openxmlformats.org/officeDocument/2006/relationships/image" Target="../media/image5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5.png"/><Relationship Id="rId4" Type="http://schemas.openxmlformats.org/officeDocument/2006/relationships/image" Target="../media/image55.png"/><Relationship Id="rId5" Type="http://schemas.openxmlformats.org/officeDocument/2006/relationships/image" Target="../media/image18.png"/><Relationship Id="rId6" Type="http://schemas.openxmlformats.org/officeDocument/2006/relationships/image" Target="../media/image5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41.png"/><Relationship Id="rId6" Type="http://schemas.openxmlformats.org/officeDocument/2006/relationships/image" Target="../media/image5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6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image" Target="../media/image63.png"/><Relationship Id="rId4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9.png"/><Relationship Id="rId4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41.png"/><Relationship Id="rId5" Type="http://schemas.openxmlformats.org/officeDocument/2006/relationships/image" Target="../media/image31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0.png"/><Relationship Id="rId4" Type="http://schemas.openxmlformats.org/officeDocument/2006/relationships/image" Target="../media/image68.png"/><Relationship Id="rId5" Type="http://schemas.openxmlformats.org/officeDocument/2006/relationships/image" Target="../media/image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41.png"/><Relationship Id="rId5" Type="http://schemas.openxmlformats.org/officeDocument/2006/relationships/image" Target="../media/image75.png"/><Relationship Id="rId6" Type="http://schemas.openxmlformats.org/officeDocument/2006/relationships/image" Target="../media/image11.png"/><Relationship Id="rId7" Type="http://schemas.openxmlformats.org/officeDocument/2006/relationships/image" Target="../media/image7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77.png"/><Relationship Id="rId4" Type="http://schemas.openxmlformats.org/officeDocument/2006/relationships/image" Target="../media/image45.png"/><Relationship Id="rId5" Type="http://schemas.openxmlformats.org/officeDocument/2006/relationships/image" Target="../media/image7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24.png"/><Relationship Id="rId6" Type="http://schemas.openxmlformats.org/officeDocument/2006/relationships/image" Target="../media/image83.png"/><Relationship Id="rId7" Type="http://schemas.openxmlformats.org/officeDocument/2006/relationships/image" Target="../media/image4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03834" y="0"/>
            <a:ext cx="5587860" cy="6857828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48323" y="952476"/>
            <a:ext cx="4698882" cy="46988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7828" y="761980"/>
            <a:ext cx="5067173" cy="5067173"/>
          </a:xfrm>
          <a:prstGeom prst="ellipse">
            <a:avLst/>
          </a:prstGeom>
          <a:noFill/>
          <a:ln w="12700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09" y="1587460"/>
            <a:ext cx="3555911" cy="335906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53993" y="253993"/>
            <a:ext cx="11683707" cy="6349841"/>
          </a:xfrm>
          <a:prstGeom prst="rect">
            <a:avLst/>
          </a:prstGeom>
          <a:noFill/>
          <a:ln w="9525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523961"/>
            <a:ext cx="5460863" cy="27304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spc="400">
                <a:solidFill>
                  <a:srgbClr val="0F8B8D"/>
                </a:solidFill>
                <a:latin typeface="Source Sans 3"/>
              </a:rPr>
              <a:t>MEDICAL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677" y="1841453"/>
            <a:ext cx="5587860" cy="172715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 i="0">
                <a:solidFill>
                  <a:srgbClr val="13254D"/>
                </a:solidFill>
                <a:latin typeface="Playfair Display"/>
              </a:rPr>
              <a:t>Goiter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952476" y="3682907"/>
            <a:ext cx="1269968" cy="2539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476" y="3911502"/>
            <a:ext cx="5460863" cy="4028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217" b="1" i="0">
                <a:solidFill>
                  <a:srgbClr val="1F4FA8"/>
                </a:solidFill>
                <a:latin typeface="Source Sans 3"/>
              </a:rPr>
              <a:t>Enlargement of the Thyroid Gland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476" y="4444888"/>
            <a:ext cx="1162020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476" y="4470288"/>
            <a:ext cx="1162020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Definition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0695" y="4444888"/>
            <a:ext cx="933426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90695" y="4470288"/>
            <a:ext cx="933426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Causes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319" y="4444888"/>
            <a:ext cx="1460463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319" y="4470288"/>
            <a:ext cx="1460463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Classification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2476" y="4838579"/>
            <a:ext cx="2254193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476" y="4863978"/>
            <a:ext cx="2254193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Clinical Manifestations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82867" y="4838579"/>
            <a:ext cx="1155671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82867" y="4863978"/>
            <a:ext cx="115567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Diagnosis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14737" y="4838579"/>
            <a:ext cx="1441413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4737" y="4863978"/>
            <a:ext cx="1441413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Management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2476" y="5232269"/>
            <a:ext cx="1263618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476" y="5257668"/>
            <a:ext cx="1263618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Prevention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476" y="5714857"/>
            <a:ext cx="5460863" cy="28891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 spc="50">
                <a:solidFill>
                  <a:srgbClr val="13254D"/>
                </a:solidFill>
                <a:latin typeface="Source Sans 3"/>
              </a:rPr>
              <a:t>Prepared for Nursing &amp; Medical Students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12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12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12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7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33989501312336"/>
                                    </p:val>
                                  </p:tav>
                                  <p:tav tm="100000">
                                    <p:val>
                                      <p:fltVal val="0.47637693205016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1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5508639545056866"/>
                                    </p:val>
                                  </p:tav>
                                  <p:tav tm="100000">
                                    <p:val>
                                      <p:fltVal val="0.24212343248760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73973461650627"/>
                                    </p:val>
                                  </p:tav>
                                  <p:tav tm="100000">
                                    <p:val>
                                      <p:fltVal val="0.39443438320209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518382181393993"/>
                                    </p:val>
                                  </p:tav>
                                  <p:tav tm="100000">
                                    <p:val>
                                      <p:fltVal val="0.53887525517643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2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2689705453485"/>
                                    </p:val>
                                  </p:tav>
                                  <p:tav tm="100000">
                                    <p:val>
                                      <p:fltVal val="0.5997267424905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3447069116"/>
                                    </p:val>
                                  </p:tav>
                                  <p:tav tm="100000">
                                    <p:val>
                                      <p:fltVal val="0.67127938174394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0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4176144648"/>
                                    </p:val>
                                  </p:tav>
                                  <p:tav tm="100000">
                                    <p:val>
                                      <p:fltVal val="0.67127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4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4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3447069116"/>
                                    </p:val>
                                  </p:tav>
                                  <p:tav tm="100000">
                                    <p:val>
                                      <p:fltVal val="0.67127938174394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4176144648"/>
                                    </p:val>
                                  </p:tav>
                                  <p:tav tm="100000">
                                    <p:val>
                                      <p:fltVal val="0.67127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2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3447069116"/>
                                    </p:val>
                                  </p:tav>
                                  <p:tav tm="100000">
                                    <p:val>
                                      <p:fltVal val="0.67127938174394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6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4176144648"/>
                                    </p:val>
                                  </p:tav>
                                  <p:tav tm="100000">
                                    <p:val>
                                      <p:fltVal val="0.67127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439778361"/>
                                    </p:val>
                                  </p:tav>
                                  <p:tav tm="100000">
                                    <p:val>
                                      <p:fltVal val="0.72868547681539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4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3668708078"/>
                                    </p:val>
                                  </p:tav>
                                  <p:tav tm="100000">
                                    <p:val>
                                      <p:fltVal val="0.72868540390784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8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439778361"/>
                                    </p:val>
                                  </p:tav>
                                  <p:tav tm="100000">
                                    <p:val>
                                      <p:fltVal val="0.72868547681539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2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3668708078"/>
                                    </p:val>
                                  </p:tav>
                                  <p:tav tm="100000">
                                    <p:val>
                                      <p:fltVal val="0.72868540390784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6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439778361"/>
                                    </p:val>
                                  </p:tav>
                                  <p:tav tm="100000">
                                    <p:val>
                                      <p:fltVal val="0.72868547681539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0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3668708078"/>
                                    </p:val>
                                  </p:tav>
                                  <p:tav tm="100000">
                                    <p:val>
                                      <p:fltVal val="0.72868540390784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4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90543890347039"/>
                                    </p:val>
                                  </p:tav>
                                  <p:tav tm="100000">
                                    <p:val>
                                      <p:fltVal val="0.7860914260717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8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90543161271507"/>
                                    </p:val>
                                  </p:tav>
                                  <p:tav tm="100000">
                                    <p:val>
                                      <p:fltVal val="0.78609135316418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0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2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3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673396762904637"/>
                                    </p:val>
                                  </p:tav>
                                  <p:tav tm="100000">
                                    <p:val>
                                      <p:fltVal val="0.8543767133275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854153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958" y="1790655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Introduction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1980" y="2793930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476" y="2984425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0958" y="2920926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Definition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3924201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476" y="4114697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0958" y="4051198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Risk Factors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5054473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5244968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0958" y="5181470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Causes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5839" y="1663658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6334" y="1854153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4817" y="1790655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Classification / Stages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5839" y="2793930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6334" y="2984425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817" y="2920926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Signs and Symptoms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25839" y="3924201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6334" y="4114697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4817" y="4051198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Complications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25839" y="5054473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6334" y="5244968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14817" y="5181470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Diagnosis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9697" y="1663658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80192" y="1854153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8675" y="1790655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Medical Management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89697" y="2793930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0192" y="2984425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7CF96"/>
                </a:solidFill>
                <a:latin typeface="Playfair Display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8675" y="2920926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Nursing Management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89697" y="3924201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0192" y="4114697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8675" y="4051198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Prevention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89697" y="5054473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80192" y="5244968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78675" y="5181470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References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55476086322543"/>
                                    </p:val>
                                  </p:tav>
                                  <p:tav tm="100000">
                                    <p:val>
                                      <p:fltVal val="0.31258464566929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8579760863"/>
                                    </p:val>
                                  </p:tav>
                                  <p:tav tm="100000">
                                    <p:val>
                                      <p:fltVal val="0.476839895013123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03583406240887"/>
                                    </p:val>
                                  </p:tav>
                                  <p:tav tm="100000">
                                    <p:val>
                                      <p:fltVal val="0.4773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71216097987"/>
                                    </p:val>
                                  </p:tav>
                                  <p:tav tm="100000">
                                    <p:val>
                                      <p:fltVal val="0.476839749198016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5169072615923"/>
                                    </p:val>
                                  </p:tav>
                                  <p:tav tm="100000">
                                    <p:val>
                                      <p:fltVal val="0.64220610965296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9796587926509"/>
                                    </p:val>
                                  </p:tav>
                                  <p:tav tm="100000">
                                    <p:val>
                                      <p:fltVal val="0.80701669582968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55476086322543"/>
                                    </p:val>
                                  </p:tav>
                                  <p:tav tm="100000">
                                    <p:val>
                                      <p:fltVal val="0.31258464566929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8579760863"/>
                                    </p:val>
                                  </p:tav>
                                  <p:tav tm="100000">
                                    <p:val>
                                      <p:fltVal val="0.476839895013123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03583406240887"/>
                                    </p:val>
                                  </p:tav>
                                  <p:tav tm="100000">
                                    <p:val>
                                      <p:fltVal val="0.4773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71216097987"/>
                                    </p:val>
                                  </p:tav>
                                  <p:tav tm="100000">
                                    <p:val>
                                      <p:fltVal val="0.476839749198016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5169072615923"/>
                                    </p:val>
                                  </p:tav>
                                  <p:tav tm="100000">
                                    <p:val>
                                      <p:fltVal val="0.64220610965296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9796587926509"/>
                                    </p:val>
                                  </p:tav>
                                  <p:tav tm="100000">
                                    <p:val>
                                      <p:fltVal val="0.80701669582968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9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0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55476086322543"/>
                                    </p:val>
                                  </p:tav>
                                  <p:tav tm="100000">
                                    <p:val>
                                      <p:fltVal val="0.31258464566929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3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4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8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8579760863"/>
                                    </p:val>
                                  </p:tav>
                                  <p:tav tm="100000">
                                    <p:val>
                                      <p:fltVal val="0.476839895013123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9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2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03583406240887"/>
                                    </p:val>
                                  </p:tav>
                                  <p:tav tm="100000">
                                    <p:val>
                                      <p:fltVal val="0.4773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5" dur="9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6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71216097987"/>
                                    </p:val>
                                  </p:tav>
                                  <p:tav tm="100000">
                                    <p:val>
                                      <p:fltVal val="0.476839749198016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9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0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3" dur="900" fill="hold"/>
                                  <p:tgtEl>
                                    <p:spTgt spid="3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4" dur="900" fill="hold"/>
                                  <p:tgtEl>
                                    <p:spTgt spid="3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5169072615923"/>
                                    </p:val>
                                  </p:tav>
                                  <p:tav tm="100000">
                                    <p:val>
                                      <p:fltVal val="0.64220610965296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7" dur="900" fill="hold"/>
                                  <p:tgtEl>
                                    <p:spTgt spid="3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8" dur="900" fill="hold"/>
                                  <p:tgtEl>
                                    <p:spTgt spid="3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900" fill="hold"/>
                                  <p:tgtEl>
                                    <p:spTgt spid="3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2" dur="900" fill="hold"/>
                                  <p:tgtEl>
                                    <p:spTgt spid="3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3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5" dur="900" fill="hold"/>
                                  <p:tgtEl>
                                    <p:spTgt spid="4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6" dur="900" fill="hold"/>
                                  <p:tgtEl>
                                    <p:spTgt spid="4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9796587926509"/>
                                    </p:val>
                                  </p:tav>
                                  <p:tav tm="100000">
                                    <p:val>
                                      <p:fltVal val="0.80701669582968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9" dur="900" fill="hold"/>
                                  <p:tgtEl>
                                    <p:spTgt spid="4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0" dur="900" fill="hold"/>
                                  <p:tgtEl>
                                    <p:spTgt spid="4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01  · 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The Thyroid Gland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4444888" cy="4444888"/>
          </a:xfrm>
          <a:prstGeom prst="roundRect">
            <a:avLst>
              <a:gd name="adj" fmla="val 4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4063898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4190895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Butterfly-shaped thyroid gland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24361" y="1663658"/>
            <a:ext cx="5905352" cy="1352516"/>
          </a:xfrm>
          <a:prstGeom prst="roundRect">
            <a:avLst>
              <a:gd name="adj" fmla="val 1032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27556" y="203194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713" y="2169105"/>
            <a:ext cx="335271" cy="33527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14937" y="1752556"/>
            <a:ext cx="4724281" cy="11747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LOCATION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Anterior neck — just below the larynx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Wraps around the trachea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4361" y="3206669"/>
            <a:ext cx="5905352" cy="1352516"/>
          </a:xfrm>
          <a:prstGeom prst="roundRect">
            <a:avLst>
              <a:gd name="adj" fmla="val 1032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27556" y="3574960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4713" y="3712117"/>
            <a:ext cx="335271" cy="3352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14937" y="3295567"/>
            <a:ext cx="4724281" cy="11747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HORMONES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T4 (thyroxine) &amp; T3 (triiodothyronine)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Regulate metabolism, growth &amp; development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24361" y="4749681"/>
            <a:ext cx="5905352" cy="1352516"/>
          </a:xfrm>
          <a:prstGeom prst="roundRect">
            <a:avLst>
              <a:gd name="adj" fmla="val 1032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7556" y="5117972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4713" y="5255128"/>
            <a:ext cx="335271" cy="3352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14937" y="4838579"/>
            <a:ext cx="4724281" cy="11747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ALSO SECRETES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Calcitonin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Contributes to calcium homeostasis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415806357538643"/>
                                    </p:val>
                                  </p:tav>
                                  <p:tav tm="100000">
                                    <p:val>
                                      <p:fltVal val="0.3411951006124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369510061242343"/>
                                    </p:val>
                                  </p:tav>
                                  <p:tav tm="100000">
                                    <p:val>
                                      <p:fltVal val="0.34073213764946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36950277048702"/>
                                    </p:val>
                                  </p:tav>
                                  <p:tav tm="100000">
                                    <p:val>
                                      <p:fltVal val="0.34073206474190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415806357538643"/>
                                    </p:val>
                                  </p:tav>
                                  <p:tav tm="100000">
                                    <p:val>
                                      <p:fltVal val="0.3411951006124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152376786235"/>
                                    </p:val>
                                  </p:tav>
                                  <p:tav tm="100000">
                                    <p:val>
                                      <p:fltVal val="0.566189413823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86894138232721"/>
                                    </p:val>
                                  </p:tav>
                                  <p:tav tm="100000">
                                    <p:val>
                                      <p:fltVal val="0.56572645086030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86894867308253"/>
                                    </p:val>
                                  </p:tav>
                                  <p:tav tm="100000">
                                    <p:val>
                                      <p:fltVal val="0.56572652376786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152376786235"/>
                                    </p:val>
                                  </p:tav>
                                  <p:tav tm="100000">
                                    <p:val>
                                      <p:fltVal val="0.566189413823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41468358121902"/>
                                    </p:val>
                                  </p:tav>
                                  <p:tav tm="100000">
                                    <p:val>
                                      <p:fltVal val="0.7911838728492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8728492272"/>
                                    </p:val>
                                  </p:tav>
                                  <p:tav tm="100000">
                                    <p:val>
                                      <p:fltVal val="0.7907209098862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7999416739"/>
                                    </p:val>
                                  </p:tav>
                                  <p:tav tm="100000">
                                    <p:val>
                                      <p:fltVal val="0.7907208369787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41468358121902"/>
                                    </p:val>
                                  </p:tav>
                                  <p:tav tm="100000">
                                    <p:val>
                                      <p:fltVal val="0.7911838728492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01  · 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A Global Health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952476"/>
          </a:xfrm>
          <a:prstGeom prst="roundRect">
            <a:avLst>
              <a:gd name="adj" fmla="val 1466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841453"/>
            <a:ext cx="596885" cy="596885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273" y="1975753"/>
            <a:ext cx="328286" cy="3282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One of the oldest documented human diseases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500" b="0" i="0">
                <a:solidFill>
                  <a:srgbClr val="1F4FA8"/>
                </a:solidFill>
                <a:latin typeface="Source Sans 3"/>
              </a:rPr>
              <a:t>Still a major global health problem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7875" y="3124121"/>
            <a:ext cx="2139896" cy="156333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Playfair Display"/>
              </a:rPr>
              <a:t>1.5–2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BILLION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ource Sans 3"/>
              </a:rPr>
              <a:t>People at risk of iodine deficiency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0663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6558" y="3124121"/>
            <a:ext cx="2139896" cy="156333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13254D"/>
                </a:solidFill>
                <a:latin typeface="Playfair Display"/>
              </a:rPr>
              <a:t>~200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MILLION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People living with a goiter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9346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5240" y="3124121"/>
            <a:ext cx="2139896" cy="156333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13254D"/>
                </a:solidFill>
                <a:latin typeface="Playfair Display"/>
              </a:rPr>
              <a:t>4–10×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MORE COMMON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In women than in men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58028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3923" y="3124121"/>
            <a:ext cx="2139896" cy="156333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13254D"/>
                </a:solidFill>
                <a:latin typeface="Playfair Display"/>
              </a:rPr>
              <a:t>↑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WITH AGE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Prevalence rises as age increases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05307669876"/>
                                    </p:val>
                                  </p:tav>
                                  <p:tav tm="100000">
                                    <p:val>
                                      <p:fltVal val="0.31202909011373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2485564304462"/>
                                    </p:val>
                                  </p:tav>
                                  <p:tav tm="100000">
                                    <p:val>
                                      <p:fltVal val="0.5695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2485564304462"/>
                                    </p:val>
                                  </p:tav>
                                  <p:tav tm="100000">
                                    <p:val>
                                      <p:fltVal val="0.5695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2485564304462"/>
                                    </p:val>
                                  </p:tav>
                                  <p:tav tm="100000">
                                    <p:val>
                                      <p:fltVal val="0.5695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2485564304462"/>
                                    </p:val>
                                  </p:tav>
                                  <p:tav tm="100000">
                                    <p:val>
                                      <p:fltVal val="0.5695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01  · 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Why It Matters Clinically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1079473"/>
          </a:xfrm>
          <a:prstGeom prst="roundRect">
            <a:avLst>
              <a:gd name="adj" fmla="val 14117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904952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2042108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82547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KEY POINT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Most goiters are benign &amp; asymptomatic — but not all are harmless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3251118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3408277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140096"/>
            <a:ext cx="2063698" cy="89913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Compression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Can press on the airway &amp; esophagus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3363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01957" y="3251118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9116" y="3408277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01957" y="4140096"/>
            <a:ext cx="2063698" cy="89913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Dysfunction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May reflect hypo- or hyperthyroidism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4745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13339" y="3251118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98" y="3408277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13339" y="4140096"/>
            <a:ext cx="2063698" cy="12288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Hidden malignancy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In a small % of nodular goiters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96127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24721" y="3251118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1880" y="3408277"/>
            <a:ext cx="384165" cy="38416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24721" y="4140096"/>
            <a:ext cx="2063698" cy="14563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The nurse’s role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Early detection · perioperative care · patient education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517701953922424"/>
                                    </p:val>
                                  </p:tav>
                                  <p:tav tm="100000">
                                    <p:val>
                                      <p:fltVal val="0.32221405657626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5176946631671"/>
                                    </p:val>
                                  </p:tav>
                                  <p:tav tm="100000">
                                    <p:val>
                                      <p:fltVal val="0.322213983668708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22053805774279"/>
                                    </p:val>
                                  </p:tav>
                                  <p:tav tm="100000">
                                    <p:val>
                                      <p:fltVal val="0.66924241761446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22053805774279"/>
                                    </p:val>
                                  </p:tav>
                                  <p:tav tm="100000">
                                    <p:val>
                                      <p:fltVal val="0.66924241761446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62418343540391"/>
                                    </p:val>
                                  </p:tav>
                                  <p:tav tm="100000">
                                    <p:val>
                                      <p:fltVal val="0.693278871391076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28339895013123"/>
                                    </p:val>
                                  </p:tav>
                                  <p:tav tm="100000">
                                    <p:val>
                                      <p:fltVal val="0.709871026538349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02  · 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What Is a Goiter?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936901" cy="4444888"/>
          </a:xfrm>
          <a:prstGeom prst="roundRect">
            <a:avLst>
              <a:gd name="adj" fmla="val 451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eck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555911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682907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Enlarged thyroid in the neck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16374" y="1663658"/>
            <a:ext cx="6413339" cy="1460463"/>
          </a:xfrm>
          <a:prstGeom prst="roundRect">
            <a:avLst>
              <a:gd name="adj" fmla="val 10434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70368" y="1816054"/>
            <a:ext cx="5905352" cy="98320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LATIN · </a:t>
            </a:r>
            <a:r>
              <a:rPr sz="1200" b="1" i="0" spc="200">
                <a:solidFill>
                  <a:srgbClr val="E7CF96"/>
                </a:solidFill>
                <a:latin typeface="Source Sans 3"/>
              </a:rPr>
              <a:t>GUTTUR</a:t>
            </a:r>
            <a:r>
              <a:rPr sz="1200" b="1" i="0" spc="200">
                <a:solidFill>
                  <a:srgbClr val="E7CF96"/>
                </a:solidFill>
                <a:latin typeface="Source Sans 3"/>
              </a:rPr>
              <a:t> = “THROAT”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Enlargement of the thyroid gland — regardless of cause or function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6374" y="3314617"/>
            <a:ext cx="6413339" cy="32384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WHEN IS THE THYROID ENLARGED?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16374" y="3632109"/>
            <a:ext cx="6413339" cy="1162020"/>
          </a:xfrm>
          <a:prstGeom prst="roundRect">
            <a:avLst>
              <a:gd name="adj" fmla="val 1202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19569" y="3905152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726" y="4042308"/>
            <a:ext cx="335271" cy="3352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06949" y="3721006"/>
            <a:ext cx="5232269" cy="984225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ON EXAMINATION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Each lobe &gt; terminal phalanx of the patient’s thumb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16374" y="4946526"/>
            <a:ext cx="6413339" cy="1162020"/>
          </a:xfrm>
          <a:prstGeom prst="roundRect">
            <a:avLst>
              <a:gd name="adj" fmla="val 1202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19569" y="521956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726" y="5356726"/>
            <a:ext cx="335271" cy="3352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06949" y="5035424"/>
            <a:ext cx="5232269" cy="984225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ON ULTRASOUND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Total volume &gt; ~18 mL (women) · &gt; 25 mL (men)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20282152230971"/>
                                    </p:val>
                                  </p:tav>
                                  <p:tav tm="100000">
                                    <p:val>
                                      <p:fltVal val="0.349065252260134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45443277923594"/>
                                    </p:val>
                                  </p:tav>
                                  <p:tav tm="100000">
                                    <p:val>
                                      <p:fltVal val="0.336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98946485855934"/>
                                    </p:val>
                                  </p:tav>
                                  <p:tav tm="100000">
                                    <p:val>
                                      <p:fltVal val="0.50693168562263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72993584135317"/>
                                    </p:val>
                                  </p:tav>
                                  <p:tav tm="100000">
                                    <p:val>
                                      <p:fltVal val="0.61433639545056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68363954505687"/>
                                    </p:val>
                                  </p:tav>
                                  <p:tav tm="100000">
                                    <p:val>
                                      <p:fltVal val="0.61387343248760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68363225430155"/>
                                    </p:val>
                                  </p:tav>
                                  <p:tav tm="100000">
                                    <p:val>
                                      <p:fltVal val="0.61387335958005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72992855059785"/>
                                    </p:val>
                                  </p:tav>
                                  <p:tav tm="100000">
                                    <p:val>
                                      <p:fltVal val="0.61433632254301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89612131816856"/>
                                    </p:val>
                                  </p:tav>
                                  <p:tav tm="100000">
                                    <p:val>
                                      <p:fltVal val="0.80599825021872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84982502187227"/>
                                    </p:val>
                                  </p:tav>
                                  <p:tav tm="100000">
                                    <p:val>
                                      <p:fltVal val="0.80553528725575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84983231262759"/>
                                    </p:val>
                                  </p:tav>
                                  <p:tav tm="100000">
                                    <p:val>
                                      <p:fltVal val="0.805535360163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89612860892388"/>
                                    </p:val>
                                  </p:tav>
                                  <p:tav tm="100000">
                                    <p:val>
                                      <p:fltVal val="0.80599832312627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02  · 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Descriptive Terms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77" y="1765255"/>
            <a:ext cx="1460463" cy="19240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27236" y="1752556"/>
            <a:ext cx="3282867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BY SHAPE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Diffuse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Uniform, symmetrical enlargement of the whole gland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095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ultinodular-goi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491" y="1765255"/>
            <a:ext cx="1460463" cy="19240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6351" y="1752556"/>
            <a:ext cx="3282867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BY SHAPE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Nodular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One (uninodular) or multiple (multinodular) palpable nodules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5175" y="4736981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332" y="4874138"/>
            <a:ext cx="335271" cy="3352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52556" y="4070248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BY FUNCTION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Simple (non-toxic)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No hyper- or hypothyroidism · no inflammation or neoplasia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94290" y="4736981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446" y="4874138"/>
            <a:ext cx="335271" cy="3352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81670" y="4070248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B23A48"/>
                </a:solidFill>
                <a:latin typeface="Source Sans 3"/>
              </a:rPr>
              <a:t>BY FUNCTION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Toxic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Excess hormone production — e.g., Graves’, toxic MNG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12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02  · 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Descriptive Terms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261613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773293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3505112"/>
            <a:ext cx="2971725" cy="118665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54D"/>
                </a:solidFill>
                <a:latin typeface="Playfair Display"/>
              </a:rPr>
              <a:t>Endemic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Affects &gt; 10% of a population — usually regional iodine deficiency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9984" y="2616134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143" y="277329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9984" y="3505112"/>
            <a:ext cx="2971725" cy="118665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54D"/>
                </a:solidFill>
                <a:latin typeface="Playfair Display"/>
              </a:rPr>
              <a:t>Sporadic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Individual cases — genetic, dietary, drug-related or autoimmune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394" y="2616134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552" y="277329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394" y="3505112"/>
            <a:ext cx="2971725" cy="118665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54D"/>
                </a:solidFill>
                <a:latin typeface="Playfair Display"/>
              </a:rPr>
              <a:t>Retrosternal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(Substernal) — extends below the sternum into the superior mediastinum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05775736366288"/>
                                    </p:val>
                                  </p:tav>
                                  <p:tav tm="100000">
                                    <p:val>
                                      <p:fltVal val="0.59761461067366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05775736366288"/>
                                    </p:val>
                                  </p:tav>
                                  <p:tav tm="100000">
                                    <p:val>
                                      <p:fltVal val="0.59761461067366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05775736366288"/>
                                    </p:val>
                                  </p:tav>
                                  <p:tav tm="100000">
                                    <p:val>
                                      <p:fltVal val="0.59761461067366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03  ·  RISK FACTORS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Who Is at Risk?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-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839" y="1765255"/>
            <a:ext cx="1460463" cy="19240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0575" y="1752556"/>
            <a:ext cx="3613059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#1 WORLDWIDE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Iodine deficiency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Leading risk factor worldwide — mountainous &amp; inland regions far from the sea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095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f-fem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5944" y="1765255"/>
            <a:ext cx="1079473" cy="19240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19689" y="1752556"/>
            <a:ext cx="3994050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Female gender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Women affected 4–10× more often than 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f-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3826" y="4082947"/>
            <a:ext cx="952476" cy="19240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90575" y="4070248"/>
            <a:ext cx="4121046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Age over 40 years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Prevalence increases with 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f-fami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448" y="4082947"/>
            <a:ext cx="1269968" cy="192400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19689" y="4070248"/>
            <a:ext cx="3803554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Family history / genetics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Inherited defects of hormone synthesis (dyshormonogenesis)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12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12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2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6" dur="12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03  ·  RISK FACTORS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Who Is at Risk?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-pregna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620" y="1765255"/>
            <a:ext cx="888977" cy="19240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0575" y="1752556"/>
            <a:ext cx="2374840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Hormonal changes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Puberty, pregnancy &amp; menopause ↑ hormone demand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1390" y="1663658"/>
            <a:ext cx="3428914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f-radi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531" y="1765255"/>
            <a:ext cx="952476" cy="19240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09984" y="1752556"/>
            <a:ext cx="2311342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Radiation exposure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Prior head/neck irradiation or nuclear fallout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0799" y="1663658"/>
            <a:ext cx="3428914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f-dru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5944" y="1765255"/>
            <a:ext cx="1079473" cy="19240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394" y="1752556"/>
            <a:ext cx="2184345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Medications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Lithium · amiodarone · immunosuppressants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f-foo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6334" y="4082947"/>
            <a:ext cx="1269968" cy="192400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90575" y="4070248"/>
            <a:ext cx="3803554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Dietary goitrogens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Excess cassava, cabbage, broccoli, soy — worse with iodine deficiency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f-smok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8452" y="4082947"/>
            <a:ext cx="1396965" cy="192400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19689" y="4070248"/>
            <a:ext cx="3676558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Smoking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Thiocyanate in smoke interferes with iodine uptake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12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12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2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6" dur="12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12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8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1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04  · 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How Iodine Deficiency Builds a Goiter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1079473"/>
          </a:xfrm>
          <a:prstGeom prst="roundRect">
            <a:avLst>
              <a:gd name="adj" fmla="val 14117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904952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2042108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82547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MOST COMMON CAUSE WORLDWIDE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Playfair Display"/>
              </a:rPr>
              <a:t>Iodine deficiency → endemic goiter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50958" y="3809904"/>
            <a:ext cx="8889777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1980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19209" y="3301917"/>
            <a:ext cx="761980" cy="761980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655" y="3473363"/>
            <a:ext cx="419089" cy="41908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52476" y="4317892"/>
            <a:ext cx="2095447" cy="115973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01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Iodine deficiency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2412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49641" y="3301917"/>
            <a:ext cx="761980" cy="761980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1086" y="3473363"/>
            <a:ext cx="419089" cy="41908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82907" y="4317892"/>
            <a:ext cx="2095447" cy="115973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02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↓ Hormone synthesis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2844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0072" y="3301917"/>
            <a:ext cx="761980" cy="761980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518" y="3473363"/>
            <a:ext cx="419089" cy="41908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13339" y="4317892"/>
            <a:ext cx="2095447" cy="85087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03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↑ TSH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3276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10504" y="3301917"/>
            <a:ext cx="761980" cy="761980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1950" y="3473363"/>
            <a:ext cx="419089" cy="41908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43771" y="4317892"/>
            <a:ext cx="2095447" cy="115973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04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Glandular hyperplasia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517701953922424"/>
                                    </p:val>
                                  </p:tav>
                                  <p:tav tm="100000">
                                    <p:val>
                                      <p:fltVal val="0.32221405657626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5176946631671"/>
                                    </p:val>
                                  </p:tav>
                                  <p:tav tm="100000">
                                    <p:val>
                                      <p:fltVal val="0.322213983668708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12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71302857976086"/>
                                    </p:val>
                                  </p:tav>
                                  <p:tav tm="100000">
                                    <p:val>
                                      <p:fltVal val="0.71416732283464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71302857976086"/>
                                    </p:val>
                                  </p:tav>
                                  <p:tav tm="100000">
                                    <p:val>
                                      <p:fltVal val="0.71416732283464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46122776319627"/>
                                    </p:val>
                                  </p:tav>
                                  <p:tav tm="100000">
                                    <p:val>
                                      <p:fltVal val="0.69164931466899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4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8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2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6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8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71302857976086"/>
                                    </p:val>
                                  </p:tav>
                                  <p:tav tm="100000">
                                    <p:val>
                                      <p:fltVal val="0.71416732283464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04  · 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Other Causes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4749681"/>
          </a:xfrm>
          <a:prstGeom prst="roundRect">
            <a:avLst>
              <a:gd name="adj" fmla="val 347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76278" y="1777955"/>
          <a:ext cx="10439138" cy="4521085"/>
        </p:xfrm>
        <a:graphic>
          <a:graphicData uri="http://schemas.openxmlformats.org/drawingml/2006/table">
            <a:tbl>
              <a:tblPr firstRow="0" bandRow="0"/>
              <a:tblGrid>
                <a:gridCol w="2984425"/>
                <a:gridCol w="7454713"/>
              </a:tblGrid>
              <a:tr h="584185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CAUSE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MECHANISM / NOTES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Hashimoto's thyroiditis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Autoimmune destruction ·</a:t>
                      </a:r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most common cause in iodine-sufficient regions</a:t>
                      </a:r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· leads to hypothyroidism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Graves' disease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TSH-receptor stimulating antibodies → diffuse toxic goiter with hyperthyroidism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Multinodular goiter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Multiple adenomatous nodules · may become autonomously functioning (toxic)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Solitary thyroid nodule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Adenoma, cyst or carcinoma —</a:t>
                      </a:r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≈ 5% of palpable nodules are malignant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Thyroiditis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Subacute (De Quervain), postpartum or silent — often painful or transient dysfunction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18369058034412"/>
                                    </p:val>
                                  </p:tav>
                                  <p:tav tm="100000">
                                    <p:val>
                                      <p:fltVal val="0.58887394284047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04  · 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Other Causes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46226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76278" y="1777955"/>
          <a:ext cx="10439138" cy="4394089"/>
        </p:xfrm>
        <a:graphic>
          <a:graphicData uri="http://schemas.openxmlformats.org/drawingml/2006/table">
            <a:tbl>
              <a:tblPr firstRow="0" bandRow="0"/>
              <a:tblGrid>
                <a:gridCol w="2984425"/>
                <a:gridCol w="7454713"/>
              </a:tblGrid>
              <a:tr h="584185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CAUSE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MECHANISM / NOTES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Thyroid cancer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Papillary (most common) · follicular · medullary · anaplastic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Drugs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Lithium · amiodarone (iodine-rich) · interferon-alpha · tyrosine kinase inhibitors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Pregnancy / HCG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HCG weakly stimulates TSH receptors → mild physiological enlargement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Iodine excess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Paradoxically</a:t>
                      </a:r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, chronic excess iodine can also induce goiter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25779381743949"/>
                                    </p:val>
                                  </p:tav>
                                  <p:tav tm="100000">
                                    <p:val>
                                      <p:fltVal val="0.57961497521143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05  ·  CLASSIFICATION /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WHO Clinical Grading of Goiter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4241693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76278" y="1777955"/>
          <a:ext cx="10439137" cy="4013098"/>
        </p:xfrm>
        <a:graphic>
          <a:graphicData uri="http://schemas.openxmlformats.org/drawingml/2006/table">
            <a:tbl>
              <a:tblPr firstRow="0" bandRow="0"/>
              <a:tblGrid>
                <a:gridCol w="1650958"/>
                <a:gridCol w="1587460"/>
                <a:gridCol w="1587460"/>
                <a:gridCol w="5613259"/>
              </a:tblGrid>
              <a:tr h="584185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GRADE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PALPABLE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VISIBLE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FINDING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</a:tr>
              <a:tr h="1142971">
                <a:tc>
                  <a:txBody>
                    <a:bodyPr wrap="square"/>
                    <a:lstStyle/>
                    <a:p>
                      <a:pPr algn="l"/>
                      <a:r>
                        <a:rPr sz="2900" b="1">
                          <a:solidFill>
                            <a:srgbClr val="0B6E70"/>
                          </a:solidFill>
                          <a:latin typeface="Playfair Display"/>
                        </a:rPr>
                        <a:t>0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9AA6BA"/>
                          </a:solidFill>
                          <a:latin typeface="Source Sans 3"/>
                        </a:rPr>
                        <a:t>✕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9AA6BA"/>
                          </a:solidFill>
                          <a:latin typeface="Source Sans 3"/>
                        </a:rPr>
                        <a:t>✕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No palpable or visible goiter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1142971">
                <a:tc>
                  <a:txBody>
                    <a:bodyPr wrap="square"/>
                    <a:lstStyle/>
                    <a:p>
                      <a:pPr algn="l"/>
                      <a:r>
                        <a:rPr sz="2900" b="1">
                          <a:solidFill>
                            <a:srgbClr val="1F4FA8"/>
                          </a:solidFill>
                          <a:latin typeface="Playfair Display"/>
                        </a:rPr>
                        <a:t>1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0F8B8D"/>
                          </a:solidFill>
                          <a:latin typeface="Source Sans 3"/>
                        </a:rPr>
                        <a:t>✓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9AA6BA"/>
                          </a:solidFill>
                          <a:latin typeface="Source Sans 3"/>
                        </a:rPr>
                        <a:t>✕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Palpable — not visible with neck in normal position</a:t>
                      </a:r>
                    </a:p>
                    <a:p>
                      <a:pPr algn="l"/>
                      <a:r>
                        <a:rPr sz="1200" b="1">
                          <a:solidFill>
                            <a:srgbClr val="1F4FA8"/>
                          </a:solidFill>
                          <a:latin typeface="Source Sans 3"/>
                        </a:rPr>
                        <a:t>1a · palpable only</a:t>
                      </a:r>
                      <a:r>
                        <a:rPr sz="1200" b="1">
                          <a:solidFill>
                            <a:srgbClr val="8A6A24"/>
                          </a:solidFill>
                          <a:latin typeface="Source Sans 3"/>
                        </a:rPr>
                        <a:t>1b · visible with neck extended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1142971">
                <a:tc>
                  <a:txBody>
                    <a:bodyPr wrap="square"/>
                    <a:lstStyle/>
                    <a:p>
                      <a:pPr algn="l"/>
                      <a:r>
                        <a:rPr sz="2900" b="1">
                          <a:solidFill>
                            <a:srgbClr val="E7CF96"/>
                          </a:solidFill>
                          <a:latin typeface="Playfair Display"/>
                        </a:rPr>
                        <a:t>2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0F8B8D"/>
                          </a:solidFill>
                          <a:latin typeface="Source Sans 3"/>
                        </a:rPr>
                        <a:t>✓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0F8B8D"/>
                          </a:solidFill>
                          <a:latin typeface="Source Sans 3"/>
                        </a:rPr>
                        <a:t>✓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Clearly visible with neck in normal position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48008165645961"/>
                                    </p:val>
                                  </p:tav>
                                  <p:tav tm="100000">
                                    <p:val>
                                      <p:fltVal val="0.55183785360163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05  ·  CLASSIFICATION /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Classification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2412939" cy="1371565"/>
          </a:xfrm>
          <a:prstGeom prst="roundRect">
            <a:avLst>
              <a:gd name="adj" fmla="val 10185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790655"/>
            <a:ext cx="2095447" cy="11175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E7CF96"/>
                </a:solidFill>
                <a:latin typeface="Source Sans 3"/>
              </a:rPr>
              <a:t>BY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Morphology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5415" y="1663658"/>
            <a:ext cx="8064298" cy="1371565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19409" y="1790655"/>
            <a:ext cx="1155671" cy="38099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9409" y="1821134"/>
            <a:ext cx="1155671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4FA8"/>
                </a:solidFill>
                <a:latin typeface="Source Sans 3"/>
              </a:rPr>
              <a:t>Diffuse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51278" y="1790655"/>
            <a:ext cx="1600159" cy="38099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51278" y="1821134"/>
            <a:ext cx="1600159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4FA8"/>
                </a:solidFill>
                <a:latin typeface="Source Sans 3"/>
              </a:rPr>
              <a:t>Uninodular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27636" y="1790655"/>
            <a:ext cx="1803354" cy="38099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7636" y="1821134"/>
            <a:ext cx="1803354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4FA8"/>
                </a:solidFill>
                <a:latin typeface="Source Sans 3"/>
              </a:rPr>
              <a:t>Multinodular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200319"/>
            <a:ext cx="2412939" cy="1371565"/>
          </a:xfrm>
          <a:prstGeom prst="roundRect">
            <a:avLst>
              <a:gd name="adj" fmla="val 10185"/>
            </a:avLst>
          </a:prstGeom>
          <a:solidFill>
            <a:srgbClr val="0B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3327316"/>
            <a:ext cx="2095447" cy="11175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E7CF96"/>
                </a:solidFill>
                <a:latin typeface="Source Sans 3"/>
              </a:rPr>
              <a:t>BY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Function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5415" y="3200319"/>
            <a:ext cx="8064298" cy="1371565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19409" y="3327316"/>
            <a:ext cx="2806629" cy="380990"/>
          </a:xfrm>
          <a:prstGeom prst="roundRect">
            <a:avLst>
              <a:gd name="adj" fmla="val 50000"/>
            </a:avLst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9409" y="3357796"/>
            <a:ext cx="2806629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Non-toxic (euthyroid)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02237" y="3327316"/>
            <a:ext cx="2691935" cy="380990"/>
          </a:xfrm>
          <a:prstGeom prst="roundRect">
            <a:avLst>
              <a:gd name="adj" fmla="val 50000"/>
            </a:avLst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02237" y="3357796"/>
            <a:ext cx="2691935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Toxic (hyperthyroid)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9409" y="3784505"/>
            <a:ext cx="4025799" cy="380990"/>
          </a:xfrm>
          <a:prstGeom prst="roundRect">
            <a:avLst>
              <a:gd name="adj" fmla="val 50000"/>
            </a:avLst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9409" y="3814984"/>
            <a:ext cx="4025799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Hypothyroid (e.g., Hashimoto’s)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1980" y="4736981"/>
            <a:ext cx="2412939" cy="1371565"/>
          </a:xfrm>
          <a:prstGeom prst="roundRect">
            <a:avLst>
              <a:gd name="adj" fmla="val 10185"/>
            </a:avLst>
          </a:prstGeom>
          <a:solidFill>
            <a:srgbClr val="8A6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2476" y="4863978"/>
            <a:ext cx="2095447" cy="11175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F7E7C2"/>
                </a:solidFill>
                <a:latin typeface="Source Sans 3"/>
              </a:rPr>
              <a:t>BY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Epidemiology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65415" y="4736981"/>
            <a:ext cx="8064298" cy="1371565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19409" y="4863978"/>
            <a:ext cx="6756231" cy="380990"/>
          </a:xfrm>
          <a:prstGeom prst="roundRect">
            <a:avLst>
              <a:gd name="adj" fmla="val 50000"/>
            </a:avLst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9409" y="4894457"/>
            <a:ext cx="6756231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Endemic — &gt; 10% of population (iodine-deficient areas)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9409" y="5321166"/>
            <a:ext cx="3676558" cy="380990"/>
          </a:xfrm>
          <a:prstGeom prst="roundRect">
            <a:avLst>
              <a:gd name="adj" fmla="val 50000"/>
            </a:avLst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9409" y="5351646"/>
            <a:ext cx="3676558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Sporadic — individual causes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87955672204"/>
                                    </p:val>
                                  </p:tav>
                                  <p:tav tm="100000">
                                    <p:val>
                                      <p:fltVal val="0.3425839165937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9524642753"/>
                                    </p:val>
                                  </p:tav>
                                  <p:tav tm="100000">
                                    <p:val>
                                      <p:fltVal val="0.342583989501312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87955672204"/>
                                    </p:val>
                                  </p:tav>
                                  <p:tav tm="100000">
                                    <p:val>
                                      <p:fltVal val="0.3425839165937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5610965296"/>
                                    </p:val>
                                  </p:tav>
                                  <p:tav tm="100000">
                                    <p:val>
                                      <p:fltVal val="0.2888815981335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48818897636"/>
                                    </p:val>
                                  </p:tav>
                                  <p:tav tm="100000">
                                    <p:val>
                                      <p:fltVal val="0.2888815252260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5610965296"/>
                                    </p:val>
                                  </p:tav>
                                  <p:tav tm="100000">
                                    <p:val>
                                      <p:fltVal val="0.2888815981335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48818897636"/>
                                    </p:val>
                                  </p:tav>
                                  <p:tav tm="100000">
                                    <p:val>
                                      <p:fltVal val="0.2888815252260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5610965296"/>
                                    </p:val>
                                  </p:tav>
                                  <p:tav tm="100000">
                                    <p:val>
                                      <p:fltVal val="0.2888815981335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48818897636"/>
                                    </p:val>
                                  </p:tav>
                                  <p:tav tm="100000">
                                    <p:val>
                                      <p:fltVal val="0.2888815252260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2668416448"/>
                                    </p:val>
                                  </p:tav>
                                  <p:tav tm="100000">
                                    <p:val>
                                      <p:fltVal val="0.56665230387868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2668416448"/>
                                    </p:val>
                                  </p:tav>
                                  <p:tav tm="100000">
                                    <p:val>
                                      <p:fltVal val="0.56665230387868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59129483814523"/>
                                    </p:val>
                                  </p:tav>
                                  <p:tav tm="100000">
                                    <p:val>
                                      <p:fltVal val="0.51294998541848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59130212890055"/>
                                    </p:val>
                                  </p:tav>
                                  <p:tav tm="100000">
                                    <p:val>
                                      <p:fltVal val="0.51295005832604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59129483814523"/>
                                    </p:val>
                                  </p:tav>
                                  <p:tav tm="100000">
                                    <p:val>
                                      <p:fltVal val="0.51294998541848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59130212890055"/>
                                    </p:val>
                                  </p:tav>
                                  <p:tav tm="100000">
                                    <p:val>
                                      <p:fltVal val="0.51295005832604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25780110819481"/>
                                    </p:val>
                                  </p:tav>
                                  <p:tav tm="100000">
                                    <p:val>
                                      <p:fltVal val="0.57961504811898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25779381743949"/>
                                    </p:val>
                                  </p:tav>
                                  <p:tav tm="100000">
                                    <p:val>
                                      <p:fltVal val="0.57961497521143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7999416739"/>
                                    </p:val>
                                  </p:tav>
                                  <p:tav tm="100000">
                                    <p:val>
                                      <p:fltVal val="0.7907208369787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8728492272"/>
                                    </p:val>
                                  </p:tav>
                                  <p:tav tm="100000">
                                    <p:val>
                                      <p:fltVal val="0.7907209098862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7999416739"/>
                                    </p:val>
                                  </p:tav>
                                  <p:tav tm="100000">
                                    <p:val>
                                      <p:fltVal val="0.7907208369787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99814814814815"/>
                                    </p:val>
                                  </p:tav>
                                  <p:tav tm="100000">
                                    <p:val>
                                      <p:fltVal val="0.737018518518518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99814085739283"/>
                                    </p:val>
                                  </p:tav>
                                  <p:tav tm="100000">
                                    <p:val>
                                      <p:fltVal val="0.7370184456109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66463983668708"/>
                                    </p:val>
                                  </p:tav>
                                  <p:tav tm="100000">
                                    <p:val>
                                      <p:fltVal val="0.8036834354039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6646471274424"/>
                                    </p:val>
                                  </p:tav>
                                  <p:tav tm="100000">
                                    <p:val>
                                      <p:fltVal val="0.80368350831146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Local (Mass) 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936901" cy="4444888"/>
          </a:xfrm>
          <a:prstGeom prst="roundRect">
            <a:avLst>
              <a:gd name="adj" fmla="val 451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eck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555911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682907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Anterior neck swelling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16374" y="1663658"/>
            <a:ext cx="6413339" cy="1587460"/>
          </a:xfrm>
          <a:prstGeom prst="roundRect">
            <a:avLst>
              <a:gd name="adj" fmla="val 9600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70368" y="1841453"/>
            <a:ext cx="5905352" cy="127327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LOCAL (MASS) EFFECT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Playfair Display"/>
              </a:rPr>
              <a:t>Visible or palpable anterior neck swelling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 i="0">
                <a:solidFill>
                  <a:srgbClr val="E7CF96"/>
                </a:solidFill>
                <a:latin typeface="Source Sans 3"/>
              </a:rPr>
              <a:t>Symmetrical or nodular · </a:t>
            </a:r>
            <a:r>
              <a:rPr sz="1500" b="0" i="0">
                <a:solidFill>
                  <a:srgbClr val="E7CF96"/>
                </a:solidFill>
                <a:latin typeface="Source Sans 3"/>
              </a:rPr>
              <a:t>moves upward on swallowing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16374" y="3441613"/>
            <a:ext cx="6413339" cy="12572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9569" y="3765455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726" y="3902612"/>
            <a:ext cx="335271" cy="3352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06949" y="3530511"/>
            <a:ext cx="5232269" cy="1079473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Dysphagia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Esophageal compression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16374" y="4851278"/>
            <a:ext cx="6413339" cy="12572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19569" y="5175120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726" y="5312277"/>
            <a:ext cx="335271" cy="3352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06949" y="4940176"/>
            <a:ext cx="5232269" cy="1079473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Dyspnea / stridor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Tracheal compression or deviation — worse when lying flat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12872557596967"/>
                                    </p:val>
                                  </p:tav>
                                  <p:tav tm="100000">
                                    <p:val>
                                      <p:fltVal val="0.35832429279673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43056284631088"/>
                                    </p:val>
                                  </p:tav>
                                  <p:tav tm="100000">
                                    <p:val>
                                      <p:fltVal val="0.36134266550014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4625255176"/>
                                    </p:val>
                                  </p:tav>
                                  <p:tav tm="100000">
                                    <p:val>
                                      <p:fltVal val="0.59350349956255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4625255176"/>
                                    </p:val>
                                  </p:tav>
                                  <p:tav tm="100000">
                                    <p:val>
                                      <p:fltVal val="0.59350349956255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20169145523476"/>
                                    </p:val>
                                  </p:tav>
                                  <p:tav tm="100000">
                                    <p:val>
                                      <p:fltVal val="0.79905395158938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20169145523476"/>
                                    </p:val>
                                  </p:tav>
                                  <p:tav tm="100000">
                                    <p:val>
                                      <p:fltVal val="0.79905395158938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20169874599008"/>
                                    </p:val>
                                  </p:tav>
                                  <p:tav tm="100000">
                                    <p:val>
                                      <p:fltVal val="0.79905402449693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20169874599008"/>
                                    </p:val>
                                  </p:tav>
                                  <p:tav tm="100000">
                                    <p:val>
                                      <p:fltVal val="0.79905402449693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Local Effects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1777955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5175" y="2247843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332" y="2385000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52556" y="1752556"/>
            <a:ext cx="4057548" cy="160015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Hoarseness of voice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Recurrent laryngeal nerve compression — a red flag for malignancy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1663658"/>
            <a:ext cx="5238619" cy="1777955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4290" y="2247843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446" y="2385000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81670" y="1752556"/>
            <a:ext cx="4057548" cy="160015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Persistent cough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With a sensation of throat tightness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1980" y="3632109"/>
            <a:ext cx="10667733" cy="2476438"/>
          </a:xfrm>
          <a:prstGeom prst="roundRect">
            <a:avLst>
              <a:gd name="adj" fmla="val 6153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9473" y="4063898"/>
            <a:ext cx="825479" cy="825479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5205" y="4249631"/>
            <a:ext cx="454013" cy="45401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158946" y="3809904"/>
            <a:ext cx="9016774" cy="209544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F4FA8"/>
                </a:solidFill>
                <a:latin typeface="Source Sans 3"/>
              </a:rPr>
              <a:t>PEMBERTON'S SIGN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Arms raised overhead → facial flushing, congestion &amp; venous engorgement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 i="0">
                <a:solidFill>
                  <a:srgbClr val="B23A48"/>
                </a:solidFill>
                <a:latin typeface="Source Sans 3"/>
              </a:rPr>
              <a:t>Thoracic inlet obstruction by a retrosternal goiter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0720326627"/>
                                    </p:val>
                                  </p:tav>
                                  <p:tav tm="100000">
                                    <p:val>
                                      <p:fltVal val="0.372212744240303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0720326627"/>
                                    </p:val>
                                  </p:tav>
                                  <p:tav tm="100000">
                                    <p:val>
                                      <p:fltVal val="0.372212744240303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31303587051618"/>
                                    </p:val>
                                  </p:tav>
                                  <p:tav tm="100000">
                                    <p:val>
                                      <p:fltVal val="0.71016739574219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57243365412656"/>
                                    </p:val>
                                  </p:tav>
                                  <p:tav tm="100000">
                                    <p:val>
                                      <p:fltVal val="0.65276137357830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57243365412656"/>
                                    </p:val>
                                  </p:tav>
                                  <p:tav tm="100000">
                                    <p:val>
                                      <p:fltVal val="0.65276137357830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12784339457567"/>
                                    </p:val>
                                  </p:tav>
                                  <p:tav tm="100000">
                                    <p:val>
                                      <p:fltVal val="0.708315470982793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If Thyroid Dysfunction Coexists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1142971"/>
          </a:xfrm>
          <a:prstGeom prst="roundRect">
            <a:avLst>
              <a:gd name="adj" fmla="val 13333"/>
            </a:avLst>
          </a:prstGeom>
          <a:solidFill>
            <a:srgbClr val="0B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1885902"/>
            <a:ext cx="698482" cy="698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043061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79553" y="1790655"/>
            <a:ext cx="3936901" cy="88897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Playfair Display"/>
              </a:rPr>
              <a:t>Hypothyroidism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F7E7C2"/>
                </a:solidFill>
                <a:latin typeface="Source Sans 3"/>
              </a:rPr>
              <a:t>e.g., Hashimoto’s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933626"/>
            <a:ext cx="5238619" cy="3174920"/>
          </a:xfrm>
          <a:prstGeom prst="roundRect">
            <a:avLst>
              <a:gd name="adj" fmla="val 4800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0575" y="3174920"/>
            <a:ext cx="1206271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575" y="3205399"/>
            <a:ext cx="1206271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Fatigue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73044" y="3174920"/>
            <a:ext cx="1720707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73044" y="3205399"/>
            <a:ext cx="1720707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Weight gain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0575" y="3632109"/>
            <a:ext cx="2209744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0575" y="3662588"/>
            <a:ext cx="2209744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Cold intolerance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18" y="3632109"/>
            <a:ext cx="1784305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76518" y="3662588"/>
            <a:ext cx="1784305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Constipation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0575" y="4089297"/>
            <a:ext cx="1720806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575" y="4119777"/>
            <a:ext cx="1720806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Bradycardia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7580" y="4089297"/>
            <a:ext cx="1276318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87580" y="4119777"/>
            <a:ext cx="1276318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Dry skin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40096" y="4089297"/>
            <a:ext cx="1625559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40096" y="4119777"/>
            <a:ext cx="1625559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Depression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0575" y="4546486"/>
            <a:ext cx="3073323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575" y="4576965"/>
            <a:ext cx="3073323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Menstrual irregularities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1095" y="1663658"/>
            <a:ext cx="5238619" cy="1142971"/>
          </a:xfrm>
          <a:prstGeom prst="roundRect">
            <a:avLst>
              <a:gd name="adj" fmla="val 13333"/>
            </a:avLst>
          </a:prstGeom>
          <a:solidFill>
            <a:srgbClr val="8A6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19689" y="1885902"/>
            <a:ext cx="698482" cy="698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848" y="2043061"/>
            <a:ext cx="384165" cy="38416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308667" y="1790655"/>
            <a:ext cx="3936901" cy="88897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Playfair Display"/>
              </a:rPr>
              <a:t>Hyperthyroidism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F7E7C2"/>
                </a:solidFill>
                <a:latin typeface="Source Sans 3"/>
              </a:rPr>
              <a:t>e.g., Graves’, toxic MNG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1095" y="2933626"/>
            <a:ext cx="5238619" cy="3174920"/>
          </a:xfrm>
          <a:prstGeom prst="roundRect">
            <a:avLst>
              <a:gd name="adj" fmla="val 4800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19689" y="3174920"/>
            <a:ext cx="1669909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689" y="3205399"/>
            <a:ext cx="1669909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Weight loss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65796" y="3174920"/>
            <a:ext cx="2254193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65796" y="3205399"/>
            <a:ext cx="2254193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Heat intolerance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19689" y="3632109"/>
            <a:ext cx="1708008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689" y="3662588"/>
            <a:ext cx="1708008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Palpitations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03895" y="3632109"/>
            <a:ext cx="1161624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03895" y="3662588"/>
            <a:ext cx="1161624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Tremor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41717" y="3632109"/>
            <a:ext cx="1403314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41717" y="3662588"/>
            <a:ext cx="1403314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Sweating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19689" y="4089297"/>
            <a:ext cx="1206469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689" y="4119777"/>
            <a:ext cx="1206469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Anxiety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02357" y="4089297"/>
            <a:ext cx="1377915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02357" y="4119777"/>
            <a:ext cx="1377915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Insomnia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56471" y="4089297"/>
            <a:ext cx="1339816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56471" y="4119777"/>
            <a:ext cx="1339816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Diarrhea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19689" y="4546486"/>
            <a:ext cx="3092372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19689" y="4576965"/>
            <a:ext cx="3092372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Exophthalmos (Graves’)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5774278215"/>
                                    </p:val>
                                  </p:tav>
                                  <p:tav tm="100000">
                                    <p:val>
                                      <p:fltVal val="0.32591761446485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36863517060368"/>
                                    </p:val>
                                  </p:tav>
                                  <p:tav tm="100000">
                                    <p:val>
                                      <p:fltVal val="0.690723388743073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36862787984836"/>
                                    </p:val>
                                  </p:tav>
                                  <p:tav tm="100000">
                                    <p:val>
                                      <p:fltVal val="0.6907233158355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5774278215"/>
                                    </p:val>
                                  </p:tav>
                                  <p:tav tm="100000">
                                    <p:val>
                                      <p:fltVal val="0.32591761446485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9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0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3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4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8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9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2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5" dur="9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6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9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0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3" dur="900" fill="hold"/>
                                  <p:tgtEl>
                                    <p:spTgt spid="3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4" dur="900" fill="hold"/>
                                  <p:tgtEl>
                                    <p:spTgt spid="3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7" dur="900" fill="hold"/>
                                  <p:tgtEl>
                                    <p:spTgt spid="3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8" dur="900" fill="hold"/>
                                  <p:tgtEl>
                                    <p:spTgt spid="3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900" fill="hold"/>
                                  <p:tgtEl>
                                    <p:spTgt spid="3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2" dur="900" fill="hold"/>
                                  <p:tgtEl>
                                    <p:spTgt spid="3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5" dur="900" fill="hold"/>
                                  <p:tgtEl>
                                    <p:spTgt spid="4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6" dur="900" fill="hold"/>
                                  <p:tgtEl>
                                    <p:spTgt spid="4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9" dur="900" fill="hold"/>
                                  <p:tgtEl>
                                    <p:spTgt spid="4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0" dur="900" fill="hold"/>
                                  <p:tgtEl>
                                    <p:spTgt spid="4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3" dur="900" fill="hold"/>
                                  <p:tgtEl>
                                    <p:spTgt spid="4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4" dur="900" fill="hold"/>
                                  <p:tgtEl>
                                    <p:spTgt spid="4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7" dur="900" fill="hold"/>
                                  <p:tgtEl>
                                    <p:spTgt spid="4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8" dur="900" fill="hold"/>
                                  <p:tgtEl>
                                    <p:spTgt spid="4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900" fill="hold"/>
                                  <p:tgtEl>
                                    <p:spTgt spid="4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72" dur="900" fill="hold"/>
                                  <p:tgtEl>
                                    <p:spTgt spid="4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5" dur="900" fill="hold"/>
                                  <p:tgtEl>
                                    <p:spTgt spid="4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76" dur="900" fill="hold"/>
                                  <p:tgtEl>
                                    <p:spTgt spid="4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9" dur="900" fill="hold"/>
                                  <p:tgtEl>
                                    <p:spTgt spid="4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80" dur="900" fill="hold"/>
                                  <p:tgtEl>
                                    <p:spTgt spid="4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3" dur="900" fill="hold"/>
                                  <p:tgtEl>
                                    <p:spTgt spid="4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84" dur="900" fill="hold"/>
                                  <p:tgtEl>
                                    <p:spTgt spid="4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7" dur="900" fill="hold"/>
                                  <p:tgtEl>
                                    <p:spTgt spid="4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88" dur="900" fill="hold"/>
                                  <p:tgtEl>
                                    <p:spTgt spid="4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36863517060368"/>
                                    </p:val>
                                  </p:tav>
                                  <p:tav tm="100000">
                                    <p:val>
                                      <p:fltVal val="0.690723388743073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900" fill="hold"/>
                                  <p:tgtEl>
                                    <p:spTgt spid="4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92" dur="900" fill="hold"/>
                                  <p:tgtEl>
                                    <p:spTgt spid="4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36862787984836"/>
                                    </p:val>
                                  </p:tav>
                                  <p:tav tm="100000">
                                    <p:val>
                                      <p:fltVal val="0.6907233158355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⚠ Red Flags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5175" y="2006549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332" y="2143706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52556" y="1752556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Rapid growth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84585" y="2006549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741" y="2143706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71965" y="1752556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Firm / fixed hard mass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03994" y="2006549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1151" y="2143706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91375" y="1752556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Hoarseness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3155871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5175" y="3498762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332" y="3635919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52556" y="3244768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Cervical lymphadenopathy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1390" y="3155871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84585" y="3498762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1741" y="3635919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71965" y="3244768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Age &lt; 20 or &gt; 60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0799" y="3155871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3994" y="3498762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1151" y="3635919"/>
            <a:ext cx="335271" cy="33527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91375" y="3244768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Prior neck irradiation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1980" y="4648083"/>
            <a:ext cx="10667733" cy="1460463"/>
          </a:xfrm>
          <a:prstGeom prst="roundRect">
            <a:avLst>
              <a:gd name="adj" fmla="val 10434"/>
            </a:avLst>
          </a:prstGeom>
          <a:solidFill>
            <a:srgbClr val="7E1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9473" y="4990975"/>
            <a:ext cx="761980" cy="7619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0918" y="5162420"/>
            <a:ext cx="419089" cy="41908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095447" y="4775080"/>
            <a:ext cx="9143771" cy="120646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F6D9DD"/>
                </a:solidFill>
                <a:latin typeface="Source Sans 3"/>
              </a:rPr>
              <a:t>ACTION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Playfair Display"/>
              </a:rPr>
              <a:t>Suspect malignancy — refer promptly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3969087197"/>
                                    </p:val>
                                  </p:tav>
                                  <p:tav tm="100000">
                                    <p:val>
                                      <p:fltVal val="0.33702843394575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46981627294"/>
                                    </p:val>
                                  </p:tav>
                                  <p:tav tm="100000">
                                    <p:val>
                                      <p:fltVal val="0.337028506853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3969087197"/>
                                    </p:val>
                                  </p:tav>
                                  <p:tav tm="100000">
                                    <p:val>
                                      <p:fltVal val="0.33702843394575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46981627294"/>
                                    </p:val>
                                  </p:tav>
                                  <p:tav tm="100000">
                                    <p:val>
                                      <p:fltVal val="0.337028506853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3969087197"/>
                                    </p:val>
                                  </p:tav>
                                  <p:tav tm="100000">
                                    <p:val>
                                      <p:fltVal val="0.33702843394575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46981627294"/>
                                    </p:val>
                                  </p:tav>
                                  <p:tav tm="100000">
                                    <p:val>
                                      <p:fltVal val="0.337028506853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63021289"/>
                                    </p:val>
                                  </p:tav>
                                  <p:tav tm="100000">
                                    <p:val>
                                      <p:fltVal val="0.5550786672499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5943423739"/>
                                    </p:val>
                                  </p:tav>
                                  <p:tav tm="100000">
                                    <p:val>
                                      <p:fltVal val="0.5546156313794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6672499271"/>
                                    </p:val>
                                  </p:tav>
                                  <p:tav tm="100000">
                                    <p:val>
                                      <p:fltVal val="0.5546157042869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4843977836"/>
                                    </p:val>
                                  </p:tav>
                                  <p:tav tm="100000">
                                    <p:val>
                                      <p:fltVal val="0.5550785214348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63021289"/>
                                    </p:val>
                                  </p:tav>
                                  <p:tav tm="100000">
                                    <p:val>
                                      <p:fltVal val="0.5550786672499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5943423739"/>
                                    </p:val>
                                  </p:tav>
                                  <p:tav tm="100000">
                                    <p:val>
                                      <p:fltVal val="0.5546156313794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6672499271"/>
                                    </p:val>
                                  </p:tav>
                                  <p:tav tm="100000">
                                    <p:val>
                                      <p:fltVal val="0.5546157042869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4843977836"/>
                                    </p:val>
                                  </p:tav>
                                  <p:tav tm="100000">
                                    <p:val>
                                      <p:fltVal val="0.5550785214348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63021289"/>
                                    </p:val>
                                  </p:tav>
                                  <p:tav tm="100000">
                                    <p:val>
                                      <p:fltVal val="0.5550786672499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5943423739"/>
                                    </p:val>
                                  </p:tav>
                                  <p:tav tm="100000">
                                    <p:val>
                                      <p:fltVal val="0.5546156313794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6672499271"/>
                                    </p:val>
                                  </p:tav>
                                  <p:tav tm="100000">
                                    <p:val>
                                      <p:fltVal val="0.5546157042869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4843977836"/>
                                    </p:val>
                                  </p:tav>
                                  <p:tav tm="100000">
                                    <p:val>
                                      <p:fltVal val="0.5550785214348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7202464275299"/>
                                    </p:val>
                                  </p:tav>
                                  <p:tav tm="100000">
                                    <p:val>
                                      <p:fltVal val="0.7842395013123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7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9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0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62766112569262"/>
                                    </p:val>
                                  </p:tav>
                                  <p:tav tm="100000">
                                    <p:val>
                                      <p:fltVal val="0.78331364829396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1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3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4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6276538349373"/>
                                    </p:val>
                                  </p:tav>
                                  <p:tav tm="100000">
                                    <p:val>
                                      <p:fltVal val="0.78331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8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7202464275299"/>
                                    </p:val>
                                  </p:tav>
                                  <p:tav tm="100000">
                                    <p:val>
                                      <p:fltVal val="0.7842395013123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07  ·  COMPLICATIONS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Complications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555911" cy="4444888"/>
          </a:xfrm>
          <a:prstGeom prst="roundRect">
            <a:avLst>
              <a:gd name="adj" fmla="val 4642"/>
            </a:avLst>
          </a:prstGeom>
          <a:solidFill>
            <a:srgbClr val="7E1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9473" y="2044648"/>
            <a:ext cx="825479" cy="8254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205" y="2230381"/>
            <a:ext cx="454013" cy="45401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9473" y="3174920"/>
            <a:ext cx="2984425" cy="20771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F6D9DD"/>
                </a:solidFill>
                <a:latin typeface="Source Sans 3"/>
              </a:rPr>
              <a:t>MOST SERIOUS ACUTE COMPLICATION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Playfair Display"/>
              </a:rPr>
              <a:t>Airway obstruction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500" b="0" i="0">
                <a:solidFill>
                  <a:srgbClr val="F6D9DD"/>
                </a:solidFill>
                <a:latin typeface="Source Sans 3"/>
              </a:rPr>
              <a:t>Tracheal compression — an emergency if severe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5384" y="1663658"/>
            <a:ext cx="6794330" cy="1377915"/>
          </a:xfrm>
          <a:prstGeom prst="roundRect">
            <a:avLst>
              <a:gd name="adj" fmla="val 1013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38579" y="2044648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5735" y="2181805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25959" y="1752556"/>
            <a:ext cx="5613259" cy="120011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Esophageal compression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→ Progressive dysphagia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5384" y="3193970"/>
            <a:ext cx="6794330" cy="1377915"/>
          </a:xfrm>
          <a:prstGeom prst="roundRect">
            <a:avLst>
              <a:gd name="adj" fmla="val 1013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38579" y="3574960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5735" y="3712117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25959" y="3282867"/>
            <a:ext cx="5613259" cy="120011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Superior vena cava syndrome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With large retrosternal goiters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35384" y="4724281"/>
            <a:ext cx="6794330" cy="1377915"/>
          </a:xfrm>
          <a:prstGeom prst="roundRect">
            <a:avLst>
              <a:gd name="adj" fmla="val 1013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38579" y="5105272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5735" y="5242428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25959" y="4813179"/>
            <a:ext cx="5613259" cy="120011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Recurrent laryngeal nerve palsy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→ Hoarseness / vocal cord paralysis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128718285214346"/>
                                    </p:val>
                                  </p:tav>
                                  <p:tav tm="100000">
                                    <p:val>
                                      <p:fltVal val="0.35832421988918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128718285214346"/>
                                    </p:val>
                                  </p:tav>
                                  <p:tav tm="100000">
                                    <p:val>
                                      <p:fltVal val="0.35832421988918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73549139690872"/>
                                    </p:val>
                                  </p:tav>
                                  <p:tav tm="100000">
                                    <p:val>
                                      <p:fltVal val="0.61439195100612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600984251968504"/>
                                    </p:val>
                                  </p:tav>
                                  <p:tav tm="100000">
                                    <p:val>
                                      <p:fltVal val="0.3430468795567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8066491688"/>
                                    </p:val>
                                  </p:tav>
                                  <p:tav tm="100000">
                                    <p:val>
                                      <p:fltVal val="0.342583843686205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87955672204"/>
                                    </p:val>
                                  </p:tav>
                                  <p:tav tm="100000">
                                    <p:val>
                                      <p:fltVal val="0.3425839165937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600984251968504"/>
                                    </p:val>
                                  </p:tav>
                                  <p:tav tm="100000">
                                    <p:val>
                                      <p:fltVal val="0.3430468795567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1524496937883"/>
                                    </p:val>
                                  </p:tav>
                                  <p:tav tm="100000">
                                    <p:val>
                                      <p:fltVal val="0.5661894867308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86894138232721"/>
                                    </p:val>
                                  </p:tav>
                                  <p:tav tm="100000">
                                    <p:val>
                                      <p:fltVal val="0.56572645086030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86894867308253"/>
                                    </p:val>
                                  </p:tav>
                                  <p:tav tm="100000">
                                    <p:val>
                                      <p:fltVal val="0.56572652376786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1523038786818"/>
                                    </p:val>
                                  </p:tav>
                                  <p:tav tm="100000">
                                    <p:val>
                                      <p:fltVal val="0.56618934091571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2294911052785"/>
                                    </p:val>
                                  </p:tav>
                                  <p:tav tm="100000">
                                    <p:val>
                                      <p:fltVal val="0.7893319480898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18320209973753"/>
                                    </p:val>
                                  </p:tav>
                                  <p:tav tm="100000">
                                    <p:val>
                                      <p:fltVal val="0.788869058034412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1831948089822"/>
                                    </p:val>
                                  </p:tav>
                                  <p:tav tm="100000">
                                    <p:val>
                                      <p:fltVal val="0.7888689851268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2294911052785"/>
                                    </p:val>
                                  </p:tav>
                                  <p:tav tm="100000">
                                    <p:val>
                                      <p:fltVal val="0.7893319480898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07  ·  COMPLICATIONS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Complications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261613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773293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3505112"/>
            <a:ext cx="2063698" cy="135429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Thyrotoxicosis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Autonomous nodules secrete hormone (secondary hyperthyroidism)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3363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701957" y="261613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9116" y="277329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1957" y="3505112"/>
            <a:ext cx="2063698" cy="112671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Hypothyroidism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End-stage autoimmune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4745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13339" y="2616134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498" y="277329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13339" y="3505112"/>
            <a:ext cx="2063698" cy="14563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Malignant transformation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A small proportion of nodular goiters harbor carcinoma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6127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24721" y="2616134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880" y="2773293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124721" y="3505112"/>
            <a:ext cx="2063698" cy="12288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Cosmetic &amp; psychosocial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Anxiety · body-image disturbance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27995042286381"/>
                                    </p:val>
                                  </p:tav>
                                  <p:tav tm="100000">
                                    <p:val>
                                      <p:fltVal val="0.60983654126567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2072761738116"/>
                                    </p:val>
                                  </p:tav>
                                  <p:tav tm="100000">
                                    <p:val>
                                      <p:fltVal val="0.59324431321084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02437299504229"/>
                                    </p:val>
                                  </p:tav>
                                  <p:tav tm="100000">
                                    <p:val>
                                      <p:fltVal val="0.61728076698745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36515748031496"/>
                                    </p:val>
                                  </p:tav>
                                  <p:tav tm="100000">
                                    <p:val>
                                      <p:fltVal val="0.60068861184018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07  ·  COMPLICATIONS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Complications After Surgery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952476"/>
          </a:xfrm>
          <a:prstGeom prst="roundRect">
            <a:avLst>
              <a:gd name="adj" fmla="val 16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835104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1972260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F4FA8"/>
                </a:solidFill>
                <a:latin typeface="Source Sans 3"/>
              </a:rPr>
              <a:t>AFTER THYROIDECTOMY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Post-surgical complications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3187620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3344778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076598"/>
            <a:ext cx="2063698" cy="11988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Hemorrhage / hematoma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With airway compromise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3363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01957" y="3187620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9116" y="3344778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01957" y="4076598"/>
            <a:ext cx="2063698" cy="11988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Hypocalcemia / tetany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From hypoparathyroidism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4745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13339" y="3187620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98" y="3344778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13339" y="4076598"/>
            <a:ext cx="2063698" cy="128596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Recurrent laryngeal nerve injury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Voice change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96127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24721" y="3187620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4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1880" y="3344778"/>
            <a:ext cx="384165" cy="38416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24721" y="4076598"/>
            <a:ext cx="2063698" cy="88415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Hypothyroidism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Requiring lifelong replacement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05307669876"/>
                                    </p:val>
                                  </p:tav>
                                  <p:tav tm="100000">
                                    <p:val>
                                      <p:fltVal val="0.31202909011373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47977544473607"/>
                                    </p:val>
                                  </p:tav>
                                  <p:tav tm="100000">
                                    <p:val>
                                      <p:fltVal val="0.68183479148439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47977544473607"/>
                                    </p:val>
                                  </p:tav>
                                  <p:tav tm="100000">
                                    <p:val>
                                      <p:fltVal val="0.68183479148439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11493875765529"/>
                                    </p:val>
                                  </p:tav>
                                  <p:tav tm="100000">
                                    <p:val>
                                      <p:fltVal val="0.68818642461358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18538203557889"/>
                                    </p:val>
                                  </p:tav>
                                  <p:tav tm="100000">
                                    <p:val>
                                      <p:fltVal val="0.65889085739282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The Diagnostic Pathway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60463" y="2222444"/>
            <a:ext cx="9270768" cy="19049"/>
          </a:xfrm>
          <a:prstGeom prst="rect">
            <a:avLst/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156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1980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3658" y="3111422"/>
            <a:ext cx="761980" cy="761980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104" y="3282867"/>
            <a:ext cx="419089" cy="41908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52476" y="4127396"/>
            <a:ext cx="749281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476" y="4152796"/>
            <a:ext cx="74928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Neck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476" y="4521086"/>
            <a:ext cx="1460265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476" y="4546486"/>
            <a:ext cx="1460265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Lymph nodes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476" y="4914777"/>
            <a:ext cx="1416014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4940176"/>
            <a:ext cx="1416014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Pemberton’s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839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0663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62340" y="3111422"/>
            <a:ext cx="761980" cy="761980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3786" y="3282867"/>
            <a:ext cx="419089" cy="419089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651158" y="4127396"/>
            <a:ext cx="666733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1158" y="4152796"/>
            <a:ext cx="666733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TSH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94090" y="4127396"/>
            <a:ext cx="1111222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4090" y="4152796"/>
            <a:ext cx="1111222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FT4 / FT3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1158" y="4521086"/>
            <a:ext cx="1238219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1158" y="4546486"/>
            <a:ext cx="1238219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Antibodies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24521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346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061023" y="3111422"/>
            <a:ext cx="761980" cy="761980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469" y="3282867"/>
            <a:ext cx="419089" cy="419089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6349841" y="4127396"/>
            <a:ext cx="1263618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9841" y="4152796"/>
            <a:ext cx="1263618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Ultrasound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49841" y="4521086"/>
            <a:ext cx="1060423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9841" y="4546486"/>
            <a:ext cx="1060423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RAI scan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86462" y="4521086"/>
            <a:ext cx="1028674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86462" y="4546486"/>
            <a:ext cx="1028674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CT / MRI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49841" y="4914777"/>
            <a:ext cx="793432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49841" y="4940176"/>
            <a:ext cx="793432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X-ray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3204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58028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759706" y="3111422"/>
            <a:ext cx="761980" cy="761980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1151" y="3282867"/>
            <a:ext cx="419089" cy="419089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9048523" y="4127396"/>
            <a:ext cx="793730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48523" y="4152796"/>
            <a:ext cx="793730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FNAB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27592592592592"/>
                                    </p:val>
                                  </p:tav>
                                  <p:tav tm="100000">
                                    <p:val>
                                      <p:fltVal val="0.73979629629629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2759186351706"/>
                                    </p:val>
                                  </p:tav>
                                  <p:tav tm="100000">
                                    <p:val>
                                      <p:fltVal val="0.73979622338874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8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2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0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4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9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2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3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6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7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0" dur="9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1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4" dur="9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5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8" dur="9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9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2" dur="900" fill="hold"/>
                                  <p:tgtEl>
                                    <p:spTgt spid="3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3" dur="900" fill="hold"/>
                                  <p:tgtEl>
                                    <p:spTgt spid="3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27592592592592"/>
                                    </p:val>
                                  </p:tav>
                                  <p:tav tm="100000">
                                    <p:val>
                                      <p:fltVal val="0.73979629629629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6" dur="900" fill="hold"/>
                                  <p:tgtEl>
                                    <p:spTgt spid="3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7" dur="900" fill="hold"/>
                                  <p:tgtEl>
                                    <p:spTgt spid="3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2759186351706"/>
                                    </p:val>
                                  </p:tav>
                                  <p:tav tm="100000">
                                    <p:val>
                                      <p:fltVal val="0.73979622338874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0" dur="900" fill="hold"/>
                                  <p:tgtEl>
                                    <p:spTgt spid="3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1" dur="900" fill="hold"/>
                                  <p:tgtEl>
                                    <p:spTgt spid="3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4" dur="900" fill="hold"/>
                                  <p:tgtEl>
                                    <p:spTgt spid="4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5" dur="900" fill="hold"/>
                                  <p:tgtEl>
                                    <p:spTgt spid="4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8" dur="900" fill="hold"/>
                                  <p:tgtEl>
                                    <p:spTgt spid="4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9" dur="900" fill="hold"/>
                                  <p:tgtEl>
                                    <p:spTgt spid="4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2" dur="900" fill="hold"/>
                                  <p:tgtEl>
                                    <p:spTgt spid="4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3" dur="900" fill="hold"/>
                                  <p:tgtEl>
                                    <p:spTgt spid="4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6" dur="900" fill="hold"/>
                                  <p:tgtEl>
                                    <p:spTgt spid="4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7" dur="900" fill="hold"/>
                                  <p:tgtEl>
                                    <p:spTgt spid="4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0" dur="900" fill="hold"/>
                                  <p:tgtEl>
                                    <p:spTgt spid="4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71" dur="900" fill="hold"/>
                                  <p:tgtEl>
                                    <p:spTgt spid="4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History &amp; Physical Examination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936901" cy="4444888"/>
          </a:xfrm>
          <a:prstGeom prst="roundRect">
            <a:avLst>
              <a:gd name="adj" fmla="val 451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eck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555911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682907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Inspect &amp; palpate the neck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6374" y="1663658"/>
            <a:ext cx="6413339" cy="32384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STEP 1 · HISTORY &amp; PHYSICAL EXAMINATION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16374" y="1981150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19569" y="2139896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726" y="2277053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06949" y="2070048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Neck inspection &amp; palpation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Size · symmetry · consistency · nodules · movement with swallowing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16374" y="3041573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19569" y="320031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726" y="3337476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06949" y="3130471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Lymph nodes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Check for cervical lymphadenopathy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16374" y="4101997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9569" y="4260743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6726" y="4397900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06949" y="4190895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Pemberton’s sign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Retrosternal extension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16374" y="5162420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219569" y="5321166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6726" y="5458323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06949" y="5251318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Signs of thyroid dysfunction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Hypo- or hyperthyroid features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7915988626421695"/>
                                    </p:val>
                                  </p:tav>
                                  <p:tav tm="100000">
                                    <p:val>
                                      <p:fltVal val="0.266196923301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98983668708078"/>
                                    </p:val>
                                  </p:tav>
                                  <p:tav tm="100000">
                                    <p:val>
                                      <p:fltVal val="0.3569354039078448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943540390784485"/>
                                    </p:val>
                                  </p:tav>
                                  <p:tav tm="100000">
                                    <p:val>
                                      <p:fltVal val="0.35647244094488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943547681539807"/>
                                    </p:val>
                                  </p:tav>
                                  <p:tav tm="100000">
                                    <p:val>
                                      <p:fltVal val="0.35647251385243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9898439778361"/>
                                    </p:val>
                                  </p:tav>
                                  <p:tav tm="100000">
                                    <p:val>
                                      <p:fltVal val="0.356935476815398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45240594925634"/>
                                    </p:val>
                                  </p:tav>
                                  <p:tav tm="100000">
                                    <p:val>
                                      <p:fltVal val="0.5115610965296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40610965296004"/>
                                    </p:val>
                                  </p:tav>
                                  <p:tav tm="100000">
                                    <p:val>
                                      <p:fltVal val="0.511098133566637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40611694371536"/>
                                    </p:val>
                                  </p:tav>
                                  <p:tav tm="100000">
                                    <p:val>
                                      <p:fltVal val="0.51109820647419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45241324001166"/>
                                    </p:val>
                                  </p:tav>
                                  <p:tav tm="100000">
                                    <p:val>
                                      <p:fltVal val="0.51156116943715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91498979294255"/>
                                    </p:val>
                                  </p:tav>
                                  <p:tav tm="100000">
                                    <p:val>
                                      <p:fltVal val="0.66618693496646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6869349664625"/>
                                    </p:val>
                                  </p:tav>
                                  <p:tav tm="100000">
                                    <p:val>
                                      <p:fltVal val="0.665723972003499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6870078740157"/>
                                    </p:val>
                                  </p:tav>
                                  <p:tav tm="100000">
                                    <p:val>
                                      <p:fltVal val="0.66572404491105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91499708369787"/>
                                    </p:val>
                                  </p:tav>
                                  <p:tav tm="100000">
                                    <p:val>
                                      <p:fltVal val="0.6661870078740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37755905511811"/>
                                    </p:val>
                                  </p:tav>
                                  <p:tav tm="100000">
                                    <p:val>
                                      <p:fltVal val="0.82081262758821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33126275882181"/>
                                    </p:val>
                                  </p:tav>
                                  <p:tav tm="100000">
                                    <p:val>
                                      <p:fltVal val="0.82034966462525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33127004957713"/>
                                    </p:val>
                                  </p:tav>
                                  <p:tav tm="100000">
                                    <p:val>
                                      <p:fltVal val="0.820349737532808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37756634587343"/>
                                    </p:val>
                                  </p:tav>
                                  <p:tav tm="100000">
                                    <p:val>
                                      <p:fltVal val="0.820812700495771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Laboratory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06869" cy="2095447"/>
          </a:xfrm>
          <a:prstGeom prst="roundRect">
            <a:avLst>
              <a:gd name="adj" fmla="val 7272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5974" y="1854153"/>
            <a:ext cx="4698882" cy="14589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STEP 2 · FIRST-LINE SCREENING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500" b="1" i="0">
                <a:solidFill>
                  <a:srgbClr val="FFFFFF"/>
                </a:solidFill>
                <a:latin typeface="Playfair Display"/>
              </a:rPr>
              <a:t>TSH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600" b="0" i="0">
                <a:solidFill>
                  <a:srgbClr val="E7CF96"/>
                </a:solidFill>
                <a:latin typeface="Source Sans 3"/>
              </a:rPr>
              <a:t>Then free T4 / free T3 to classify function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1980" y="3949601"/>
            <a:ext cx="5206869" cy="2158946"/>
          </a:xfrm>
          <a:prstGeom prst="roundRect">
            <a:avLst>
              <a:gd name="adj" fmla="val 8235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lood-t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4140096"/>
            <a:ext cx="4825879" cy="177795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86342" y="1663658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89537" y="1866853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6694" y="2004009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76918" y="1752556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ANTIBODIES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Anti-TPO / anti-thyroglobulin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→ Hashimoto’s thyroiditis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342" y="2806629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9537" y="3009824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6694" y="3146981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6918" y="2895527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ANTIBODIES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TSH-receptor antibodies (TRAb)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→ Graves’ disease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86342" y="3949601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89537" y="4152796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6694" y="4289952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76918" y="4038499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B23A48"/>
                </a:solidFill>
                <a:latin typeface="Source Sans 3"/>
              </a:rPr>
              <a:t>SPECIAL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Serum calcitonin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If medullary carcinoma is suspected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6342" y="5092572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9537" y="5295767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6694" y="5432924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76918" y="5181470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AFTER SURGERY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Serum calcium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Post-op follow-up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969415281423153"/>
                                    </p:val>
                                  </p:tav>
                                  <p:tav tm="100000">
                                    <p:val>
                                      <p:fltVal val="0.37673118985126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12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12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962160979877514"/>
                                    </p:val>
                                  </p:tav>
                                  <p:tav tm="100000">
                                    <p:val>
                                      <p:fltVal val="0.31665864683581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962160979877514"/>
                                    </p:val>
                                  </p:tav>
                                  <p:tav tm="100000">
                                    <p:val>
                                      <p:fltVal val="0.31665864683581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96215368912219"/>
                                    </p:val>
                                  </p:tav>
                                  <p:tav tm="100000">
                                    <p:val>
                                      <p:fltVal val="0.316658573928258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962168270632836"/>
                                    </p:val>
                                  </p:tav>
                                  <p:tav tm="100000">
                                    <p:val>
                                      <p:fltVal val="0.31665871974336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0478273549"/>
                                    </p:val>
                                  </p:tav>
                                  <p:tav tm="100000">
                                    <p:val>
                                      <p:fltVal val="0.483321084864391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0478273549"/>
                                    </p:val>
                                  </p:tav>
                                  <p:tav tm="100000">
                                    <p:val>
                                      <p:fltVal val="0.483321084864391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12073490813"/>
                                    </p:val>
                                  </p:tav>
                                  <p:tav tm="100000">
                                    <p:val>
                                      <p:fltVal val="0.48332115777194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12073490813"/>
                                    </p:val>
                                  </p:tav>
                                  <p:tav tm="100000">
                                    <p:val>
                                      <p:fltVal val="0.48332115777194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6316710411"/>
                                    </p:val>
                                  </p:tav>
                                  <p:tav tm="100000">
                                    <p:val>
                                      <p:fltVal val="0.64998366870807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6316710411"/>
                                    </p:val>
                                  </p:tav>
                                  <p:tav tm="100000">
                                    <p:val>
                                      <p:fltVal val="0.64998366870807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7045785943"/>
                                    </p:val>
                                  </p:tav>
                                  <p:tav tm="100000">
                                    <p:val>
                                      <p:fltVal val="0.6499837416156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0696996209"/>
                                    </p:val>
                                  </p:tav>
                                  <p:tav tm="100000">
                                    <p:val>
                                      <p:fltVal val="0.81664610673665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0696996209"/>
                                    </p:val>
                                  </p:tav>
                                  <p:tav tm="100000">
                                    <p:val>
                                      <p:fltVal val="0.81664610673665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1426071741"/>
                                    </p:val>
                                  </p:tav>
                                  <p:tav tm="100000">
                                    <p:val>
                                      <p:fltVal val="0.81664617964421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1426071741"/>
                                    </p:val>
                                  </p:tav>
                                  <p:tav tm="100000">
                                    <p:val>
                                      <p:fltVal val="0.81664617964421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Imaging — Ultrasound &amp; Scintigraphy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460863" cy="3301917"/>
          </a:xfrm>
          <a:prstGeom prst="roundRect">
            <a:avLst>
              <a:gd name="adj" fmla="val 5384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s-multinodul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5079873" cy="24764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4406789"/>
            <a:ext cx="5206869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Ultrasound — multinodular goiter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0336" y="1663658"/>
            <a:ext cx="4889377" cy="3301917"/>
          </a:xfrm>
          <a:prstGeom prst="roundRect">
            <a:avLst>
              <a:gd name="adj" fmla="val 4615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94330" y="1879553"/>
            <a:ext cx="742931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4330" y="1907492"/>
            <a:ext cx="742931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Size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3459" y="1879553"/>
            <a:ext cx="1085624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13459" y="1907492"/>
            <a:ext cx="1085624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Volume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94330" y="2304992"/>
            <a:ext cx="2743131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4330" y="2332931"/>
            <a:ext cx="2743131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Nodule characterization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94330" y="2730431"/>
            <a:ext cx="2959026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4330" y="2758371"/>
            <a:ext cx="2959026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TI-RADS risk stratification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5156071"/>
            <a:ext cx="10667733" cy="952476"/>
          </a:xfrm>
          <a:prstGeom prst="roundRect">
            <a:avLst>
              <a:gd name="adj" fmla="val 16000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5974" y="5327516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131" y="5464673"/>
            <a:ext cx="335271" cy="335271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1841453" y="5219569"/>
            <a:ext cx="1771605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41453" y="5248778"/>
            <a:ext cx="1771605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8A6A24"/>
                </a:solidFill>
                <a:latin typeface="Source Sans 3"/>
              </a:rPr>
              <a:t>“Hot” = toxic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89257" y="5219569"/>
            <a:ext cx="2457388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9257" y="5248778"/>
            <a:ext cx="2457388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8A6A24"/>
                </a:solidFill>
                <a:latin typeface="Source Sans 3"/>
              </a:rPr>
              <a:t>“Cold” = suspicious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42888597258676"/>
                                    </p:val>
                                  </p:tav>
                                  <p:tav tm="100000">
                                    <p:val>
                                      <p:fltVal val="0.66132589676290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12073490813"/>
                                    </p:val>
                                  </p:tav>
                                  <p:tav tm="100000">
                                    <p:val>
                                      <p:fltVal val="0.48332115777194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9052201805"/>
                                    </p:val>
                                  </p:tav>
                                  <p:tav tm="100000">
                                    <p:val>
                                      <p:fltVal val="0.29952952755905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1761446483"/>
                                    </p:val>
                                  </p:tav>
                                  <p:tav tm="100000">
                                    <p:val>
                                      <p:fltVal val="0.29952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9052201805"/>
                                    </p:val>
                                  </p:tav>
                                  <p:tav tm="100000">
                                    <p:val>
                                      <p:fltVal val="0.29952952755905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1761446483"/>
                                    </p:val>
                                  </p:tav>
                                  <p:tav tm="100000">
                                    <p:val>
                                      <p:fltVal val="0.29952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45279235928842"/>
                                    </p:val>
                                  </p:tav>
                                  <p:tav tm="100000">
                                    <p:val>
                                      <p:fltVal val="0.36156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4527850685331"/>
                                    </p:val>
                                  </p:tav>
                                  <p:tav tm="100000">
                                    <p:val>
                                      <p:fltVal val="0.361564887722368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3656335666375035"/>
                                    </p:val>
                                  </p:tav>
                                  <p:tav tm="100000">
                                    <p:val>
                                      <p:fltVal val="0.42360039370078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3656342957130356"/>
                                    </p:val>
                                  </p:tav>
                                  <p:tav tm="100000">
                                    <p:val>
                                      <p:fltVal val="0.42360046660834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42386993292505"/>
                                    </p:val>
                                  </p:tav>
                                  <p:tav tm="100000">
                                    <p:val>
                                      <p:fltVal val="0.82127573636628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42385535141441"/>
                                    </p:val>
                                  </p:tav>
                                  <p:tav tm="100000">
                                    <p:val>
                                      <p:fltVal val="0.82127559055118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42386264216973"/>
                                    </p:val>
                                  </p:tav>
                                  <p:tav tm="100000">
                                    <p:val>
                                      <p:fltVal val="0.8212756634587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Imaging — CT, MRI &amp; X-ray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4444888" cy="4444888"/>
          </a:xfrm>
          <a:prstGeom prst="roundRect">
            <a:avLst>
              <a:gd name="adj" fmla="val 4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t-goi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4063898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4190895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CT — enlarged nodular thyroid (arrow)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24361" y="1663658"/>
            <a:ext cx="5905352" cy="2146246"/>
          </a:xfrm>
          <a:prstGeom prst="roundRect">
            <a:avLst>
              <a:gd name="adj" fmla="val 650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52956" y="1917652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0114" y="2074810"/>
            <a:ext cx="384165" cy="3841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52956" y="2806629"/>
            <a:ext cx="5448163" cy="114220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CROSS-SECTIONAL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CT / MRI of neck &amp; chest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Retrosternal extension · airway &amp; esophageal compression assessment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4361" y="3962300"/>
            <a:ext cx="5905352" cy="2146246"/>
          </a:xfrm>
          <a:prstGeom prst="roundRect">
            <a:avLst>
              <a:gd name="adj" fmla="val 650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52956" y="421629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0114" y="4373453"/>
            <a:ext cx="384165" cy="38416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52956" y="5105272"/>
            <a:ext cx="5448163" cy="91463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PLAIN FILM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Chest X-ray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Tracheal deviation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202697579469233"/>
                                    </p:val>
                                  </p:tav>
                                  <p:tav tm="100000">
                                    <p:val>
                                      <p:fltVal val="0.39906401283172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5487532808399"/>
                                    </p:val>
                                  </p:tav>
                                  <p:tav tm="100000">
                                    <p:val>
                                      <p:fltVal val="0.492524569845435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72037037037037"/>
                                    </p:val>
                                  </p:tav>
                                  <p:tav tm="100000">
                                    <p:val>
                                      <p:fltVal val="0.73424074074074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6869349664625"/>
                                    </p:val>
                                  </p:tav>
                                  <p:tav tm="100000">
                                    <p:val>
                                      <p:fltVal val="0.665723972003499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6870078740157"/>
                                    </p:val>
                                  </p:tav>
                                  <p:tav tm="100000">
                                    <p:val>
                                      <p:fltVal val="0.66572404491105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40722513852435"/>
                                    </p:val>
                                  </p:tav>
                                  <p:tav tm="100000">
                                    <p:val>
                                      <p:fltVal val="0.81110928842228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Tissue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2095447"/>
          </a:xfrm>
          <a:prstGeom prst="roundRect">
            <a:avLst>
              <a:gd name="adj" fmla="val 7878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971" y="2273243"/>
            <a:ext cx="888977" cy="88897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991" y="2473263"/>
            <a:ext cx="488937" cy="4889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49441" y="1854153"/>
            <a:ext cx="8889777" cy="171445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STEP 4 · TISSUE DIAGNOSIS — GOLD STANDARD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Playfair Display"/>
              </a:rPr>
              <a:t>Fine-needle aspiration biopsy (FNAB)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0" i="0">
                <a:solidFill>
                  <a:srgbClr val="E7CF96"/>
                </a:solidFill>
                <a:latin typeface="Source Sans 3"/>
              </a:rPr>
              <a:t>For evaluating suspicious nodules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949601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420359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436075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5092572"/>
            <a:ext cx="4781430" cy="6865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Gold standard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For tissue diagnosis of suspicious nodules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1095" y="3949601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19689" y="420359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848" y="436075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19689" y="5092572"/>
            <a:ext cx="4781430" cy="6865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Bethesda classification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Used to report FNAB results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92492709244678"/>
                                    </p:val>
                                  </p:tav>
                                  <p:tav tm="100000">
                                    <p:val>
                                      <p:fltVal val="0.3962863079615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92492709244678"/>
                                    </p:val>
                                  </p:tav>
                                  <p:tav tm="100000">
                                    <p:val>
                                      <p:fltVal val="0.3962863079615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62779235928843"/>
                                    </p:val>
                                  </p:tav>
                                  <p:tav tm="100000">
                                    <p:val>
                                      <p:fltVal val="0.73331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68350831146107"/>
                                    </p:val>
                                  </p:tav>
                                  <p:tav tm="100000">
                                    <p:val>
                                      <p:fltVal val="0.66387212015164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68351560221639"/>
                                    </p:val>
                                  </p:tav>
                                  <p:tav tm="100000">
                                    <p:val>
                                      <p:fltVal val="0.6638721930592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55911344415281"/>
                                    </p:val>
                                  </p:tav>
                                  <p:tav tm="100000">
                                    <p:val>
                                      <p:fltVal val="0.79262817147856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62779235928843"/>
                                    </p:val>
                                  </p:tav>
                                  <p:tav tm="100000">
                                    <p:val>
                                      <p:fltVal val="0.73331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68350831146107"/>
                                    </p:val>
                                  </p:tav>
                                  <p:tav tm="100000">
                                    <p:val>
                                      <p:fltVal val="0.66387212015164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68351560221639"/>
                                    </p:val>
                                  </p:tav>
                                  <p:tav tm="100000">
                                    <p:val>
                                      <p:fltVal val="0.6638721930592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55911344415281"/>
                                    </p:val>
                                  </p:tav>
                                  <p:tav tm="100000">
                                    <p:val>
                                      <p:fltVal val="0.79262817147856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09  ·  MEDICAL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Medical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1917652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074810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2806629"/>
            <a:ext cx="4781430" cy="91412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Observation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Small, asymptomatic, euthyroid goiters → periodic clinical &amp; ultrasound follow-up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1663658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19689" y="1917652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848" y="2074810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19689" y="2806629"/>
            <a:ext cx="4781430" cy="91412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Iodine supplementation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For iodine-deficiency goiter — e.g., potassium iodide; dietary correction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1980" y="4013099"/>
            <a:ext cx="10667733" cy="2095447"/>
          </a:xfrm>
          <a:prstGeom prst="roundRect">
            <a:avLst>
              <a:gd name="adj" fmla="val 7272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9473" y="4521086"/>
            <a:ext cx="825479" cy="8254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5205" y="4706819"/>
            <a:ext cx="454013" cy="454013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2158946" y="4140096"/>
            <a:ext cx="4121046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58946" y="4166765"/>
            <a:ext cx="4121046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ource Sans 3"/>
              </a:rPr>
              <a:t>TSH suppression — simple diffuse goiter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6191" y="4140096"/>
            <a:ext cx="3771805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6191" y="4166765"/>
            <a:ext cx="3771805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ource Sans 3"/>
              </a:rPr>
              <a:t>Mandatory after total thyroidectomy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58946" y="4549661"/>
            <a:ext cx="2450741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58946" y="4576330"/>
            <a:ext cx="2450741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ource Sans 3"/>
              </a:rPr>
              <a:t>Treats hypothyroidism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295290172061827"/>
                                    </p:val>
                                  </p:tav>
                                  <p:tav tm="100000">
                                    <p:val>
                                      <p:fltVal val="0.39998993875765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885834062408867"/>
                                    </p:val>
                                  </p:tav>
                                  <p:tav tm="100000">
                                    <p:val>
                                      <p:fltVal val="0.4758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295290172061827"/>
                                    </p:val>
                                  </p:tav>
                                  <p:tav tm="100000">
                                    <p:val>
                                      <p:fltVal val="0.39998993875765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885834062408867"/>
                                    </p:val>
                                  </p:tav>
                                  <p:tav tm="100000">
                                    <p:val>
                                      <p:fltVal val="0.4758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09073344998541"/>
                                    </p:val>
                                  </p:tav>
                                  <p:tav tm="100000">
                                    <p:val>
                                      <p:fltVal val="0.73794437153689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32389253426655"/>
                                    </p:val>
                                  </p:tav>
                                  <p:tav tm="100000">
                                    <p:val>
                                      <p:fltVal val="0.71942629046369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32389253426655"/>
                                    </p:val>
                                  </p:tav>
                                  <p:tav tm="100000">
                                    <p:val>
                                      <p:fltVal val="0.71942629046369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4012831729"/>
                                    </p:val>
                                  </p:tav>
                                  <p:tav tm="100000">
                                    <p:val>
                                      <p:fltVal val="0.62799343832020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3283756197"/>
                                    </p:val>
                                  </p:tav>
                                  <p:tav tm="100000">
                                    <p:val>
                                      <p:fltVal val="0.62799336541265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4012831729"/>
                                    </p:val>
                                  </p:tav>
                                  <p:tav tm="100000">
                                    <p:val>
                                      <p:fltVal val="0.62799343832020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3283756197"/>
                                    </p:val>
                                  </p:tav>
                                  <p:tav tm="100000">
                                    <p:val>
                                      <p:fltVal val="0.62799336541265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6771653543307"/>
                                    </p:val>
                                  </p:tav>
                                  <p:tav tm="100000">
                                    <p:val>
                                      <p:fltVal val="0.6877142023913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6770924467774"/>
                                    </p:val>
                                  </p:tav>
                                  <p:tav tm="100000">
                                    <p:val>
                                      <p:fltVal val="0.68771412948381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09  ·  MEDICAL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Treating Thyroid Overactivity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2616134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773293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3505112"/>
            <a:ext cx="2971725" cy="91412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Antithyroid drugs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Methimazole or propylthiouracil (PTU) — toxic goiter / Graves’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9984" y="261613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143" y="277329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9984" y="3505112"/>
            <a:ext cx="2971725" cy="6865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Beta-blockers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Propranolol — symptom control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394" y="261613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552" y="277329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394" y="3505112"/>
            <a:ext cx="2971725" cy="148637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Radioactive iodine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RAI, I-131 · ablates hyperfunctioning tissue · shrinks toxic MNG &amp; Graves’ goiter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07077136191309"/>
                                    </p:val>
                                  </p:tav>
                                  <p:tav tm="100000">
                                    <p:val>
                                      <p:fltVal val="0.57774475065616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41154855643045"/>
                                    </p:val>
                                  </p:tav>
                                  <p:tav tm="100000">
                                    <p:val>
                                      <p:fltVal val="0.561152522601341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24288422280548"/>
                                    </p:val>
                                  </p:tav>
                                  <p:tav tm="100000">
                                    <p:val>
                                      <p:fltVal val="0.61946587926509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09  ·  MEDICAL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Surgery — Thyroidectomy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555911" cy="4444888"/>
          </a:xfrm>
          <a:prstGeom prst="roundRect">
            <a:avLst>
              <a:gd name="adj" fmla="val 5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ultinodular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174920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301917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Large nodular goiter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5384" y="1663658"/>
            <a:ext cx="6794330" cy="32384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SURGERY · THYROIDECTOMY — INDICATIONS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5384" y="1981150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38579" y="2120846"/>
            <a:ext cx="241293" cy="241293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870" y="2175138"/>
            <a:ext cx="132711" cy="1327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57668" y="2070048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Compressive symptoms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5384" y="2590735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38579" y="2730431"/>
            <a:ext cx="241293" cy="241293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870" y="2784722"/>
            <a:ext cx="132711" cy="1327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57668" y="2679633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Suspected / proven malignancy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35384" y="3200319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38579" y="3340016"/>
            <a:ext cx="241293" cy="241293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870" y="3394307"/>
            <a:ext cx="132711" cy="13271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257668" y="3289217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Retrosternal extension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35384" y="3809904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38579" y="3949601"/>
            <a:ext cx="241293" cy="241293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7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870" y="4003892"/>
            <a:ext cx="132711" cy="13271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257668" y="3898802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Cosmetic concern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35384" y="4419489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838579" y="4559186"/>
            <a:ext cx="241293" cy="241293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7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2870" y="4613477"/>
            <a:ext cx="132711" cy="13271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257668" y="4508387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Failed medical therapy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35384" y="5092572"/>
            <a:ext cx="6794330" cy="1015974"/>
          </a:xfrm>
          <a:prstGeom prst="roundRect">
            <a:avLst>
              <a:gd name="adj" fmla="val 13750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89377" y="5219569"/>
            <a:ext cx="869531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89377" y="5248778"/>
            <a:ext cx="869531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urce Sans 3"/>
              </a:rPr>
              <a:t>Total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35107" y="5219569"/>
            <a:ext cx="1416014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35107" y="5248778"/>
            <a:ext cx="1416014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urce Sans 3"/>
              </a:rPr>
              <a:t>Near-total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27319" y="5219569"/>
            <a:ext cx="1504912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27319" y="5248778"/>
            <a:ext cx="1504912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urce Sans 3"/>
              </a:rPr>
              <a:t>Lobectomy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7915988626421695"/>
                                    </p:val>
                                  </p:tav>
                                  <p:tav tm="100000">
                                    <p:val>
                                      <p:fltVal val="0.266196923301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980650335374746"/>
                                    </p:val>
                                  </p:tav>
                                  <p:tav tm="100000">
                                    <p:val>
                                      <p:fltVal val="0.32684354039078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980643044619424"/>
                                    </p:val>
                                  </p:tav>
                                  <p:tav tm="100000">
                                    <p:val>
                                      <p:fltVal val="0.3268434674832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98065762613007"/>
                                    </p:val>
                                  </p:tav>
                                  <p:tav tm="100000">
                                    <p:val>
                                      <p:fltVal val="0.32684361329833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98065762613007"/>
                                    </p:val>
                                  </p:tav>
                                  <p:tav tm="100000">
                                    <p:val>
                                      <p:fltVal val="0.32684361329833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2869320501603964"/>
                                    </p:val>
                                  </p:tav>
                                  <p:tav tm="100000">
                                    <p:val>
                                      <p:fltVal val="0.41573024205307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286931321084864"/>
                                    </p:val>
                                  </p:tav>
                                  <p:tav tm="100000">
                                    <p:val>
                                      <p:fltVal val="0.415730169145523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286931321084864"/>
                                    </p:val>
                                  </p:tav>
                                  <p:tav tm="100000">
                                    <p:val>
                                      <p:fltVal val="0.415730169145523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2869327792359285"/>
                                    </p:val>
                                  </p:tav>
                                  <p:tav tm="100000">
                                    <p:val>
                                      <p:fltVal val="0.41573031496062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75797608632254"/>
                                    </p:val>
                                  </p:tav>
                                  <p:tav tm="100000">
                                    <p:val>
                                      <p:fltVal val="0.50461679790026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75798337707787"/>
                                    </p:val>
                                  </p:tav>
                                  <p:tav tm="100000">
                                    <p:val>
                                      <p:fltVal val="0.5046168708078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75798337707787"/>
                                    </p:val>
                                  </p:tav>
                                  <p:tav tm="100000">
                                    <p:val>
                                      <p:fltVal val="0.5046168708078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75798337707787"/>
                                    </p:val>
                                  </p:tav>
                                  <p:tav tm="100000">
                                    <p:val>
                                      <p:fltVal val="0.5046168708078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4625255176"/>
                                    </p:val>
                                  </p:tav>
                                  <p:tav tm="100000">
                                    <p:val>
                                      <p:fltVal val="0.59350349956255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7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8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2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3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5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6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0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1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3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4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0696996209"/>
                                    </p:val>
                                  </p:tav>
                                  <p:tav tm="100000">
                                    <p:val>
                                      <p:fltVal val="0.81664610673665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5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7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8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2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3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5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6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7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9" dur="9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0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1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3" dur="9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4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5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7" dur="9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8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3993" y="253993"/>
            <a:ext cx="11683707" cy="6349841"/>
          </a:xfrm>
          <a:prstGeom prst="rect">
            <a:avLst/>
          </a:prstGeom>
          <a:noFill/>
          <a:ln w="9525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2812" y="1079473"/>
            <a:ext cx="4698882" cy="46988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ultinodular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288" y="1587460"/>
            <a:ext cx="2793930" cy="36956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52476" y="1904952"/>
            <a:ext cx="5714857" cy="28891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350">
                <a:solidFill>
                  <a:srgbClr val="0F8B8D"/>
                </a:solidFill>
                <a:latin typeface="Source Sans 3"/>
              </a:rPr>
              <a:t>SECTION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7076" y="2260543"/>
            <a:ext cx="6349841" cy="64250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51" b="1" i="0">
                <a:solidFill>
                  <a:srgbClr val="13254D"/>
                </a:solidFill>
                <a:latin typeface="Playfair Display"/>
              </a:rPr>
              <a:t>Nursing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476" y="4254393"/>
            <a:ext cx="1269968" cy="2539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52476" y="4546486"/>
            <a:ext cx="2317692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476" y="4573155"/>
            <a:ext cx="2317692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Pre-op / Non-surgical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6366" y="4546486"/>
            <a:ext cx="1739757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46366" y="4573155"/>
            <a:ext cx="1739757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Post-op Airway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2321" y="4546486"/>
            <a:ext cx="1631909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2321" y="4573155"/>
            <a:ext cx="1631909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Hypocalcemia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2476" y="4956051"/>
            <a:ext cx="1193770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2476" y="4982720"/>
            <a:ext cx="1193770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Recovery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22444" y="4956051"/>
            <a:ext cx="1708107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22444" y="4982720"/>
            <a:ext cx="1708107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Nursing Pearls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12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38762758821814"/>
                                    </p:val>
                                  </p:tav>
                                  <p:tav tm="100000">
                                    <p:val>
                                      <p:fltVal val="0.500913312919218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17979731700204"/>
                                    </p:val>
                                  </p:tav>
                                  <p:tav tm="100000">
                                    <p:val>
                                      <p:fltVal val="0.298835010207057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942760279965005"/>
                                    </p:val>
                                  </p:tav>
                                  <p:tav tm="100000">
                                    <p:val>
                                      <p:fltVal val="0.37646463983668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51695100612423"/>
                                    </p:val>
                                  </p:tav>
                                  <p:tav tm="100000">
                                    <p:val>
                                      <p:fltVal val="0.62220654709827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99349664625256"/>
                                    </p:val>
                                  </p:tav>
                                  <p:tav tm="100000">
                                    <p:val>
                                      <p:fltVal val="0.74697200349956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99348935549722"/>
                                    </p:val>
                                  </p:tav>
                                  <p:tav tm="100000">
                                    <p:val>
                                      <p:fltVal val="0.746971930592009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99349664625256"/>
                                    </p:val>
                                  </p:tav>
                                  <p:tav tm="100000">
                                    <p:val>
                                      <p:fltVal val="0.74697200349956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99348935549722"/>
                                    </p:val>
                                  </p:tav>
                                  <p:tav tm="100000">
                                    <p:val>
                                      <p:fltVal val="0.746971930592009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Preoperative / Non-surgical Care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1206469"/>
          </a:xfrm>
          <a:prstGeom prst="roundRect">
            <a:avLst>
              <a:gd name="adj" fmla="val 12631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962100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2099257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9524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AT EVERY ENCOUNTER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Assess airway, breathing pattern, voice &amp; swallowing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500" b="1" i="0">
                <a:solidFill>
                  <a:srgbClr val="F6D9DD"/>
                </a:solidFill>
                <a:latin typeface="Source Sans 3"/>
              </a:rPr>
              <a:t>Report stridor immediately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060623"/>
            <a:ext cx="3428914" cy="3047923"/>
          </a:xfrm>
          <a:prstGeom prst="roundRect">
            <a:avLst>
              <a:gd name="adj" fmla="val 458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3314617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3471775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203594"/>
            <a:ext cx="2971725" cy="139645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Medication adherence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Levothyroxine on an empty stomach · separate from calcium / iron by 4 hours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390" y="3060623"/>
            <a:ext cx="3428914" cy="3047923"/>
          </a:xfrm>
          <a:prstGeom prst="roundRect">
            <a:avLst>
              <a:gd name="adj" fmla="val 458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09984" y="3314617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7143" y="3471775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09984" y="4203594"/>
            <a:ext cx="2971725" cy="139645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Nutritional counseling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Adequate iodine — iodized salt, seafood, dairy · avoid excess goitrogens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799" y="3060623"/>
            <a:ext cx="3428914" cy="3047923"/>
          </a:xfrm>
          <a:prstGeom prst="roundRect">
            <a:avLst>
              <a:gd name="adj" fmla="val 458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29394" y="3314617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6552" y="3471775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394" y="4203594"/>
            <a:ext cx="2971725" cy="941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Psychosocial support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For body-image concerns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0612423447"/>
                                    </p:val>
                                  </p:tav>
                                  <p:tav tm="100000">
                                    <p:val>
                                      <p:fltVal val="0.33054709827938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8072324293"/>
                                    </p:val>
                                  </p:tav>
                                  <p:tav tm="100000">
                                    <p:val>
                                      <p:fltVal val="0.53424584426946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734324876"/>
                                    </p:val>
                                  </p:tav>
                                  <p:tav tm="100000">
                                    <p:val>
                                      <p:fltVal val="0.53424577136191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77227325750948"/>
                                    </p:val>
                                  </p:tav>
                                  <p:tav tm="100000">
                                    <p:val>
                                      <p:fltVal val="0.71475976961213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8072324293"/>
                                    </p:val>
                                  </p:tav>
                                  <p:tav tm="100000">
                                    <p:val>
                                      <p:fltVal val="0.53424584426946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734324876"/>
                                    </p:val>
                                  </p:tav>
                                  <p:tav tm="100000">
                                    <p:val>
                                      <p:fltVal val="0.53424577136191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77227325750948"/>
                                    </p:val>
                                  </p:tav>
                                  <p:tav tm="100000">
                                    <p:val>
                                      <p:fltVal val="0.71475976961213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8072324293"/>
                                    </p:val>
                                  </p:tav>
                                  <p:tav tm="100000">
                                    <p:val>
                                      <p:fltVal val="0.53424584426946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734324876"/>
                                    </p:val>
                                  </p:tav>
                                  <p:tav tm="100000">
                                    <p:val>
                                      <p:fltVal val="0.53424577136191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45383493729951"/>
                                    </p:val>
                                  </p:tav>
                                  <p:tav tm="100000">
                                    <p:val>
                                      <p:fltVal val="0.68157538641003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Postoperative Care — Airway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952476"/>
          </a:xfrm>
          <a:prstGeom prst="roundRect">
            <a:avLst>
              <a:gd name="adj" fmla="val 14666"/>
            </a:avLst>
          </a:prstGeom>
          <a:solidFill>
            <a:srgbClr val="7E1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835104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1972260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F6D9DD"/>
                </a:solidFill>
                <a:latin typeface="Source Sans 3"/>
              </a:rPr>
              <a:t>POST-THYROIDECTOMY · PRIORITY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AIRWAY — monitor continuously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806629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5175" y="2984425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332" y="3121581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52556" y="2895527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Tracheostomy set + suction at the bedside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045" y="2806629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75240" y="2984425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2397" y="3121581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62620" y="2895527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Watch for neck swelling / hematoma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3930551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5175" y="4108347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332" y="4245503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52556" y="4019449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Semi-Fowler's position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045" y="3930551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75240" y="4108347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2397" y="4245503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162620" y="4019449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Support the neck when moving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1980" y="5054473"/>
            <a:ext cx="10667733" cy="1054073"/>
          </a:xfrm>
          <a:prstGeom prst="roundRect">
            <a:avLst>
              <a:gd name="adj" fmla="val 13253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5974" y="5276718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3131" y="5413874"/>
            <a:ext cx="335271" cy="33527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841453" y="5117972"/>
            <a:ext cx="9397765" cy="9270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F4FA8"/>
                </a:solidFill>
                <a:latin typeface="Source Sans 3"/>
              </a:rPr>
              <a:t>CHECK THE DRESSING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Front </a:t>
            </a:r>
            <a:r>
              <a:rPr sz="2200" b="1" i="0">
                <a:solidFill>
                  <a:srgbClr val="13254D"/>
                </a:solidFill>
                <a:latin typeface="Source Sans 3"/>
              </a:rPr>
              <a:t>and</a:t>
            </a:r>
            <a:r>
              <a:rPr sz="2200" b="1" i="0">
                <a:solidFill>
                  <a:srgbClr val="13254D"/>
                </a:solidFill>
                <a:latin typeface="Playfair Display"/>
              </a:rPr>
              <a:t> back of the neck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05307669876"/>
                                    </p:val>
                                  </p:tav>
                                  <p:tav tm="100000">
                                    <p:val>
                                      <p:fltVal val="0.31202909011373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304337999416736"/>
                                    </p:val>
                                  </p:tav>
                                  <p:tav tm="100000">
                                    <p:val>
                                      <p:fltVal val="0.48008041703120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258048993875764"/>
                                    </p:val>
                                  </p:tav>
                                  <p:tav tm="100000">
                                    <p:val>
                                      <p:fltVal val="0.47961752697579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25804170312044"/>
                                    </p:val>
                                  </p:tav>
                                  <p:tav tm="100000">
                                    <p:val>
                                      <p:fltVal val="0.479617454068241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304345290172064"/>
                                    </p:val>
                                  </p:tav>
                                  <p:tav tm="100000">
                                    <p:val>
                                      <p:fltVal val="0.48008048993875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304337999416736"/>
                                    </p:val>
                                  </p:tav>
                                  <p:tav tm="100000">
                                    <p:val>
                                      <p:fltVal val="0.48008041703120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258048993875764"/>
                                    </p:val>
                                  </p:tav>
                                  <p:tav tm="100000">
                                    <p:val>
                                      <p:fltVal val="0.47961752697579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25804170312044"/>
                                    </p:val>
                                  </p:tav>
                                  <p:tav tm="100000">
                                    <p:val>
                                      <p:fltVal val="0.479617454068241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304345290172064"/>
                                    </p:val>
                                  </p:tav>
                                  <p:tav tm="100000">
                                    <p:val>
                                      <p:fltVal val="0.48008048993875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9281860600759"/>
                                    </p:val>
                                  </p:tav>
                                  <p:tav tm="100000">
                                    <p:val>
                                      <p:fltVal val="0.64396522309711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4652960046661"/>
                                    </p:val>
                                  </p:tav>
                                  <p:tav tm="100000">
                                    <p:val>
                                      <p:fltVal val="0.64350233304170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4652230971129"/>
                                    </p:val>
                                  </p:tav>
                                  <p:tav tm="100000">
                                    <p:val>
                                      <p:fltVal val="0.64350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9282589676291"/>
                                    </p:val>
                                  </p:tav>
                                  <p:tav tm="100000">
                                    <p:val>
                                      <p:fltVal val="0.643965296004666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9281860600759"/>
                                    </p:val>
                                  </p:tav>
                                  <p:tav tm="100000">
                                    <p:val>
                                      <p:fltVal val="0.64396522309711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4652960046661"/>
                                    </p:val>
                                  </p:tav>
                                  <p:tav tm="100000">
                                    <p:val>
                                      <p:fltVal val="0.64350233304170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4652230971129"/>
                                    </p:val>
                                  </p:tav>
                                  <p:tav tm="100000">
                                    <p:val>
                                      <p:fltVal val="0.64350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9282589676291"/>
                                    </p:val>
                                  </p:tav>
                                  <p:tav tm="100000">
                                    <p:val>
                                      <p:fltVal val="0.643965296004666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68313648293963"/>
                                    </p:val>
                                  </p:tav>
                                  <p:tav tm="100000">
                                    <p:val>
                                      <p:fltVal val="0.81386840186643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68314377369496"/>
                                    </p:val>
                                  </p:tav>
                                  <p:tav tm="100000">
                                    <p:val>
                                      <p:fltVal val="0.81386847477398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68313648293963"/>
                                    </p:val>
                                  </p:tav>
                                  <p:tav tm="100000">
                                    <p:val>
                                      <p:fltVal val="0.81386840186643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68314377369496"/>
                                    </p:val>
                                  </p:tav>
                                  <p:tav tm="100000">
                                    <p:val>
                                      <p:fltVal val="0.81386847477398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  ·  POST-OP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Hypocalcemia Watch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555911" cy="4444888"/>
          </a:xfrm>
          <a:prstGeom prst="roundRect">
            <a:avLst>
              <a:gd name="adj" fmla="val 5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174920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301917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Parathyroid injury → hypocalcemia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35384" y="1663658"/>
            <a:ext cx="3301917" cy="2095447"/>
          </a:xfrm>
          <a:prstGeom prst="roundRect">
            <a:avLst>
              <a:gd name="adj" fmla="val 7272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89377" y="1854153"/>
            <a:ext cx="2793930" cy="130501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SIGN 1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Playfair Display"/>
              </a:rPr>
              <a:t>Chvostek's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DCE6F7"/>
                </a:solidFill>
                <a:latin typeface="Source Sans 3"/>
              </a:rPr>
              <a:t>Tap the facial nerve → facial twitching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7796" y="1663658"/>
            <a:ext cx="3301917" cy="2095447"/>
          </a:xfrm>
          <a:prstGeom prst="roundRect">
            <a:avLst>
              <a:gd name="adj" fmla="val 7272"/>
            </a:avLst>
          </a:prstGeom>
          <a:solidFill>
            <a:srgbClr val="0B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1790" y="1854153"/>
            <a:ext cx="2793930" cy="130501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SIGN 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Playfair Display"/>
              </a:rPr>
              <a:t>Trousseau's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DDF1F1"/>
                </a:solidFill>
                <a:latin typeface="Source Sans 3"/>
              </a:rPr>
              <a:t>BP cuff inflated → carpal spasm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35384" y="3949601"/>
            <a:ext cx="6794330" cy="2158946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89377" y="4127396"/>
            <a:ext cx="6286342" cy="153386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ASSESS &amp; ACT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0F8B8D"/>
                </a:solidFill>
                <a:latin typeface="Source Sans 3"/>
              </a:rPr>
              <a:t>◆</a:t>
            </a:r>
            <a:r>
              <a:rPr sz="1700" b="1" i="0">
                <a:solidFill>
                  <a:srgbClr val="13254D"/>
                </a:solidFill>
                <a:latin typeface="Source Sans 3"/>
              </a:rPr>
              <a:t>Perioral tingling · muscle cramps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0F8B8D"/>
                </a:solidFill>
                <a:latin typeface="Source Sans 3"/>
              </a:rPr>
              <a:t>◆</a:t>
            </a:r>
            <a:r>
              <a:rPr sz="1700" b="1" i="0">
                <a:solidFill>
                  <a:srgbClr val="13254D"/>
                </a:solidFill>
                <a:latin typeface="Source Sans 3"/>
              </a:rPr>
              <a:t>Monitor serum calcium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0F8B8D"/>
                </a:solidFill>
                <a:latin typeface="Source Sans 3"/>
              </a:rPr>
              <a:t>◆</a:t>
            </a:r>
            <a:r>
              <a:rPr sz="1700" b="1" i="0">
                <a:solidFill>
                  <a:srgbClr val="13254D"/>
                </a:solidFill>
                <a:latin typeface="Source Sans 3"/>
              </a:rPr>
              <a:t>Keep IV calcium gluconate available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84722222222222"/>
                                    </p:val>
                                  </p:tav>
                                  <p:tav tm="100000">
                                    <p:val>
                                      <p:fltVal val="0.365509259259259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84722222222222"/>
                                    </p:val>
                                  </p:tav>
                                  <p:tav tm="100000">
                                    <p:val>
                                      <p:fltVal val="0.365509259259259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62779235928843"/>
                                    </p:val>
                                  </p:tav>
                                  <p:tav tm="100000">
                                    <p:val>
                                      <p:fltVal val="0.73331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66301399825021"/>
                                    </p:val>
                                  </p:tav>
                                  <p:tav tm="100000">
                                    <p:val>
                                      <p:fltVal val="0.713667177019539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  ·  POST-OP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Recovery &amp; Teaching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253993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1917652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074810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2806629"/>
            <a:ext cx="2971725" cy="65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Assess the voice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Recurrent laryngeal nerve injury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253993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9984" y="1917652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143" y="2074810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9984" y="2806629"/>
            <a:ext cx="2971725" cy="65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Deep breathing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Encourage regularly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253993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394" y="1917652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552" y="2074810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394" y="2806629"/>
            <a:ext cx="2971725" cy="65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Pain &amp; nausea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Manage promptly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4394090"/>
            <a:ext cx="10667733" cy="1714457"/>
          </a:xfrm>
          <a:prstGeom prst="roundRect">
            <a:avLst>
              <a:gd name="adj" fmla="val 8888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79473" y="4838579"/>
            <a:ext cx="825479" cy="8254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5205" y="5024311"/>
            <a:ext cx="454013" cy="45401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58946" y="4521086"/>
            <a:ext cx="9080272" cy="1460463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DISCHARGE TEACHING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Lifelong hormone replacement after total thyroidectomy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500" b="0" i="0">
                <a:solidFill>
                  <a:srgbClr val="E7CF96"/>
                </a:solidFill>
                <a:latin typeface="Source Sans 3"/>
              </a:rPr>
              <a:t>Plus the signs of hypo- / hyperthyroidism to report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07299504228638"/>
                                    </p:val>
                                  </p:tav>
                                  <p:tav tm="100000">
                                    <p:val>
                                      <p:fltVal val="0.4277669874599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700810002916302"/>
                                    </p:val>
                                  </p:tav>
                                  <p:tav tm="100000">
                                    <p:val>
                                      <p:fltVal val="0.457118037328667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07299504228638"/>
                                    </p:val>
                                  </p:tav>
                                  <p:tav tm="100000">
                                    <p:val>
                                      <p:fltVal val="0.4277669874599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700810002916302"/>
                                    </p:val>
                                  </p:tav>
                                  <p:tav tm="100000">
                                    <p:val>
                                      <p:fltVal val="0.457118037328667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07299504228638"/>
                                    </p:val>
                                  </p:tav>
                                  <p:tav tm="100000">
                                    <p:val>
                                      <p:fltVal val="0.4277669874599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700810002916302"/>
                                    </p:val>
                                  </p:tav>
                                  <p:tav tm="100000">
                                    <p:val>
                                      <p:fltVal val="0.457118037328667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6845290172062"/>
                                    </p:val>
                                  </p:tav>
                                  <p:tav tm="100000">
                                    <p:val>
                                      <p:fltVal val="0.76572156605424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6845290172062"/>
                                    </p:val>
                                  </p:tav>
                                  <p:tav tm="100000">
                                    <p:val>
                                      <p:fltVal val="0.76572156605424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6843832020998"/>
                                    </p:val>
                                  </p:tav>
                                  <p:tav tm="100000">
                                    <p:val>
                                      <p:fltVal val="0.76572142023913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6843832020998"/>
                                    </p:val>
                                  </p:tav>
                                  <p:tav tm="100000">
                                    <p:val>
                                      <p:fltVal val="0.76572142023913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High-Yield Nursing Pearls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67013" cy="4444888"/>
          </a:xfrm>
          <a:prstGeom prst="roundRect">
            <a:avLst>
              <a:gd name="adj" fmla="val 4761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5974" y="1904952"/>
            <a:ext cx="1269968" cy="782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B8923E"/>
                </a:solidFill>
                <a:latin typeface="Playfair Display"/>
              </a:rPr>
              <a:t>01</a:t>
            </a:r>
          </a:p>
        </p:txBody>
      </p:sp>
      <p:sp>
        <p:nvSpPr>
          <p:cNvPr id="8" name="Oval 7"/>
          <p:cNvSpPr/>
          <p:nvPr/>
        </p:nvSpPr>
        <p:spPr>
          <a:xfrm>
            <a:off x="3301917" y="1968450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076" y="2125609"/>
            <a:ext cx="384165" cy="3841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5974" y="3174920"/>
            <a:ext cx="2959026" cy="103807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3254D"/>
                </a:solidFill>
                <a:latin typeface="Playfair Display"/>
              </a:rPr>
              <a:t>Airway first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23A48"/>
                </a:solidFill>
                <a:latin typeface="Source Sans 3"/>
              </a:rPr>
              <a:t>Hematoma can obstruct within hours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2340" y="1663658"/>
            <a:ext cx="3467013" cy="4444888"/>
          </a:xfrm>
          <a:prstGeom prst="roundRect">
            <a:avLst>
              <a:gd name="adj" fmla="val 4761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6334" y="1904952"/>
            <a:ext cx="1269968" cy="782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B8923E"/>
                </a:solidFill>
                <a:latin typeface="Playfair Display"/>
              </a:rPr>
              <a:t>02</a:t>
            </a:r>
          </a:p>
        </p:txBody>
      </p:sp>
      <p:sp>
        <p:nvSpPr>
          <p:cNvPr id="13" name="Oval 12"/>
          <p:cNvSpPr/>
          <p:nvPr/>
        </p:nvSpPr>
        <p:spPr>
          <a:xfrm>
            <a:off x="6902277" y="1968450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436" y="2125609"/>
            <a:ext cx="384165" cy="38416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16334" y="3174920"/>
            <a:ext cx="2959026" cy="1749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3254D"/>
                </a:solidFill>
                <a:latin typeface="Playfair Display"/>
              </a:rPr>
              <a:t>Calcium checks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6A24"/>
                </a:solidFill>
                <a:latin typeface="Source Sans 3"/>
              </a:rPr>
              <a:t>Catch hypoparathyroidism early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700" y="1663658"/>
            <a:ext cx="3467013" cy="4444888"/>
          </a:xfrm>
          <a:prstGeom prst="roundRect">
            <a:avLst>
              <a:gd name="adj" fmla="val 4761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6694" y="1904952"/>
            <a:ext cx="1269968" cy="782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B8923E"/>
                </a:solidFill>
                <a:latin typeface="Playfair Display"/>
              </a:rPr>
              <a:t>03</a:t>
            </a:r>
          </a:p>
        </p:txBody>
      </p:sp>
      <p:sp>
        <p:nvSpPr>
          <p:cNvPr id="18" name="Oval 17"/>
          <p:cNvSpPr/>
          <p:nvPr/>
        </p:nvSpPr>
        <p:spPr>
          <a:xfrm>
            <a:off x="10502637" y="1968450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9795" y="2125609"/>
            <a:ext cx="384165" cy="38416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16694" y="3174920"/>
            <a:ext cx="2959026" cy="131441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3254D"/>
                </a:solidFill>
                <a:latin typeface="Playfair Display"/>
              </a:rPr>
              <a:t>Levothyroxine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6E70"/>
                </a:solidFill>
                <a:latin typeface="Source Sans 3"/>
              </a:rPr>
              <a:t>Empty stomach · same time daily · never stop abruptly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7769320501604"/>
                                    </p:val>
                                  </p:tav>
                                  <p:tav tm="100000">
                                    <p:val>
                                      <p:fltVal val="0.334806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2283464566"/>
                                    </p:val>
                                  </p:tav>
                                  <p:tav tm="100000">
                                    <p:val>
                                      <p:fltVal val="0.33795435987168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957421989"/>
                                    </p:val>
                                  </p:tav>
                                  <p:tav tm="100000">
                                    <p:val>
                                      <p:fltVal val="0.33795443277923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515975503062117"/>
                                    </p:val>
                                  </p:tav>
                                  <p:tav tm="100000">
                                    <p:val>
                                      <p:fltVal val="0.53863458734324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7769320501604"/>
                                    </p:val>
                                  </p:tav>
                                  <p:tav tm="100000">
                                    <p:val>
                                      <p:fltVal val="0.334806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2283464566"/>
                                    </p:val>
                                  </p:tav>
                                  <p:tav tm="100000">
                                    <p:val>
                                      <p:fltVal val="0.33795435987168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957421989"/>
                                    </p:val>
                                  </p:tav>
                                  <p:tav tm="100000">
                                    <p:val>
                                      <p:fltVal val="0.33795443277923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34295713035871"/>
                                    </p:val>
                                  </p:tav>
                                  <p:tav tm="100000">
                                    <p:val>
                                      <p:fltVal val="0.5904666083406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7769320501604"/>
                                    </p:val>
                                  </p:tav>
                                  <p:tav tm="100000">
                                    <p:val>
                                      <p:fltVal val="0.334806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2283464566"/>
                                    </p:val>
                                  </p:tav>
                                  <p:tav tm="100000">
                                    <p:val>
                                      <p:fltVal val="0.33795435987168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957421989"/>
                                    </p:val>
                                  </p:tav>
                                  <p:tav tm="100000">
                                    <p:val>
                                      <p:fltVal val="0.33795443277923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17451881014873"/>
                                    </p:val>
                                  </p:tav>
                                  <p:tav tm="100000">
                                    <p:val>
                                      <p:fltVal val="0.55878222513852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11  ·  PREVENTION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Iodine — the First Line of Defense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4444888" cy="4444888"/>
          </a:xfrm>
          <a:prstGeom prst="roundRect">
            <a:avLst>
              <a:gd name="adj" fmla="val 3714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971" y="2044648"/>
            <a:ext cx="888977" cy="88897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991" y="2244668"/>
            <a:ext cx="488937" cy="4889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2971" y="3301917"/>
            <a:ext cx="3809904" cy="184958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E7CF96"/>
                </a:solidFill>
                <a:latin typeface="Source Sans 3"/>
              </a:rPr>
              <a:t>SINGLE MOST EFFECTIVE MEASURE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Playfair Display"/>
              </a:rPr>
              <a:t>Universal salt iodization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0" i="0">
                <a:solidFill>
                  <a:srgbClr val="E7CF96"/>
                </a:solidFill>
                <a:latin typeface="Source Sans 3"/>
              </a:rPr>
              <a:t>Use iodized salt in daily cooking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7860" y="1663658"/>
            <a:ext cx="5841853" cy="32384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 spc="200">
                <a:solidFill>
                  <a:srgbClr val="B8923E"/>
                </a:solidFill>
                <a:latin typeface="Source Sans 3"/>
              </a:rPr>
              <a:t>RECOMMENDED DAILY IODINE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87860" y="2019249"/>
            <a:ext cx="2825679" cy="2095447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78355" y="2222444"/>
            <a:ext cx="2444688" cy="143481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 spc="200">
                <a:solidFill>
                  <a:srgbClr val="1F4FA8"/>
                </a:solidFill>
                <a:latin typeface="Source Sans 3"/>
              </a:rPr>
              <a:t>ADULTS</a:t>
            </a:r>
          </a:p>
          <a:p>
            <a:pPr algn="ctr">
              <a:lnSpc>
                <a:spcPct val="118000"/>
              </a:lnSpc>
              <a:spcBef>
                <a:spcPts val="800"/>
              </a:spcBef>
              <a:spcAft>
                <a:spcPts val="0"/>
              </a:spcAft>
            </a:pPr>
            <a:r>
              <a:rPr sz="5000" b="1" i="0">
                <a:solidFill>
                  <a:srgbClr val="13254D"/>
                </a:solidFill>
                <a:latin typeface="Playfair Display"/>
              </a:rPr>
              <a:t>≈ 150</a:t>
            </a:r>
          </a:p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8B8D"/>
                </a:solidFill>
                <a:latin typeface="Source Sans 3"/>
              </a:rPr>
              <a:t>mcg / 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04034" y="2019249"/>
            <a:ext cx="2825679" cy="2095447"/>
          </a:xfrm>
          <a:prstGeom prst="roundRect">
            <a:avLst>
              <a:gd name="adj" fmla="val 7272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94530" y="2222444"/>
            <a:ext cx="2444688" cy="16052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8A6A24"/>
                </a:solidFill>
                <a:latin typeface="Source Sans 3"/>
              </a:rPr>
              <a:t>PREGNANCY / LACTATION</a:t>
            </a:r>
          </a:p>
          <a:p>
            <a:pPr algn="ctr">
              <a:lnSpc>
                <a:spcPct val="118000"/>
              </a:lnSpc>
              <a:spcBef>
                <a:spcPts val="1100"/>
              </a:spcBef>
              <a:spcAft>
                <a:spcPts val="0"/>
              </a:spcAft>
            </a:pPr>
            <a:r>
              <a:rPr sz="4400" b="1" i="0">
                <a:solidFill>
                  <a:srgbClr val="13254D"/>
                </a:solidFill>
                <a:latin typeface="Playfair Display"/>
              </a:rPr>
              <a:t>220–250</a:t>
            </a:r>
          </a:p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A6A24"/>
                </a:solidFill>
                <a:latin typeface="Source Sans 3"/>
              </a:rPr>
              <a:t>mcg / 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87860" y="4305192"/>
            <a:ext cx="5841853" cy="1803354"/>
          </a:xfrm>
          <a:prstGeom prst="roundRect">
            <a:avLst>
              <a:gd name="adj" fmla="val 8450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41853" y="4495687"/>
            <a:ext cx="1384265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41853" y="4528706"/>
            <a:ext cx="1384265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Seafood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02317" y="4495687"/>
            <a:ext cx="1009624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02317" y="4528706"/>
            <a:ext cx="1009624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Dairy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88140" y="4495687"/>
            <a:ext cx="952476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8140" y="4528706"/>
            <a:ext cx="952476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Eggs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41853" y="4984625"/>
            <a:ext cx="1816054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41853" y="5017644"/>
            <a:ext cx="1816054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Iodized salt</a:t>
            </a:r>
          </a:p>
        </p:txBody>
      </p:sp>
      <p:pic>
        <p:nvPicPr>
          <p:cNvPr id="24" name="Picture 23" descr="f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746" y="4444888"/>
            <a:ext cx="1142971" cy="571485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59166666666667"/>
                                    </p:val>
                                  </p:tav>
                                  <p:tav tm="100000">
                                    <p:val>
                                      <p:fltVal val="0.36295370370370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59166666666667"/>
                                    </p:val>
                                  </p:tav>
                                  <p:tav tm="100000">
                                    <p:val>
                                      <p:fltVal val="0.36295370370370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92807669874599"/>
                                    </p:val>
                                  </p:tav>
                                  <p:tav tm="100000">
                                    <p:val>
                                      <p:fltVal val="0.6163178040244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7915988626421695"/>
                                    </p:val>
                                  </p:tav>
                                  <p:tav tm="100000">
                                    <p:val>
                                      <p:fltVal val="0.266196923301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601738845144357"/>
                                    </p:val>
                                  </p:tav>
                                  <p:tav tm="100000">
                                    <p:val>
                                      <p:fltVal val="0.447210921551472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16373578302712"/>
                                    </p:val>
                                  </p:tav>
                                  <p:tav tm="100000">
                                    <p:val>
                                      <p:fltVal val="0.428674394867308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601738845144357"/>
                                    </p:val>
                                  </p:tav>
                                  <p:tav tm="100000">
                                    <p:val>
                                      <p:fltVal val="0.447210921551472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54062919218431"/>
                                    </p:val>
                                  </p:tav>
                                  <p:tav tm="100000">
                                    <p:val>
                                      <p:fltVal val="0.441099956255468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22031204432779"/>
                                    </p:val>
                                  </p:tav>
                                  <p:tav tm="100000">
                                    <p:val>
                                      <p:fltVal val="0.75924015748031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698883785360163"/>
                                    </p:val>
                                  </p:tav>
                                  <p:tav tm="100000">
                                    <p:val>
                                      <p:fltVal val="0.75692541557305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698883785360163"/>
                                    </p:val>
                                  </p:tav>
                                  <p:tav tm="100000">
                                    <p:val>
                                      <p:fltVal val="0.75692541557305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12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11  ·  PREVENTION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Prevention — Beyond Iodine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-fo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334" y="1765255"/>
            <a:ext cx="1269968" cy="1924001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965175" y="241928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332" y="2556446"/>
            <a:ext cx="335271" cy="3352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52556" y="1752556"/>
            <a:ext cx="3041573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Limit goitrogenic foods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Raw cassava, very large amounts of cruciferous vegetables — especially in iodine-deficient areas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095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94290" y="2419289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1446" y="2556446"/>
            <a:ext cx="335271" cy="3352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81670" y="1752556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Screen high-risk groups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Pregnant women · endemic regions · lithium/amiodarone users · family 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f-radi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6829" y="4082947"/>
            <a:ext cx="1079473" cy="1924001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965175" y="4736981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9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2332" y="4874138"/>
            <a:ext cx="335271" cy="3352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752556" y="4070248"/>
            <a:ext cx="3232069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Avoid unnecessary neck radiation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Use thyroid shielding when imaging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4290" y="4736981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3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1446" y="4874138"/>
            <a:ext cx="335271" cy="33527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81670" y="4070248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Early medical evaluation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Of any new neck swelling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17512394284045"/>
                                    </p:val>
                                  </p:tav>
                                  <p:tav tm="100000">
                                    <p:val>
                                      <p:fltVal val="0.397212160979877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17519685039366"/>
                                    </p:val>
                                  </p:tav>
                                  <p:tav tm="100000">
                                    <p:val>
                                      <p:fltVal val="0.39721223388743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17512394284045"/>
                                    </p:val>
                                  </p:tav>
                                  <p:tav tm="100000">
                                    <p:val>
                                      <p:fltVal val="0.397212160979877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17519685039366"/>
                                    </p:val>
                                  </p:tav>
                                  <p:tav tm="100000">
                                    <p:val>
                                      <p:fltVal val="0.39721223388743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12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12  · 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38259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727156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7460" y="1689057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World Health Organization (WHO).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Goiter assessment / Iodine deficiency disorders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(who.int)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1980" y="2298642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476" y="2387540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7460" y="2349441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American Thyroid Association (ATA).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Thyroid Nodules &amp; Differentiated Thyroid Cancer Guidelines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(thyroid.org)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2959026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476" y="3047923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7460" y="3009824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Mathew P, Rawla P.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Hyperthyroidism; Goiter. StatPearls Publishing, NCBI Bookshelf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(ncbi.nlm.nih.gov/books)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619409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3708307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7460" y="3670208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Mayo Clinic.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Goiter — Symptoms and causes; Diagnosis and treatment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(mayoclinic.org)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4279793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476" y="4368690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460" y="4330591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Medscape (eMedicine).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Goiter: Practice Essentials, Pathophysiology, Etiology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(emedicine.medscape.com)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1980" y="4940176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2476" y="5029074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460" y="4990975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NIDDK.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Hashimoto’s Disease &amp; Graves’ Disease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(niddk.nih.gov)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1980" y="5600559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2476" y="5689457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7460" y="5651358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Hegedüs L, Bonnema SJ, Bennedbæk FN.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Management of simple nodular goiter: current status and future perspectives.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Endocrine Reviews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40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9443737241178186"/>
                                    </p:val>
                                  </p:tav>
                                  <p:tav tm="100000">
                                    <p:val>
                                      <p:fltVal val="0.28147440944881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970297462817148"/>
                                    </p:val>
                                  </p:tav>
                                  <p:tav tm="100000">
                                    <p:val>
                                      <p:fltVal val="0.2840667833187518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944372265966754"/>
                                    </p:val>
                                  </p:tav>
                                  <p:tav tm="100000">
                                    <p:val>
                                      <p:fltVal val="0.28147426363371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907311898512686"/>
                                    </p:val>
                                  </p:tav>
                                  <p:tav tm="100000">
                                    <p:val>
                                      <p:fltVal val="0.3777682268883056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9332370953630796"/>
                                    </p:val>
                                  </p:tav>
                                  <p:tav tm="100000">
                                    <p:val>
                                      <p:fltVal val="0.3803607465733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907311898512686"/>
                                    </p:val>
                                  </p:tav>
                                  <p:tav tm="100000">
                                    <p:val>
                                      <p:fltVal val="0.3777682268883056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702515310586175"/>
                                    </p:val>
                                  </p:tav>
                                  <p:tav tm="100000">
                                    <p:val>
                                      <p:fltVal val="0.47406219014289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6175269757947"/>
                                    </p:val>
                                  </p:tav>
                                  <p:tav tm="100000">
                                    <p:val>
                                      <p:fltVal val="0.476654564012831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70250072907553"/>
                                    </p:val>
                                  </p:tav>
                                  <p:tav tm="100000">
                                    <p:val>
                                      <p:fltVal val="0.474062044327792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33189705453485"/>
                                    </p:val>
                                  </p:tav>
                                  <p:tav tm="100000">
                                    <p:val>
                                      <p:fltVal val="0.5703560075823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59114902303879"/>
                                    </p:val>
                                  </p:tav>
                                  <p:tav tm="100000">
                                    <p:val>
                                      <p:fltVal val="0.5729485272674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33189705453485"/>
                                    </p:val>
                                  </p:tav>
                                  <p:tav tm="100000">
                                    <p:val>
                                      <p:fltVal val="0.5703560075823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96129337999417"/>
                                    </p:val>
                                  </p:tav>
                                  <p:tav tm="100000">
                                    <p:val>
                                      <p:fltVal val="0.66664997083697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22053076698746"/>
                                    </p:val>
                                  </p:tav>
                                  <p:tav tm="100000">
                                    <p:val>
                                      <p:fltVal val="0.66924234470691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96127879848353"/>
                                    </p:val>
                                  </p:tav>
                                  <p:tav tm="100000">
                                    <p:val>
                                      <p:fltVal val="0.666649825021872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59067512394284"/>
                                    </p:val>
                                  </p:tav>
                                  <p:tav tm="100000">
                                    <p:val>
                                      <p:fltVal val="0.76294378827646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4992709244678"/>
                                    </p:val>
                                  </p:tav>
                                  <p:tav tm="100000">
                                    <p:val>
                                      <p:fltVal val="0.7655363079615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59067512394284"/>
                                    </p:val>
                                  </p:tav>
                                  <p:tav tm="100000">
                                    <p:val>
                                      <p:fltVal val="0.76294378827646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722005686789152"/>
                                    </p:val>
                                  </p:tav>
                                  <p:tav tm="100000">
                                    <p:val>
                                      <p:fltVal val="0.85923760571595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747930883639545"/>
                                    </p:val>
                                  </p:tav>
                                  <p:tav tm="100000">
                                    <p:val>
                                      <p:fltVal val="0.86183012540099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722005686789152"/>
                                    </p:val>
                                  </p:tav>
                                  <p:tav tm="100000">
                                    <p:val>
                                      <p:fltVal val="0.85923760571595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3993" y="253993"/>
            <a:ext cx="11683707" cy="6349841"/>
          </a:xfrm>
          <a:prstGeom prst="rect">
            <a:avLst/>
          </a:prstGeom>
          <a:noFill/>
          <a:ln w="9525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591" y="355591"/>
            <a:ext cx="11480512" cy="6146646"/>
          </a:xfrm>
          <a:prstGeom prst="rect">
            <a:avLst/>
          </a:prstGeom>
          <a:noFill/>
          <a:ln w="6350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65815" y="1015974"/>
            <a:ext cx="4825879" cy="48258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556311" y="1206469"/>
            <a:ext cx="4444888" cy="4444888"/>
          </a:xfrm>
          <a:prstGeom prst="ellipse">
            <a:avLst/>
          </a:prstGeom>
          <a:noFill/>
          <a:ln w="12700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873803" y="1523961"/>
            <a:ext cx="3809904" cy="3809904"/>
          </a:xfrm>
          <a:prstGeom prst="ellipse">
            <a:avLst/>
          </a:prstGeom>
          <a:noFill/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21806" y="3340016"/>
            <a:ext cx="177795" cy="177795"/>
          </a:xfrm>
          <a:prstGeom prst="ellipse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8555" y="2095447"/>
            <a:ext cx="114297" cy="114297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288" y="2285942"/>
            <a:ext cx="2666933" cy="2514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79473" y="1587460"/>
            <a:ext cx="5714857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450">
                <a:solidFill>
                  <a:srgbClr val="0F8B8D"/>
                </a:solidFill>
                <a:latin typeface="Source Sans 3"/>
              </a:rPr>
              <a:t>WITH GRATITUDE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76" y="1904952"/>
            <a:ext cx="6667333" cy="156819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956" b="0" i="0">
                <a:solidFill>
                  <a:srgbClr val="13254D"/>
                </a:solidFill>
                <a:latin typeface="Source Sans 3"/>
              </a:rPr>
              <a:t>Thank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473" y="3936901"/>
            <a:ext cx="4444888" cy="1269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79473" y="4292492"/>
            <a:ext cx="6095847" cy="48004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1">
                <a:solidFill>
                  <a:srgbClr val="1F4FA8"/>
                </a:solidFill>
                <a:latin typeface="Playfair Display"/>
              </a:rPr>
              <a:t>for listening — and for caring.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473" y="5321166"/>
            <a:ext cx="5714857" cy="28891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100">
                <a:solidFill>
                  <a:srgbClr val="FFFFFF"/>
                </a:solidFill>
                <a:latin typeface="Source Sans 3"/>
              </a:rPr>
              <a:t>Questions are welcome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12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12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96165791776027"/>
                                    </p:val>
                                  </p:tav>
                                  <p:tav tm="100000">
                                    <p:val>
                                      <p:fltVal val="0.516653616214639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631881014873141"/>
                                    </p:val>
                                  </p:tav>
                                  <p:tav tm="100000">
                                    <p:val>
                                      <p:fltVal val="0.250225138524351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506671041119857"/>
                                    </p:val>
                                  </p:tav>
                                  <p:tav tm="100000">
                                    <p:val>
                                      <p:fltVal val="0.39210374744823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62815689705453"/>
                                    </p:val>
                                  </p:tav>
                                  <p:tav tm="100000">
                                    <p:val>
                                      <p:fltVal val="0.583318606007582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38721930592009"/>
                                    </p:val>
                                  </p:tav>
                                  <p:tav tm="100000">
                                    <p:val>
                                      <p:fltVal val="0.66090923009623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99335812190143"/>
                                    </p:val>
                                  </p:tav>
                                  <p:tav tm="100000">
                                    <p:val>
                                      <p:fltVal val="0.79697061825605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Goiter — Complete Medical Presentation</dc:title>
  <dc:subject>Full academic deck built from Goiter_Medical_Presentation.pdf for nursing &amp; medical students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